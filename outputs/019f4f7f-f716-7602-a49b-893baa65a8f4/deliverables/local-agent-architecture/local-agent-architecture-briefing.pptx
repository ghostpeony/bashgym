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a1e8e452ad4b71" /><Relationship Type="http://schemas.openxmlformats.org/officeDocument/2006/relationships/extended-properties" Target="/docProps/app.xml" Id="R3198cbbd4fa94b60" /><Relationship Type="http://schemas.openxmlformats.org/officeDocument/2006/relationships/officeDocument" Target="/ppt/presentation.xml" Id="R8789a0bf78b049d7" /></Relationships>
</file>

<file path=ppt/presentation.xml><?xml version="1.0" encoding="utf-8"?>
<p:presentation xmlns:p="http://schemas.openxmlformats.org/presentationml/2006/main">
  <p:sldMasterIdLst>
    <p:sldMasterId xmlns:r="http://schemas.openxmlformats.org/officeDocument/2006/relationships" id="2147483648" r:id="R07bc3118c2274c1d"/>
  </p:sldMasterIdLst>
  <p:notesMasterIdLst>
    <p:notesMasterId xmlns:r="http://schemas.openxmlformats.org/officeDocument/2006/relationships" r:id="R6b3b1656aaf643a4"/>
  </p:notesMasterIdLst>
  <p:sldIdLst>
    <p:sldId xmlns:r="http://schemas.openxmlformats.org/officeDocument/2006/relationships" id="256" r:id="Rc58621975ced48de"/>
    <p:sldId xmlns:r="http://schemas.openxmlformats.org/officeDocument/2006/relationships" id="257" r:id="Raf2bc09ae8514054"/>
    <p:sldId xmlns:r="http://schemas.openxmlformats.org/officeDocument/2006/relationships" id="258" r:id="R74a0bf1c81a8491e"/>
    <p:sldId xmlns:r="http://schemas.openxmlformats.org/officeDocument/2006/relationships" id="259" r:id="R27b16271026d4bbe"/>
    <p:sldId xmlns:r="http://schemas.openxmlformats.org/officeDocument/2006/relationships" id="260" r:id="Rd630f7f4ad694185"/>
    <p:sldId xmlns:r="http://schemas.openxmlformats.org/officeDocument/2006/relationships" id="261" r:id="Re51e8975d0cd4618"/>
    <p:sldId xmlns:r="http://schemas.openxmlformats.org/officeDocument/2006/relationships" id="262" r:id="R871e30cc88274424"/>
    <p:sldId xmlns:r="http://schemas.openxmlformats.org/officeDocument/2006/relationships" id="263" r:id="R9174a2c5efd44a70"/>
    <p:sldId xmlns:r="http://schemas.openxmlformats.org/officeDocument/2006/relationships" id="264" r:id="Rc2e002643d8941b7"/>
    <p:sldId xmlns:r="http://schemas.openxmlformats.org/officeDocument/2006/relationships" id="265" r:id="R50933f5975e84b0c"/>
    <p:sldId xmlns:r="http://schemas.openxmlformats.org/officeDocument/2006/relationships" id="266" r:id="R8173aa2f8aae4c86"/>
    <p:sldId xmlns:r="http://schemas.openxmlformats.org/officeDocument/2006/relationships" id="267" r:id="R828496f72fa745a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07bc3118c2274c1d" /><Relationship Type="http://schemas.openxmlformats.org/officeDocument/2006/relationships/theme" Target="/ppt/theme/theme1.xml" Id="Re2cdcd1a732643de" /><Relationship Type="http://schemas.openxmlformats.org/officeDocument/2006/relationships/notesMaster" Target="/ppt/notesMasters/notesMaster1.xml" Id="R6b3b1656aaf643a4" /><Relationship Type="http://schemas.openxmlformats.org/officeDocument/2006/relationships/presProps" Target="/ppt/presProps.xml" Id="Rc589e09d4e464c98" /><Relationship Type="http://schemas.openxmlformats.org/officeDocument/2006/relationships/viewProps" Target="/ppt/viewProps.xml" Id="Rcc640dc5b9784d53" /><Relationship Type="http://schemas.openxmlformats.org/officeDocument/2006/relationships/tableStyles" Target="/ppt/tableStyles.xml" Id="R33b520021f5e4e43" /><Relationship Type="http://schemas.openxmlformats.org/officeDocument/2006/relationships/slide" Target="/ppt/slides/slide1.xml" Id="Rc58621975ced48de" /><Relationship Type="http://schemas.openxmlformats.org/officeDocument/2006/relationships/slide" Target="/ppt/slides/slide2.xml" Id="Raf2bc09ae8514054" /><Relationship Type="http://schemas.openxmlformats.org/officeDocument/2006/relationships/slide" Target="/ppt/slides/slide3.xml" Id="R74a0bf1c81a8491e" /><Relationship Type="http://schemas.openxmlformats.org/officeDocument/2006/relationships/slide" Target="/ppt/slides/slide4.xml" Id="R27b16271026d4bbe" /><Relationship Type="http://schemas.openxmlformats.org/officeDocument/2006/relationships/slide" Target="/ppt/slides/slide5.xml" Id="Rd630f7f4ad694185" /><Relationship Type="http://schemas.openxmlformats.org/officeDocument/2006/relationships/slide" Target="/ppt/slides/slide6.xml" Id="Re51e8975d0cd4618" /><Relationship Type="http://schemas.openxmlformats.org/officeDocument/2006/relationships/slide" Target="/ppt/slides/slide7.xml" Id="R871e30cc88274424" /><Relationship Type="http://schemas.openxmlformats.org/officeDocument/2006/relationships/slide" Target="/ppt/slides/slide8.xml" Id="R9174a2c5efd44a70" /><Relationship Type="http://schemas.openxmlformats.org/officeDocument/2006/relationships/slide" Target="/ppt/slides/slide9.xml" Id="Rc2e002643d8941b7" /><Relationship Type="http://schemas.openxmlformats.org/officeDocument/2006/relationships/slide" Target="/ppt/slides/slide10.xml" Id="R50933f5975e84b0c" /><Relationship Type="http://schemas.openxmlformats.org/officeDocument/2006/relationships/slide" Target="/ppt/slides/slide11.xml" Id="R8173aa2f8aae4c86" /><Relationship Type="http://schemas.openxmlformats.org/officeDocument/2006/relationships/slide" Target="/ppt/slides/slide12.xml" Id="R828496f72fa745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1ada95026cb4a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4ee7638fa442ca" /><Relationship Type="http://schemas.openxmlformats.org/officeDocument/2006/relationships/notesMaster" Target="/ppt/notesMasters/notesMaster1.xml" Id="Rc16eff2b6f5c40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ba794bf40a404f" /><Relationship Type="http://schemas.openxmlformats.org/officeDocument/2006/relationships/notesMaster" Target="/ppt/notesMasters/notesMaster1.xml" Id="Rf84bcde422b047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8918219aba43ca" /><Relationship Type="http://schemas.openxmlformats.org/officeDocument/2006/relationships/notesMaster" Target="/ppt/notesMasters/notesMaster1.xml" Id="Refd6cdb0128745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d4999b900047d9" /><Relationship Type="http://schemas.openxmlformats.org/officeDocument/2006/relationships/notesMaster" Target="/ppt/notesMasters/notesMaster1.xml" Id="R2578ef8931744b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efb64d51a04a67" /><Relationship Type="http://schemas.openxmlformats.org/officeDocument/2006/relationships/notesMaster" Target="/ppt/notesMasters/notesMaster1.xml" Id="R1d460418c38240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afd9102f60429b" /><Relationship Type="http://schemas.openxmlformats.org/officeDocument/2006/relationships/notesMaster" Target="/ppt/notesMasters/notesMaster1.xml" Id="R36db23269ac845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ec3c60c4c14aa9" /><Relationship Type="http://schemas.openxmlformats.org/officeDocument/2006/relationships/notesMaster" Target="/ppt/notesMasters/notesMaster1.xml" Id="R33f381e8580e42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ba2dd61b9b4aec" /><Relationship Type="http://schemas.openxmlformats.org/officeDocument/2006/relationships/notesMaster" Target="/ppt/notesMasters/notesMaster1.xml" Id="R0ff8575589c249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af4f9414e54ff4" /><Relationship Type="http://schemas.openxmlformats.org/officeDocument/2006/relationships/notesMaster" Target="/ppt/notesMasters/notesMaster1.xml" Id="R9081a61e006548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f31e3e3fc04ecf" /><Relationship Type="http://schemas.openxmlformats.org/officeDocument/2006/relationships/notesMaster" Target="/ppt/notesMasters/notesMaster1.xml" Id="R80bc7826110546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d1ddd347014662" /><Relationship Type="http://schemas.openxmlformats.org/officeDocument/2006/relationships/notesMaster" Target="/ppt/notesMasters/notesMaster1.xml" Id="R2aef3d2c65a94a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f24dd6e02444e7" /><Relationship Type="http://schemas.openxmlformats.org/officeDocument/2006/relationships/notesMaster" Target="/ppt/notesMasters/notesMaster1.xml" Id="R394a526b6da746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304ec33c3d4111"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578926a193034389" /><Relationship Type="http://schemas.openxmlformats.org/officeDocument/2006/relationships/slideLayout" Target="/ppt/slideLayouts/slideLayout2.xml" Id="R1747ab4e98534c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47ab4e98534c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dd4266ea80dc4afb" /><Relationship Type="http://schemas.openxmlformats.org/officeDocument/2006/relationships/image" Target="/ppt/media/image.png" Id="R76ea42c06edb4044" /><Relationship Type="http://schemas.openxmlformats.org/officeDocument/2006/relationships/image" Target="/ppt/media/image.svg" Id="R791f184b45284cce" /><Relationship Type="http://schemas.openxmlformats.org/officeDocument/2006/relationships/image" Target="/ppt/media/image2.png" Id="R7dcbbdac8a284cc7" /><Relationship Type="http://schemas.openxmlformats.org/officeDocument/2006/relationships/image" Target="/ppt/media/image2.svg" Id="Rac2b750395ea447b" /><Relationship Type="http://schemas.openxmlformats.org/officeDocument/2006/relationships/image" Target="/ppt/media/image3.png" Id="R51fb90fd1b3845f9" /><Relationship Type="http://schemas.openxmlformats.org/officeDocument/2006/relationships/image" Target="/ppt/media/image3.svg" Id="R071b15362fb64280" /><Relationship Type="http://schemas.openxmlformats.org/officeDocument/2006/relationships/notesSlide" Target="/ppt/notesSlides/notesSlide1.xml" Id="R47e81fd29a0842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7d30c952e58438f" /><Relationship Type="http://schemas.openxmlformats.org/officeDocument/2006/relationships/image" Target="/ppt/media/image4.png" Id="Re5b6950e55cd4453" /><Relationship Type="http://schemas.openxmlformats.org/officeDocument/2006/relationships/image" Target="/ppt/media/image4.svg" Id="Rbea3cfa55fda4dad" /><Relationship Type="http://schemas.openxmlformats.org/officeDocument/2006/relationships/image" Target="/ppt/media/image5.png" Id="Rac883c9446634a03" /><Relationship Type="http://schemas.openxmlformats.org/officeDocument/2006/relationships/image" Target="/ppt/media/image5.svg" Id="R8bc0de6a1d4a4c39" /><Relationship Type="http://schemas.openxmlformats.org/officeDocument/2006/relationships/image" Target="/ppt/media/image6.png" Id="Rb6f144ac8ba84ae3" /><Relationship Type="http://schemas.openxmlformats.org/officeDocument/2006/relationships/image" Target="/ppt/media/image6.svg" Id="R2d849f46cf2f4f1c" /><Relationship Type="http://schemas.openxmlformats.org/officeDocument/2006/relationships/image" Target="/ppt/media/image7.png" Id="R8fe8184908b346f6" /><Relationship Type="http://schemas.openxmlformats.org/officeDocument/2006/relationships/image" Target="/ppt/media/image7.svg" Id="R14e4c612da08473b" /><Relationship Type="http://schemas.openxmlformats.org/officeDocument/2006/relationships/notesSlide" Target="/ppt/notesSlides/notesSlide2.xml" Id="R7e60d0ceaa4a4e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0722c04ec614b21" /><Relationship Type="http://schemas.openxmlformats.org/officeDocument/2006/relationships/image" Target="/ppt/media/image8.png" Id="R381bbb74fafc43bb" /><Relationship Type="http://schemas.openxmlformats.org/officeDocument/2006/relationships/notesSlide" Target="/ppt/notesSlides/notesSlide3.xml" Id="R7d20a67ffda041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c476c24082b4e3e" /><Relationship Type="http://schemas.openxmlformats.org/officeDocument/2006/relationships/notesSlide" Target="/ppt/notesSlides/notesSlide4.xml" Id="R04bf27d8b02f4a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e49057d4678407b" /><Relationship Type="http://schemas.openxmlformats.org/officeDocument/2006/relationships/image" Target="/ppt/media/image9.png" Id="R328a85b0ba2e496a" /><Relationship Type="http://schemas.openxmlformats.org/officeDocument/2006/relationships/image" Target="/ppt/media/image8.svg" Id="R082d369391fe4f28" /><Relationship Type="http://schemas.openxmlformats.org/officeDocument/2006/relationships/image" Target="/ppt/media/image10.png" Id="Rd136945d1f4640e9" /><Relationship Type="http://schemas.openxmlformats.org/officeDocument/2006/relationships/image" Target="/ppt/media/image9.svg" Id="R680203b8e483449c" /><Relationship Type="http://schemas.openxmlformats.org/officeDocument/2006/relationships/image" Target="/ppt/media/image11.png" Id="R3da00357ce58416f" /><Relationship Type="http://schemas.openxmlformats.org/officeDocument/2006/relationships/image" Target="/ppt/media/image10.svg" Id="Rcfc2d860d6fb4cac" /><Relationship Type="http://schemas.openxmlformats.org/officeDocument/2006/relationships/notesSlide" Target="/ppt/notesSlides/notesSlide5.xml" Id="R18191a8595ae42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e55df7916654ca0" /><Relationship Type="http://schemas.openxmlformats.org/officeDocument/2006/relationships/image" Target="/ppt/media/image12.png" Id="R794b1aa76b6c4e8e" /><Relationship Type="http://schemas.openxmlformats.org/officeDocument/2006/relationships/notesSlide" Target="/ppt/notesSlides/notesSlide6.xml" Id="R05421c4ea5ff46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21fc58ab5a24308" /><Relationship Type="http://schemas.openxmlformats.org/officeDocument/2006/relationships/image" Target="/ppt/media/image13.png" Id="Rd5b911fc83eb4503" /><Relationship Type="http://schemas.openxmlformats.org/officeDocument/2006/relationships/image" Target="/ppt/media/image11.svg" Id="Rd1842bcee0274149" /><Relationship Type="http://schemas.openxmlformats.org/officeDocument/2006/relationships/image" Target="/ppt/media/image14.png" Id="Rd7d7e6fb3a874ef2" /><Relationship Type="http://schemas.openxmlformats.org/officeDocument/2006/relationships/image" Target="/ppt/media/image12.svg" Id="R428021b913d642a4" /><Relationship Type="http://schemas.openxmlformats.org/officeDocument/2006/relationships/image" Target="/ppt/media/image15.png" Id="Re686598e9b244a07" /><Relationship Type="http://schemas.openxmlformats.org/officeDocument/2006/relationships/image" Target="/ppt/media/image13.svg" Id="R3137eff71cb54077" /><Relationship Type="http://schemas.openxmlformats.org/officeDocument/2006/relationships/image" Target="/ppt/media/image16.png" Id="Rd711ec9e7c0c4e10" /><Relationship Type="http://schemas.openxmlformats.org/officeDocument/2006/relationships/image" Target="/ppt/media/image14.svg" Id="R4565fd91f8e74cbd" /><Relationship Type="http://schemas.openxmlformats.org/officeDocument/2006/relationships/notesSlide" Target="/ppt/notesSlides/notesSlide7.xml" Id="R2e3078609bed4f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fac1b0ac69441ac" /><Relationship Type="http://schemas.openxmlformats.org/officeDocument/2006/relationships/notesSlide" Target="/ppt/notesSlides/notesSlide8.xml" Id="R078adb5fa6f74c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0569346f1bb4914" /><Relationship Type="http://schemas.openxmlformats.org/officeDocument/2006/relationships/image" Target="/ppt/media/image17.png" Id="R66ad2ee74da84104" /><Relationship Type="http://schemas.openxmlformats.org/officeDocument/2006/relationships/image" Target="/ppt/media/image18.png" Id="R8fb07d2c58e143d6" /><Relationship Type="http://schemas.openxmlformats.org/officeDocument/2006/relationships/image" Target="/ppt/media/image15.svg" Id="R3ae633dbf90445ec" /><Relationship Type="http://schemas.openxmlformats.org/officeDocument/2006/relationships/image" Target="/ppt/media/image19.png" Id="R84f22e20c47a4795" /><Relationship Type="http://schemas.openxmlformats.org/officeDocument/2006/relationships/image" Target="/ppt/media/image16.svg" Id="R7a6f227c8b8b4aa2" /><Relationship Type="http://schemas.openxmlformats.org/officeDocument/2006/relationships/image" Target="/ppt/media/image20.png" Id="R5207601bba124f71" /><Relationship Type="http://schemas.openxmlformats.org/officeDocument/2006/relationships/image" Target="/ppt/media/image17.svg" Id="Rf1ce0a540f0e4fd9" /><Relationship Type="http://schemas.openxmlformats.org/officeDocument/2006/relationships/notesSlide" Target="/ppt/notesSlides/notesSlide9.xml" Id="R1b3bd4b18a9a41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0ae36826c4749d8" /><Relationship Type="http://schemas.openxmlformats.org/officeDocument/2006/relationships/image" Target="/ppt/media/image21.png" Id="R449711714f794c72" /><Relationship Type="http://schemas.openxmlformats.org/officeDocument/2006/relationships/image" Target="/ppt/media/image22.png" Id="R0f2f098538e54966" /><Relationship Type="http://schemas.openxmlformats.org/officeDocument/2006/relationships/notesSlide" Target="/ppt/notesSlides/notesSlide10.xml" Id="R5000001c840744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01486dd26ff4a8c" /><Relationship Type="http://schemas.openxmlformats.org/officeDocument/2006/relationships/image" Target="/ppt/media/image23.png" Id="R07014da7d1284bd4" /><Relationship Type="http://schemas.openxmlformats.org/officeDocument/2006/relationships/image" Target="/ppt/media/image18.svg" Id="R26751a8bcffb4cd5" /><Relationship Type="http://schemas.openxmlformats.org/officeDocument/2006/relationships/image" Target="/ppt/media/image24.png" Id="Rbb283bd4ec5f4e96" /><Relationship Type="http://schemas.openxmlformats.org/officeDocument/2006/relationships/image" Target="/ppt/media/image19.svg" Id="R39546d83a8664a30" /><Relationship Type="http://schemas.openxmlformats.org/officeDocument/2006/relationships/image" Target="/ppt/media/image25.png" Id="R797629397e124354" /><Relationship Type="http://schemas.openxmlformats.org/officeDocument/2006/relationships/image" Target="/ppt/media/image20.svg" Id="R97ce469c3158480a" /><Relationship Type="http://schemas.openxmlformats.org/officeDocument/2006/relationships/image" Target="/ppt/media/image26.png" Id="R4913b68dbfd04e47" /><Relationship Type="http://schemas.openxmlformats.org/officeDocument/2006/relationships/image" Target="/ppt/media/image21.svg" Id="R036904cfb90a49ff" /><Relationship Type="http://schemas.openxmlformats.org/officeDocument/2006/relationships/notesSlide" Target="/ppt/notesSlides/notesSlide11.xml" Id="Rf62747ac30264e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f3ed72db8554c20" /><Relationship Type="http://schemas.openxmlformats.org/officeDocument/2006/relationships/image" Target="/ppt/media/image27.png" Id="R28ba218d29444f2f" /><Relationship Type="http://schemas.openxmlformats.org/officeDocument/2006/relationships/image" Target="/ppt/media/image22.svg" Id="Rfb6d910548994109" /><Relationship Type="http://schemas.openxmlformats.org/officeDocument/2006/relationships/image" Target="/ppt/media/image28.png" Id="Rf19c82df50e24807" /><Relationship Type="http://schemas.openxmlformats.org/officeDocument/2006/relationships/image" Target="/ppt/media/image23.svg" Id="R81623abfad1f4d80" /><Relationship Type="http://schemas.openxmlformats.org/officeDocument/2006/relationships/notesSlide" Target="/ppt/notesSlides/notesSlide12.xml" Id="R4150e83feb86491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364780-4700-4FF5-ABB2-58959B3DCB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1E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5A2DEC5-4F2F-42F2-BE9A-7DDACEB1065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C63C667-81B9-48F2-ADBA-4F22240199B6}"/>
              </a:ext>
            </a:extLst>
          </p:cNvPr>
          <p:cNvSpPr>
            <a:spLocks xmlns:a="http://schemas.openxmlformats.org/drawingml/2006/main" noGrp="1"/>
          </p:cNvSpPr>
          <p:nvPr/>
        </p:nvSpPr>
        <p:spPr>
          <a:xfrm xmlns:a="http://schemas.openxmlformats.org/drawingml/2006/main">
            <a:off x="609600" y="514350"/>
            <a:ext cx="5143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E9878C"/>
                </a:solidFill>
                <a:latin typeface="Arial"/>
                <a:ea typeface="Arial"/>
                <a:cs typeface="Arial"/>
              </a:defRPr>
            </a:pPr>
            <a:r>
              <a:rPr sz="1125" b="1">
                <a:solidFill>
                  <a:srgbClr val="E9878C"/>
                </a:solidFill>
                <a:latin typeface="Arial"/>
                <a:ea typeface="Arial"/>
                <a:cs typeface="Arial"/>
              </a:rPr>
              <a:t>LOCAL-FIRST AI SYSTEMS</a:t>
            </a:r>
          </a:p>
        </p:txBody>
      </p:sp>
      <p:sp>
        <p:nvSpPr>
          <p:cNvPr id="4" name="">
            <a:extLst xmlns:a="http://schemas.openxmlformats.org/drawingml/2006/main">
              <a:ext uri="{FF2B5EF4-FFF2-40B4-BE49-F238E27FC236}">
                <a16:creationId xmlns:a16="http://schemas.microsoft.com/office/drawing/2014/main" id="{F0026387-6C92-46C6-A0CA-C9152754AE23}"/>
              </a:ext>
            </a:extLst>
          </p:cNvPr>
          <p:cNvSpPr>
            <a:spLocks xmlns:a="http://schemas.openxmlformats.org/drawingml/2006/main" noGrp="1"/>
          </p:cNvSpPr>
          <p:nvPr/>
        </p:nvSpPr>
        <p:spPr>
          <a:xfrm xmlns:a="http://schemas.openxmlformats.org/drawingml/2006/main">
            <a:off x="609600" y="1123950"/>
            <a:ext cx="99060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1">
                <a:solidFill>
                  <a:srgbClr val="28253D"/>
                </a:solidFill>
                <a:latin typeface="Georgia"/>
                <a:ea typeface="Georgia"/>
                <a:cs typeface="Georgia"/>
              </a:defRPr>
            </a:pPr>
            <a:r>
              <a:rPr sz="3750" b="1">
                <a:solidFill>
                  <a:srgbClr val="28253D"/>
                </a:solidFill>
                <a:latin typeface="Georgia"/>
                <a:ea typeface="Georgia"/>
                <a:cs typeface="Georgia"/>
              </a:rPr>
              <a:t>A Local Agent,</a:t>
            </a:r>
          </a:p>
          <a:p xmlns:a="http://schemas.openxmlformats.org/drawingml/2006/main">
            <a:pPr algn="l">
              <a:defRPr sz="3750" b="1">
                <a:solidFill>
                  <a:srgbClr val="28253D"/>
                </a:solidFill>
                <a:latin typeface="Georgia"/>
                <a:ea typeface="Georgia"/>
                <a:cs typeface="Georgia"/>
              </a:defRPr>
            </a:pPr>
            <a:r>
              <a:rPr sz="3750" b="1">
                <a:solidFill>
                  <a:srgbClr val="28253D"/>
                </a:solidFill>
                <a:latin typeface="Georgia"/>
                <a:ea typeface="Georgia"/>
                <a:cs typeface="Georgia"/>
              </a:rPr>
              <a:t>Knowledge, and Voice Architecture</a:t>
            </a:r>
          </a:p>
        </p:txBody>
      </p:sp>
      <p:sp>
        <p:nvSpPr>
          <p:cNvPr id="5" name="">
            <a:extLst xmlns:a="http://schemas.openxmlformats.org/drawingml/2006/main">
              <a:ext uri="{FF2B5EF4-FFF2-40B4-BE49-F238E27FC236}">
                <a16:creationId xmlns:a16="http://schemas.microsoft.com/office/drawing/2014/main" id="{EDDEF305-81D2-4CAA-AFB4-076D337AE63F}"/>
              </a:ext>
            </a:extLst>
          </p:cNvPr>
          <p:cNvSpPr>
            <a:spLocks xmlns:a="http://schemas.openxmlformats.org/drawingml/2006/main" noGrp="1"/>
          </p:cNvSpPr>
          <p:nvPr/>
        </p:nvSpPr>
        <p:spPr>
          <a:xfrm xmlns:a="http://schemas.openxmlformats.org/drawingml/2006/main">
            <a:off x="647700" y="2724150"/>
            <a:ext cx="88582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6F6B74"/>
                </a:solidFill>
                <a:latin typeface="Arial"/>
                <a:ea typeface="Arial"/>
                <a:cs typeface="Arial"/>
              </a:defRPr>
            </a:pPr>
            <a:r>
              <a:rPr sz="1500" b="0">
                <a:solidFill>
                  <a:srgbClr val="6F6B74"/>
                </a:solidFill>
                <a:latin typeface="Arial"/>
                <a:ea typeface="Arial"/>
                <a:cs typeface="Arial"/>
              </a:rPr>
              <a:t>An anonymized briefing on how a workstation, local agent host, durable knowledge, training workflows, and voice interface work together.</a:t>
            </a:r>
          </a:p>
        </p:txBody>
      </p:sp>
      <p:sp>
        <p:nvSpPr>
          <p:cNvPr id="6" name="">
            <a:extLst xmlns:a="http://schemas.openxmlformats.org/drawingml/2006/main">
              <a:ext uri="{FF2B5EF4-FFF2-40B4-BE49-F238E27FC236}">
                <a16:creationId xmlns:a16="http://schemas.microsoft.com/office/drawing/2014/main" id="{E69F2C15-AE3F-4348-9A04-53CD0623A5AF}"/>
              </a:ext>
            </a:extLst>
          </p:cNvPr>
          <p:cNvSpPr>
            <a:spLocks xmlns:a="http://schemas.openxmlformats.org/drawingml/2006/main" noGrp="1"/>
          </p:cNvSpPr>
          <p:nvPr/>
        </p:nvSpPr>
        <p:spPr>
          <a:xfrm xmlns:a="http://schemas.openxmlformats.org/drawingml/2006/main">
            <a:off x="628650" y="3733800"/>
            <a:ext cx="3314700" cy="1428750"/>
          </a:xfrm>
          <a:prstGeom xmlns:a="http://schemas.openxmlformats.org/drawingml/2006/main" prst="rect">
            <a:avLst/>
          </a:prstGeom>
          <a:solidFill xmlns:a="http://schemas.openxmlformats.org/drawingml/2006/main">
            <a:srgbClr val="FFF8EF"/>
          </a:solidFill>
          <a:ln xmlns:a="http://schemas.openxmlformats.org/drawingml/2006/main" w="20955">
            <a:solidFill>
              <a:srgbClr val="28253D"/>
            </a:solidFill>
            <a:prstDash val="solid"/>
          </a:ln>
        </p:spPr>
      </p:sp>
      <p:sp>
        <p:nvSpPr>
          <p:cNvPr id="7" name="">
            <a:extLst xmlns:a="http://schemas.openxmlformats.org/drawingml/2006/main">
              <a:ext uri="{FF2B5EF4-FFF2-40B4-BE49-F238E27FC236}">
                <a16:creationId xmlns:a16="http://schemas.microsoft.com/office/drawing/2014/main" id="{3AE155F6-6EDE-49B1-9861-BC53B5AB8D89}"/>
              </a:ext>
            </a:extLst>
          </p:cNvPr>
          <p:cNvSpPr>
            <a:spLocks xmlns:a="http://schemas.openxmlformats.org/drawingml/2006/main" noGrp="1"/>
          </p:cNvSpPr>
          <p:nvPr/>
        </p:nvSpPr>
        <p:spPr>
          <a:xfrm xmlns:a="http://schemas.openxmlformats.org/drawingml/2006/main">
            <a:off x="628650" y="3733800"/>
            <a:ext cx="114300" cy="14287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BECB587-2A05-44E8-82A2-7F70B3637143}"/>
              </a:ext>
            </a:extLst>
          </p:cNvPr>
          <p:cNvSpPr>
            <a:spLocks xmlns:a="http://schemas.openxmlformats.org/drawingml/2006/main" noGrp="1"/>
          </p:cNvSpPr>
          <p:nvPr/>
        </p:nvSpPr>
        <p:spPr>
          <a:xfrm xmlns:a="http://schemas.openxmlformats.org/drawingml/2006/main">
            <a:off x="1314450" y="3924300"/>
            <a:ext cx="2438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Workstation</a:t>
            </a:r>
          </a:p>
        </p:txBody>
      </p:sp>
      <p:sp>
        <p:nvSpPr>
          <p:cNvPr id="9" name="">
            <a:extLst xmlns:a="http://schemas.openxmlformats.org/drawingml/2006/main">
              <a:ext uri="{FF2B5EF4-FFF2-40B4-BE49-F238E27FC236}">
                <a16:creationId xmlns:a16="http://schemas.microsoft.com/office/drawing/2014/main" id="{431166ED-B376-49DE-817D-21AA1E6CA4A5}"/>
              </a:ext>
            </a:extLst>
          </p:cNvPr>
          <p:cNvSpPr>
            <a:spLocks xmlns:a="http://schemas.openxmlformats.org/drawingml/2006/main" noGrp="1"/>
          </p:cNvSpPr>
          <p:nvPr/>
        </p:nvSpPr>
        <p:spPr>
          <a:xfrm xmlns:a="http://schemas.openxmlformats.org/drawingml/2006/main">
            <a:off x="895350" y="4381500"/>
            <a:ext cx="28384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Canvas • coding • messaging • voice</a:t>
            </a:r>
          </a:p>
        </p:txBody>
      </p:sp>
      <p:sp>
        <p:nvSpPr>
          <p:cNvPr id="10" name="">
            <a:extLst xmlns:a="http://schemas.openxmlformats.org/drawingml/2006/main">
              <a:ext uri="{FF2B5EF4-FFF2-40B4-BE49-F238E27FC236}">
                <a16:creationId xmlns:a16="http://schemas.microsoft.com/office/drawing/2014/main" id="{DC983473-6C6F-4913-94F5-27E3E421FF3F}"/>
              </a:ext>
            </a:extLst>
          </p:cNvPr>
          <p:cNvSpPr>
            <a:spLocks xmlns:a="http://schemas.openxmlformats.org/drawingml/2006/main" noGrp="1"/>
          </p:cNvSpPr>
          <p:nvPr/>
        </p:nvSpPr>
        <p:spPr>
          <a:xfrm xmlns:a="http://schemas.openxmlformats.org/drawingml/2006/main">
            <a:off x="4438650" y="3733800"/>
            <a:ext cx="3314700" cy="1428750"/>
          </a:xfrm>
          <a:prstGeom xmlns:a="http://schemas.openxmlformats.org/drawingml/2006/main" prst="rect">
            <a:avLst/>
          </a:prstGeom>
          <a:solidFill xmlns:a="http://schemas.openxmlformats.org/drawingml/2006/main">
            <a:srgbClr val="DDE8D3"/>
          </a:solidFill>
          <a:ln xmlns:a="http://schemas.openxmlformats.org/drawingml/2006/main" w="20955">
            <a:solidFill>
              <a:srgbClr val="28253D"/>
            </a:solidFill>
            <a:prstDash val="solid"/>
          </a:ln>
        </p:spPr>
      </p:sp>
      <p:sp>
        <p:nvSpPr>
          <p:cNvPr id="11" name="">
            <a:extLst xmlns:a="http://schemas.openxmlformats.org/drawingml/2006/main">
              <a:ext uri="{FF2B5EF4-FFF2-40B4-BE49-F238E27FC236}">
                <a16:creationId xmlns:a16="http://schemas.microsoft.com/office/drawing/2014/main" id="{821642D1-EB7D-4214-B367-34DB09C9363A}"/>
              </a:ext>
            </a:extLst>
          </p:cNvPr>
          <p:cNvSpPr>
            <a:spLocks xmlns:a="http://schemas.openxmlformats.org/drawingml/2006/main" noGrp="1"/>
          </p:cNvSpPr>
          <p:nvPr/>
        </p:nvSpPr>
        <p:spPr>
          <a:xfrm xmlns:a="http://schemas.openxmlformats.org/drawingml/2006/main">
            <a:off x="4438650" y="3733800"/>
            <a:ext cx="114300" cy="14287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1179773-B69C-417B-BCE6-9A4582A8F27B}"/>
              </a:ext>
            </a:extLst>
          </p:cNvPr>
          <p:cNvSpPr>
            <a:spLocks xmlns:a="http://schemas.openxmlformats.org/drawingml/2006/main" noGrp="1"/>
          </p:cNvSpPr>
          <p:nvPr/>
        </p:nvSpPr>
        <p:spPr>
          <a:xfrm xmlns:a="http://schemas.openxmlformats.org/drawingml/2006/main">
            <a:off x="5124450" y="3924300"/>
            <a:ext cx="2438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Local agent host</a:t>
            </a:r>
          </a:p>
        </p:txBody>
      </p:sp>
      <p:sp>
        <p:nvSpPr>
          <p:cNvPr id="13" name="">
            <a:extLst xmlns:a="http://schemas.openxmlformats.org/drawingml/2006/main">
              <a:ext uri="{FF2B5EF4-FFF2-40B4-BE49-F238E27FC236}">
                <a16:creationId xmlns:a16="http://schemas.microsoft.com/office/drawing/2014/main" id="{91E979A1-E972-4F50-8A0F-BB9B3B38717B}"/>
              </a:ext>
            </a:extLst>
          </p:cNvPr>
          <p:cNvSpPr>
            <a:spLocks xmlns:a="http://schemas.openxmlformats.org/drawingml/2006/main" noGrp="1"/>
          </p:cNvSpPr>
          <p:nvPr/>
        </p:nvSpPr>
        <p:spPr>
          <a:xfrm xmlns:a="http://schemas.openxmlformats.org/drawingml/2006/main">
            <a:off x="4705350" y="4381500"/>
            <a:ext cx="28384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Hermes • models • tools • training</a:t>
            </a:r>
          </a:p>
        </p:txBody>
      </p:sp>
      <p:sp>
        <p:nvSpPr>
          <p:cNvPr id="14" name="">
            <a:extLst xmlns:a="http://schemas.openxmlformats.org/drawingml/2006/main">
              <a:ext uri="{FF2B5EF4-FFF2-40B4-BE49-F238E27FC236}">
                <a16:creationId xmlns:a16="http://schemas.microsoft.com/office/drawing/2014/main" id="{4E363834-FFCF-4E6F-8F4A-01FD6498DB23}"/>
              </a:ext>
            </a:extLst>
          </p:cNvPr>
          <p:cNvSpPr>
            <a:spLocks xmlns:a="http://schemas.openxmlformats.org/drawingml/2006/main" noGrp="1"/>
          </p:cNvSpPr>
          <p:nvPr/>
        </p:nvSpPr>
        <p:spPr>
          <a:xfrm xmlns:a="http://schemas.openxmlformats.org/drawingml/2006/main">
            <a:off x="8248650" y="3733800"/>
            <a:ext cx="3314700" cy="1428750"/>
          </a:xfrm>
          <a:prstGeom xmlns:a="http://schemas.openxmlformats.org/drawingml/2006/main" prst="rect">
            <a:avLst/>
          </a:prstGeom>
          <a:solidFill xmlns:a="http://schemas.openxmlformats.org/drawingml/2006/main">
            <a:srgbClr val="F7E9B6"/>
          </a:solidFill>
          <a:ln xmlns:a="http://schemas.openxmlformats.org/drawingml/2006/main" w="20955">
            <a:solidFill>
              <a:srgbClr val="28253D"/>
            </a:solidFill>
            <a:prstDash val="solid"/>
          </a:ln>
        </p:spPr>
      </p:sp>
      <p:sp>
        <p:nvSpPr>
          <p:cNvPr id="15" name="">
            <a:extLst xmlns:a="http://schemas.openxmlformats.org/drawingml/2006/main">
              <a:ext uri="{FF2B5EF4-FFF2-40B4-BE49-F238E27FC236}">
                <a16:creationId xmlns:a16="http://schemas.microsoft.com/office/drawing/2014/main" id="{2731CFAF-0132-46E3-8FDD-85CFF4DBB89B}"/>
              </a:ext>
            </a:extLst>
          </p:cNvPr>
          <p:cNvSpPr>
            <a:spLocks xmlns:a="http://schemas.openxmlformats.org/drawingml/2006/main" noGrp="1"/>
          </p:cNvSpPr>
          <p:nvPr/>
        </p:nvSpPr>
        <p:spPr>
          <a:xfrm xmlns:a="http://schemas.openxmlformats.org/drawingml/2006/main">
            <a:off x="8248650" y="3733800"/>
            <a:ext cx="114300" cy="14287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A1BD78C-5C19-4700-B9F2-DF084368D002}"/>
              </a:ext>
            </a:extLst>
          </p:cNvPr>
          <p:cNvSpPr>
            <a:spLocks xmlns:a="http://schemas.openxmlformats.org/drawingml/2006/main" noGrp="1"/>
          </p:cNvSpPr>
          <p:nvPr/>
        </p:nvSpPr>
        <p:spPr>
          <a:xfrm xmlns:a="http://schemas.openxmlformats.org/drawingml/2006/main">
            <a:off x="8934450" y="3924300"/>
            <a:ext cx="2438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Private durability</a:t>
            </a:r>
          </a:p>
        </p:txBody>
      </p:sp>
      <p:sp>
        <p:nvSpPr>
          <p:cNvPr id="17" name="">
            <a:extLst xmlns:a="http://schemas.openxmlformats.org/drawingml/2006/main">
              <a:ext uri="{FF2B5EF4-FFF2-40B4-BE49-F238E27FC236}">
                <a16:creationId xmlns:a16="http://schemas.microsoft.com/office/drawing/2014/main" id="{FC8C1FC9-2A03-46EC-A2DC-71D828E4E819}"/>
              </a:ext>
            </a:extLst>
          </p:cNvPr>
          <p:cNvSpPr>
            <a:spLocks xmlns:a="http://schemas.openxmlformats.org/drawingml/2006/main" noGrp="1"/>
          </p:cNvSpPr>
          <p:nvPr/>
        </p:nvSpPr>
        <p:spPr>
          <a:xfrm xmlns:a="http://schemas.openxmlformats.org/drawingml/2006/main">
            <a:off x="8515350" y="4381500"/>
            <a:ext cx="28384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GBrain • authored sources • Git</a:t>
            </a:r>
          </a:p>
        </p:txBody>
      </p:sp>
      <p:sp>
        <p:nvSpPr>
          <p:cNvPr id="18" name="">
            <a:extLst xmlns:a="http://schemas.openxmlformats.org/drawingml/2006/main">
              <a:ext uri="{FF2B5EF4-FFF2-40B4-BE49-F238E27FC236}">
                <a16:creationId xmlns:a16="http://schemas.microsoft.com/office/drawing/2014/main" id="{54A04A61-C618-40AE-AE60-3E2F742D660D}"/>
              </a:ext>
            </a:extLst>
          </p:cNvPr>
          <p:cNvSpPr>
            <a:spLocks xmlns:a="http://schemas.openxmlformats.org/drawingml/2006/main" noGrp="1"/>
          </p:cNvSpPr>
          <p:nvPr/>
        </p:nvSpPr>
        <p:spPr>
          <a:xfrm xmlns:a="http://schemas.openxmlformats.org/drawingml/2006/main">
            <a:off x="628650" y="5562600"/>
            <a:ext cx="3028950" cy="323850"/>
          </a:xfrm>
          <a:prstGeom xmlns:a="http://schemas.openxmlformats.org/drawingml/2006/main" prst="rect">
            <a:avLst/>
          </a:prstGeom>
          <a:solidFill xmlns:a="http://schemas.openxmlformats.org/drawingml/2006/main">
            <a:srgbClr val="F8F1E5"/>
          </a:solidFill>
          <a:ln xmlns:a="http://schemas.openxmlformats.org/drawingml/2006/main" w="17145">
            <a:solidFill>
              <a:srgbClr val="28253D"/>
            </a:solidFill>
            <a:prstDash val="solid"/>
          </a:ln>
        </p:spPr>
        <p:txBody>
          <a:bodyPr xmlns:a="http://schemas.openxmlformats.org/drawingml/2006/main" lIns="76200" tIns="28575" rIns="76200" bIns="28575" anchor="ctr"/>
          <a:lstStyle xmlns:a="http://schemas.openxmlformats.org/drawingml/2006/main"/>
          <a:p xmlns:a="http://schemas.openxmlformats.org/drawingml/2006/main">
            <a:pPr algn="ctr">
              <a:defRPr sz="975" b="1">
                <a:solidFill>
                  <a:srgbClr val="28253D"/>
                </a:solidFill>
                <a:latin typeface="Arial"/>
                <a:ea typeface="Arial"/>
                <a:cs typeface="Arial"/>
              </a:defRPr>
            </a:pPr>
            <a:r>
              <a:rPr sz="975" b="1">
                <a:solidFill>
                  <a:srgbClr val="28253D"/>
                </a:solidFill>
                <a:latin typeface="Arial"/>
                <a:ea typeface="Arial"/>
                <a:cs typeface="Arial"/>
              </a:rPr>
              <a:t>ARCHITECTURE AUDIT • JULY 2026</a:t>
            </a:r>
          </a:p>
        </p:txBody>
      </p:sp>
      <p:sp>
        <p:nvSpPr>
          <p:cNvPr id="19" name="">
            <a:extLst xmlns:a="http://schemas.openxmlformats.org/drawingml/2006/main">
              <a:ext uri="{FF2B5EF4-FFF2-40B4-BE49-F238E27FC236}">
                <a16:creationId xmlns:a16="http://schemas.microsoft.com/office/drawing/2014/main" id="{503339F0-6405-462E-944B-74CFA7859236}"/>
              </a:ext>
            </a:extLst>
          </p:cNvPr>
          <p:cNvSpPr>
            <a:spLocks xmlns:a="http://schemas.openxmlformats.org/drawingml/2006/main" noGrp="1"/>
          </p:cNvSpPr>
          <p:nvPr/>
        </p:nvSpPr>
        <p:spPr>
          <a:xfrm xmlns:a="http://schemas.openxmlformats.org/drawingml/2006/main">
            <a:off x="3943350" y="5581650"/>
            <a:ext cx="7620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28253D"/>
                </a:solidFill>
                <a:latin typeface="Arial"/>
                <a:ea typeface="Arial"/>
                <a:cs typeface="Arial"/>
              </a:defRPr>
            </a:pPr>
            <a:r>
              <a:rPr sz="1125" b="1">
                <a:solidFill>
                  <a:srgbClr val="28253D"/>
                </a:solidFill>
                <a:latin typeface="Arial"/>
                <a:ea typeface="Arial"/>
                <a:cs typeface="Arial"/>
              </a:rPr>
              <a:t>Hermes = runtime   •   GBrain = durable knowledge   •   TARS = voice/persona</a:t>
            </a:r>
          </a:p>
        </p:txBody>
      </p:sp>
      <p:sp>
        <p:nvSpPr>
          <p:cNvPr id="20" name="">
            <a:extLst xmlns:a="http://schemas.openxmlformats.org/drawingml/2006/main">
              <a:ext uri="{FF2B5EF4-FFF2-40B4-BE49-F238E27FC236}">
                <a16:creationId xmlns:a16="http://schemas.microsoft.com/office/drawing/2014/main" id="{DB496AC1-272A-484B-B56A-EE71D317ECA3}"/>
              </a:ext>
            </a:extLst>
          </p:cNvPr>
          <p:cNvSpPr>
            <a:spLocks xmlns:a="http://schemas.openxmlformats.org/drawingml/2006/main" noGrp="1"/>
          </p:cNvSpPr>
          <p:nvPr/>
        </p:nvSpPr>
        <p:spPr>
          <a:xfrm xmlns:a="http://schemas.openxmlformats.org/drawingml/2006/main">
            <a:off x="590550" y="6496050"/>
            <a:ext cx="11010900" cy="190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FF6E975-896C-4947-B852-5019E3E4E668}"/>
              </a:ext>
            </a:extLst>
          </p:cNvPr>
          <p:cNvSpPr>
            <a:spLocks xmlns:a="http://schemas.openxmlformats.org/drawingml/2006/main" noGrp="1"/>
          </p:cNvSpPr>
          <p:nvPr/>
        </p:nvSpPr>
        <p:spPr>
          <a:xfrm xmlns:a="http://schemas.openxmlformats.org/drawingml/2006/main">
            <a:off x="590550" y="657225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F6B74"/>
                </a:solidFill>
                <a:latin typeface="Arial"/>
                <a:ea typeface="Arial"/>
                <a:cs typeface="Arial"/>
              </a:defRPr>
            </a:pPr>
            <a:r>
              <a:rPr sz="750" b="1">
                <a:solidFill>
                  <a:srgbClr val="6F6B74"/>
                </a:solidFill>
                <a:latin typeface="Arial"/>
                <a:ea typeface="Arial"/>
                <a:cs typeface="Arial"/>
              </a:rPr>
              <a:t>INSTRUCTIONAL BRIEFING • SANITIZED</a:t>
            </a:r>
          </a:p>
        </p:txBody>
      </p:sp>
      <p:sp>
        <p:nvSpPr>
          <p:cNvPr id="22" name="">
            <a:extLst xmlns:a="http://schemas.openxmlformats.org/drawingml/2006/main">
              <a:ext uri="{FF2B5EF4-FFF2-40B4-BE49-F238E27FC236}">
                <a16:creationId xmlns:a16="http://schemas.microsoft.com/office/drawing/2014/main" id="{2E4AB402-31EB-47BC-ADF3-EBF10F945B64}"/>
              </a:ext>
            </a:extLst>
          </p:cNvPr>
          <p:cNvSpPr>
            <a:spLocks xmlns:a="http://schemas.openxmlformats.org/drawingml/2006/main" noGrp="1"/>
          </p:cNvSpPr>
          <p:nvPr/>
        </p:nvSpPr>
        <p:spPr>
          <a:xfrm xmlns:a="http://schemas.openxmlformats.org/drawingml/2006/main">
            <a:off x="10744200" y="65722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F6B74"/>
                </a:solidFill>
                <a:latin typeface="Arial"/>
                <a:ea typeface="Arial"/>
                <a:cs typeface="Arial"/>
              </a:defRPr>
            </a:pPr>
            <a:r>
              <a:rPr sz="750" b="1">
                <a:solidFill>
                  <a:srgbClr val="6F6B74"/>
                </a:solidFill>
                <a:latin typeface="Arial"/>
                <a:ea typeface="Arial"/>
                <a:cs typeface="Arial"/>
              </a:rPr>
              <a:t>01</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6ea42c06edb4044">
            <a:extLst>
              <a:ext uri="{96DAC541-7B7A-43D3-8B79-37D633B846F1}">
                <asvg:svgBlip xmlns:asvg="http://schemas.microsoft.com/office/drawing/2016/SVG/main" r:embed="R791f184b45284cce"/>
              </a:ext>
            </a:extLst>
          </a:blip>
          <a:stretch xmlns:a="http://schemas.openxmlformats.org/drawingml/2006/main"/>
        </p:blipFill>
        <p:spPr>
          <a:xfrm xmlns:a="http://schemas.openxmlformats.org/drawingml/2006/main">
            <a:off x="876300" y="3962400"/>
            <a:ext cx="323850" cy="32385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dcbbdac8a284cc7">
            <a:extLst>
              <a:ext uri="{96DAC541-7B7A-43D3-8B79-37D633B846F1}">
                <asvg:svgBlip xmlns:asvg="http://schemas.microsoft.com/office/drawing/2016/SVG/main" r:embed="Rac2b750395ea447b"/>
              </a:ext>
            </a:extLst>
          </a:blip>
          <a:stretch xmlns:a="http://schemas.openxmlformats.org/drawingml/2006/main"/>
        </p:blipFill>
        <p:spPr>
          <a:xfrm xmlns:a="http://schemas.openxmlformats.org/drawingml/2006/main">
            <a:off x="4686300" y="3962400"/>
            <a:ext cx="323850" cy="323850"/>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1fb90fd1b3845f9">
            <a:extLst>
              <a:ext uri="{96DAC541-7B7A-43D3-8B79-37D633B846F1}">
                <asvg:svgBlip xmlns:asvg="http://schemas.microsoft.com/office/drawing/2016/SVG/main" r:embed="R071b15362fb64280"/>
              </a:ext>
            </a:extLst>
          </a:blip>
          <a:stretch xmlns:a="http://schemas.openxmlformats.org/drawingml/2006/main"/>
        </p:blipFill>
        <p:spPr>
          <a:xfrm xmlns:a="http://schemas.openxmlformats.org/drawingml/2006/main">
            <a:off x="8496300" y="3962400"/>
            <a:ext cx="323850" cy="323850"/>
          </a:xfrm>
          <a:prstGeom xmlns:a="http://schemas.openxmlformats.org/drawingml/2006/main" prst="rect">
            <a:avLst/>
          </a:prstGeom>
        </p:spPr>
      </p:pic>
    </p:spTree>
    <p:extLst>
      <p:ext uri="{BB962C8B-B14F-4D97-AF65-F5344CB8AC3E}">
        <p14:creationId xmlns:p14="http://schemas.microsoft.com/office/powerpoint/2010/main" val="18923745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42CEC3-113A-4680-94DA-06C995F417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1E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AF6E323-0163-4640-BEA1-8A8DA0A2E8F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3F9AB66-EDC7-459D-833A-70EEADDF0CC3}"/>
              </a:ext>
            </a:extLst>
          </p:cNvPr>
          <p:cNvSpPr>
            <a:spLocks xmlns:a="http://schemas.openxmlformats.org/drawingml/2006/main" noGrp="1"/>
          </p:cNvSpPr>
          <p:nvPr/>
        </p:nvSpPr>
        <p:spPr>
          <a:xfrm xmlns:a="http://schemas.openxmlformats.org/drawingml/2006/main">
            <a:off x="590550" y="3810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E9878C"/>
                </a:solidFill>
                <a:latin typeface="Arial"/>
                <a:ea typeface="Arial"/>
                <a:cs typeface="Arial"/>
              </a:defRPr>
            </a:pPr>
            <a:r>
              <a:rPr sz="1050" b="1">
                <a:solidFill>
                  <a:srgbClr val="E9878C"/>
                </a:solidFill>
                <a:latin typeface="Arial"/>
                <a:ea typeface="Arial"/>
                <a:cs typeface="Arial"/>
              </a:rPr>
              <a:t>START HERE</a:t>
            </a:r>
          </a:p>
        </p:txBody>
      </p:sp>
      <p:sp>
        <p:nvSpPr>
          <p:cNvPr id="4" name="">
            <a:extLst xmlns:a="http://schemas.openxmlformats.org/drawingml/2006/main">
              <a:ext uri="{FF2B5EF4-FFF2-40B4-BE49-F238E27FC236}">
                <a16:creationId xmlns:a16="http://schemas.microsoft.com/office/drawing/2014/main" id="{515D6503-DA55-4083-B114-4AD023C883F9}"/>
              </a:ext>
            </a:extLst>
          </p:cNvPr>
          <p:cNvSpPr>
            <a:spLocks xmlns:a="http://schemas.openxmlformats.org/drawingml/2006/main" noGrp="1"/>
          </p:cNvSpPr>
          <p:nvPr/>
        </p:nvSpPr>
        <p:spPr>
          <a:xfrm xmlns:a="http://schemas.openxmlformats.org/drawingml/2006/main">
            <a:off x="590550" y="685800"/>
            <a:ext cx="10763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8253D"/>
                </a:solidFill>
                <a:latin typeface="Georgia"/>
                <a:ea typeface="Georgia"/>
                <a:cs typeface="Georgia"/>
              </a:defRPr>
            </a:pPr>
            <a:r>
              <a:rPr sz="2700" b="1">
                <a:solidFill>
                  <a:srgbClr val="28253D"/>
                </a:solidFill>
                <a:latin typeface="Georgia"/>
                <a:ea typeface="Georgia"/>
                <a:cs typeface="Georgia"/>
              </a:rPr>
              <a:t>The four-layer mental model</a:t>
            </a:r>
          </a:p>
        </p:txBody>
      </p:sp>
      <p:sp>
        <p:nvSpPr>
          <p:cNvPr id="5" name="">
            <a:extLst xmlns:a="http://schemas.openxmlformats.org/drawingml/2006/main">
              <a:ext uri="{FF2B5EF4-FFF2-40B4-BE49-F238E27FC236}">
                <a16:creationId xmlns:a16="http://schemas.microsoft.com/office/drawing/2014/main" id="{B931B61B-10D4-4605-A5A4-65A215359872}"/>
              </a:ext>
            </a:extLst>
          </p:cNvPr>
          <p:cNvSpPr>
            <a:spLocks xmlns:a="http://schemas.openxmlformats.org/drawingml/2006/main" noGrp="1"/>
          </p:cNvSpPr>
          <p:nvPr/>
        </p:nvSpPr>
        <p:spPr>
          <a:xfrm xmlns:a="http://schemas.openxmlformats.org/drawingml/2006/main">
            <a:off x="590550" y="6496050"/>
            <a:ext cx="11010900" cy="190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4304766-E1EA-49CD-89EF-5FFCEEBBAE11}"/>
              </a:ext>
            </a:extLst>
          </p:cNvPr>
          <p:cNvSpPr>
            <a:spLocks xmlns:a="http://schemas.openxmlformats.org/drawingml/2006/main" noGrp="1"/>
          </p:cNvSpPr>
          <p:nvPr/>
        </p:nvSpPr>
        <p:spPr>
          <a:xfrm xmlns:a="http://schemas.openxmlformats.org/drawingml/2006/main">
            <a:off x="590550" y="657225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F6B74"/>
                </a:solidFill>
                <a:latin typeface="Arial"/>
                <a:ea typeface="Arial"/>
                <a:cs typeface="Arial"/>
              </a:defRPr>
            </a:pPr>
            <a:r>
              <a:rPr sz="750" b="1">
                <a:solidFill>
                  <a:srgbClr val="6F6B74"/>
                </a:solidFill>
                <a:latin typeface="Arial"/>
                <a:ea typeface="Arial"/>
                <a:cs typeface="Arial"/>
              </a:rPr>
              <a:t>ANONYMIZED LOCAL AI/ML ARCHITECTURE</a:t>
            </a:r>
          </a:p>
        </p:txBody>
      </p:sp>
      <p:sp>
        <p:nvSpPr>
          <p:cNvPr id="7" name="">
            <a:extLst xmlns:a="http://schemas.openxmlformats.org/drawingml/2006/main">
              <a:ext uri="{FF2B5EF4-FFF2-40B4-BE49-F238E27FC236}">
                <a16:creationId xmlns:a16="http://schemas.microsoft.com/office/drawing/2014/main" id="{A8455423-AB41-4686-94FC-A7CF59A4362D}"/>
              </a:ext>
            </a:extLst>
          </p:cNvPr>
          <p:cNvSpPr>
            <a:spLocks xmlns:a="http://schemas.openxmlformats.org/drawingml/2006/main" noGrp="1"/>
          </p:cNvSpPr>
          <p:nvPr/>
        </p:nvSpPr>
        <p:spPr>
          <a:xfrm xmlns:a="http://schemas.openxmlformats.org/drawingml/2006/main">
            <a:off x="10744200" y="65722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F6B74"/>
                </a:solidFill>
                <a:latin typeface="Arial"/>
                <a:ea typeface="Arial"/>
                <a:cs typeface="Arial"/>
              </a:defRPr>
            </a:pPr>
            <a:r>
              <a:rPr sz="750" b="1">
                <a:solidFill>
                  <a:srgbClr val="6F6B74"/>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501246B-74AB-4925-8332-DD7C7D506E88}"/>
              </a:ext>
            </a:extLst>
          </p:cNvPr>
          <p:cNvSpPr>
            <a:spLocks xmlns:a="http://schemas.openxmlformats.org/drawingml/2006/main" noGrp="1"/>
          </p:cNvSpPr>
          <p:nvPr/>
        </p:nvSpPr>
        <p:spPr>
          <a:xfrm xmlns:a="http://schemas.openxmlformats.org/drawingml/2006/main">
            <a:off x="590550" y="1619250"/>
            <a:ext cx="2571750" cy="3333750"/>
          </a:xfrm>
          <a:prstGeom xmlns:a="http://schemas.openxmlformats.org/drawingml/2006/main" prst="rect">
            <a:avLst/>
          </a:prstGeom>
          <a:solidFill xmlns:a="http://schemas.openxmlformats.org/drawingml/2006/main">
            <a:srgbClr val="FFF8EF"/>
          </a:solidFill>
          <a:ln xmlns:a="http://schemas.openxmlformats.org/drawingml/2006/main" w="20955">
            <a:solidFill>
              <a:srgbClr val="28253D"/>
            </a:solidFill>
            <a:prstDash val="solid"/>
          </a:ln>
        </p:spPr>
      </p:sp>
      <p:sp>
        <p:nvSpPr>
          <p:cNvPr id="9" name="">
            <a:extLst xmlns:a="http://schemas.openxmlformats.org/drawingml/2006/main">
              <a:ext uri="{FF2B5EF4-FFF2-40B4-BE49-F238E27FC236}">
                <a16:creationId xmlns:a16="http://schemas.microsoft.com/office/drawing/2014/main" id="{203BB45D-0486-431F-909D-0150B3C6E50B}"/>
              </a:ext>
            </a:extLst>
          </p:cNvPr>
          <p:cNvSpPr>
            <a:spLocks xmlns:a="http://schemas.openxmlformats.org/drawingml/2006/main" noGrp="1"/>
          </p:cNvSpPr>
          <p:nvPr/>
        </p:nvSpPr>
        <p:spPr>
          <a:xfrm xmlns:a="http://schemas.openxmlformats.org/drawingml/2006/main">
            <a:off x="590550" y="1619250"/>
            <a:ext cx="114300" cy="33337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A1AE5E8-0B3E-4225-9340-EC84A024D47B}"/>
              </a:ext>
            </a:extLst>
          </p:cNvPr>
          <p:cNvSpPr>
            <a:spLocks xmlns:a="http://schemas.openxmlformats.org/drawingml/2006/main" noGrp="1"/>
          </p:cNvSpPr>
          <p:nvPr/>
        </p:nvSpPr>
        <p:spPr>
          <a:xfrm xmlns:a="http://schemas.openxmlformats.org/drawingml/2006/main">
            <a:off x="1276350" y="1809750"/>
            <a:ext cx="1695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1. Interaction</a:t>
            </a:r>
          </a:p>
        </p:txBody>
      </p:sp>
      <p:sp>
        <p:nvSpPr>
          <p:cNvPr id="11" name="">
            <a:extLst xmlns:a="http://schemas.openxmlformats.org/drawingml/2006/main">
              <a:ext uri="{FF2B5EF4-FFF2-40B4-BE49-F238E27FC236}">
                <a16:creationId xmlns:a16="http://schemas.microsoft.com/office/drawing/2014/main" id="{12E0EED8-62E4-4013-8A9C-3BBF89776B4E}"/>
              </a:ext>
            </a:extLst>
          </p:cNvPr>
          <p:cNvSpPr>
            <a:spLocks xmlns:a="http://schemas.openxmlformats.org/drawingml/2006/main" noGrp="1"/>
          </p:cNvSpPr>
          <p:nvPr/>
        </p:nvSpPr>
        <p:spPr>
          <a:xfrm xmlns:a="http://schemas.openxmlformats.org/drawingml/2006/main">
            <a:off x="857250" y="2266950"/>
            <a:ext cx="2095500" cy="2514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Where a person asks, observes, and approves.</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Canvas</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Messaging</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Coding sessions</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Voice</a:t>
            </a:r>
          </a:p>
        </p:txBody>
      </p:sp>
      <p:sp>
        <p:nvSpPr>
          <p:cNvPr id="12" name="">
            <a:extLst xmlns:a="http://schemas.openxmlformats.org/drawingml/2006/main">
              <a:ext uri="{FF2B5EF4-FFF2-40B4-BE49-F238E27FC236}">
                <a16:creationId xmlns:a16="http://schemas.microsoft.com/office/drawing/2014/main" id="{FEDE4A6A-1990-4038-81C2-D4D5E08CEFA1}"/>
              </a:ext>
            </a:extLst>
          </p:cNvPr>
          <p:cNvSpPr>
            <a:spLocks xmlns:a="http://schemas.openxmlformats.org/drawingml/2006/main" noGrp="1"/>
          </p:cNvSpPr>
          <p:nvPr/>
        </p:nvSpPr>
        <p:spPr>
          <a:xfrm xmlns:a="http://schemas.openxmlformats.org/drawingml/2006/main">
            <a:off x="3409950" y="1619250"/>
            <a:ext cx="2571750" cy="3333750"/>
          </a:xfrm>
          <a:prstGeom xmlns:a="http://schemas.openxmlformats.org/drawingml/2006/main" prst="rect">
            <a:avLst/>
          </a:prstGeom>
          <a:solidFill xmlns:a="http://schemas.openxmlformats.org/drawingml/2006/main">
            <a:srgbClr val="DDE8D3"/>
          </a:solidFill>
          <a:ln xmlns:a="http://schemas.openxmlformats.org/drawingml/2006/main" w="20955">
            <a:solidFill>
              <a:srgbClr val="28253D"/>
            </a:solidFill>
            <a:prstDash val="solid"/>
          </a:ln>
        </p:spPr>
      </p:sp>
      <p:sp>
        <p:nvSpPr>
          <p:cNvPr id="13" name="">
            <a:extLst xmlns:a="http://schemas.openxmlformats.org/drawingml/2006/main">
              <a:ext uri="{FF2B5EF4-FFF2-40B4-BE49-F238E27FC236}">
                <a16:creationId xmlns:a16="http://schemas.microsoft.com/office/drawing/2014/main" id="{BC4FEAAB-FE34-4090-93A0-1E1B0E226738}"/>
              </a:ext>
            </a:extLst>
          </p:cNvPr>
          <p:cNvSpPr>
            <a:spLocks xmlns:a="http://schemas.openxmlformats.org/drawingml/2006/main" noGrp="1"/>
          </p:cNvSpPr>
          <p:nvPr/>
        </p:nvSpPr>
        <p:spPr>
          <a:xfrm xmlns:a="http://schemas.openxmlformats.org/drawingml/2006/main">
            <a:off x="3409950" y="1619250"/>
            <a:ext cx="114300" cy="33337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D0DFA3B4-658E-45AC-9F91-3133973A8F0A}"/>
              </a:ext>
            </a:extLst>
          </p:cNvPr>
          <p:cNvSpPr>
            <a:spLocks xmlns:a="http://schemas.openxmlformats.org/drawingml/2006/main" noGrp="1"/>
          </p:cNvSpPr>
          <p:nvPr/>
        </p:nvSpPr>
        <p:spPr>
          <a:xfrm xmlns:a="http://schemas.openxmlformats.org/drawingml/2006/main">
            <a:off x="4095750" y="1809750"/>
            <a:ext cx="1695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2. Agent</a:t>
            </a:r>
          </a:p>
        </p:txBody>
      </p:sp>
      <p:sp>
        <p:nvSpPr>
          <p:cNvPr id="15" name="">
            <a:extLst xmlns:a="http://schemas.openxmlformats.org/drawingml/2006/main">
              <a:ext uri="{FF2B5EF4-FFF2-40B4-BE49-F238E27FC236}">
                <a16:creationId xmlns:a16="http://schemas.microsoft.com/office/drawing/2014/main" id="{56914871-016B-477D-8E20-C180B0FD6191}"/>
              </a:ext>
            </a:extLst>
          </p:cNvPr>
          <p:cNvSpPr>
            <a:spLocks xmlns:a="http://schemas.openxmlformats.org/drawingml/2006/main" noGrp="1"/>
          </p:cNvSpPr>
          <p:nvPr/>
        </p:nvSpPr>
        <p:spPr>
          <a:xfrm xmlns:a="http://schemas.openxmlformats.org/drawingml/2006/main">
            <a:off x="3676650" y="2266950"/>
            <a:ext cx="2095500" cy="2514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Where requests are authenticated, scoped, reasoned about, and executed.</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Gateway</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Hermes sessions</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Local models</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Approved tools</a:t>
            </a:r>
          </a:p>
        </p:txBody>
      </p:sp>
      <p:sp>
        <p:nvSpPr>
          <p:cNvPr id="16" name="">
            <a:extLst xmlns:a="http://schemas.openxmlformats.org/drawingml/2006/main">
              <a:ext uri="{FF2B5EF4-FFF2-40B4-BE49-F238E27FC236}">
                <a16:creationId xmlns:a16="http://schemas.microsoft.com/office/drawing/2014/main" id="{4B1A0C55-2DCC-4886-B3FC-2F98DBDB8168}"/>
              </a:ext>
            </a:extLst>
          </p:cNvPr>
          <p:cNvSpPr>
            <a:spLocks xmlns:a="http://schemas.openxmlformats.org/drawingml/2006/main" noGrp="1"/>
          </p:cNvSpPr>
          <p:nvPr/>
        </p:nvSpPr>
        <p:spPr>
          <a:xfrm xmlns:a="http://schemas.openxmlformats.org/drawingml/2006/main">
            <a:off x="6229350" y="1619250"/>
            <a:ext cx="2571750" cy="3333750"/>
          </a:xfrm>
          <a:prstGeom xmlns:a="http://schemas.openxmlformats.org/drawingml/2006/main" prst="rect">
            <a:avLst/>
          </a:prstGeom>
          <a:solidFill xmlns:a="http://schemas.openxmlformats.org/drawingml/2006/main">
            <a:srgbClr val="FFF8EF"/>
          </a:solidFill>
          <a:ln xmlns:a="http://schemas.openxmlformats.org/drawingml/2006/main" w="20955">
            <a:solidFill>
              <a:srgbClr val="28253D"/>
            </a:solidFill>
            <a:prstDash val="solid"/>
          </a:ln>
        </p:spPr>
      </p:sp>
      <p:sp>
        <p:nvSpPr>
          <p:cNvPr id="17" name="">
            <a:extLst xmlns:a="http://schemas.openxmlformats.org/drawingml/2006/main">
              <a:ext uri="{FF2B5EF4-FFF2-40B4-BE49-F238E27FC236}">
                <a16:creationId xmlns:a16="http://schemas.microsoft.com/office/drawing/2014/main" id="{E225BA1C-2636-42BC-B360-47CDB018E60B}"/>
              </a:ext>
            </a:extLst>
          </p:cNvPr>
          <p:cNvSpPr>
            <a:spLocks xmlns:a="http://schemas.openxmlformats.org/drawingml/2006/main" noGrp="1"/>
          </p:cNvSpPr>
          <p:nvPr/>
        </p:nvSpPr>
        <p:spPr>
          <a:xfrm xmlns:a="http://schemas.openxmlformats.org/drawingml/2006/main">
            <a:off x="6229350" y="1619250"/>
            <a:ext cx="114300" cy="33337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9037850-C334-49E3-87C9-ADD9E629EF5A}"/>
              </a:ext>
            </a:extLst>
          </p:cNvPr>
          <p:cNvSpPr>
            <a:spLocks xmlns:a="http://schemas.openxmlformats.org/drawingml/2006/main" noGrp="1"/>
          </p:cNvSpPr>
          <p:nvPr/>
        </p:nvSpPr>
        <p:spPr>
          <a:xfrm xmlns:a="http://schemas.openxmlformats.org/drawingml/2006/main">
            <a:off x="6915150" y="1809750"/>
            <a:ext cx="1695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3. Knowledge</a:t>
            </a:r>
          </a:p>
        </p:txBody>
      </p:sp>
      <p:sp>
        <p:nvSpPr>
          <p:cNvPr id="19" name="">
            <a:extLst xmlns:a="http://schemas.openxmlformats.org/drawingml/2006/main">
              <a:ext uri="{FF2B5EF4-FFF2-40B4-BE49-F238E27FC236}">
                <a16:creationId xmlns:a16="http://schemas.microsoft.com/office/drawing/2014/main" id="{9C135A19-CE69-4B6F-B25F-6B9AF9382234}"/>
              </a:ext>
            </a:extLst>
          </p:cNvPr>
          <p:cNvSpPr>
            <a:spLocks xmlns:a="http://schemas.openxmlformats.org/drawingml/2006/main" noGrp="1"/>
          </p:cNvSpPr>
          <p:nvPr/>
        </p:nvSpPr>
        <p:spPr>
          <a:xfrm xmlns:a="http://schemas.openxmlformats.org/drawingml/2006/main">
            <a:off x="6496050" y="2266950"/>
            <a:ext cx="2095500" cy="2514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Where current evidence is reconciled with durable context.</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Live run state</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Scoped GBrain</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Training receipts</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Provenance</a:t>
            </a:r>
          </a:p>
        </p:txBody>
      </p:sp>
      <p:sp>
        <p:nvSpPr>
          <p:cNvPr id="20" name="">
            <a:extLst xmlns:a="http://schemas.openxmlformats.org/drawingml/2006/main">
              <a:ext uri="{FF2B5EF4-FFF2-40B4-BE49-F238E27FC236}">
                <a16:creationId xmlns:a16="http://schemas.microsoft.com/office/drawing/2014/main" id="{94B31998-3E89-41E0-A079-EF04A5E10D68}"/>
              </a:ext>
            </a:extLst>
          </p:cNvPr>
          <p:cNvSpPr>
            <a:spLocks xmlns:a="http://schemas.openxmlformats.org/drawingml/2006/main" noGrp="1"/>
          </p:cNvSpPr>
          <p:nvPr/>
        </p:nvSpPr>
        <p:spPr>
          <a:xfrm xmlns:a="http://schemas.openxmlformats.org/drawingml/2006/main">
            <a:off x="9048750" y="1619250"/>
            <a:ext cx="2571750" cy="3333750"/>
          </a:xfrm>
          <a:prstGeom xmlns:a="http://schemas.openxmlformats.org/drawingml/2006/main" prst="rect">
            <a:avLst/>
          </a:prstGeom>
          <a:solidFill xmlns:a="http://schemas.openxmlformats.org/drawingml/2006/main">
            <a:srgbClr val="F7E9B6"/>
          </a:solidFill>
          <a:ln xmlns:a="http://schemas.openxmlformats.org/drawingml/2006/main" w="20955">
            <a:solidFill>
              <a:srgbClr val="28253D"/>
            </a:solidFill>
            <a:prstDash val="solid"/>
          </a:ln>
        </p:spPr>
      </p:sp>
      <p:sp>
        <p:nvSpPr>
          <p:cNvPr id="21" name="">
            <a:extLst xmlns:a="http://schemas.openxmlformats.org/drawingml/2006/main">
              <a:ext uri="{FF2B5EF4-FFF2-40B4-BE49-F238E27FC236}">
                <a16:creationId xmlns:a16="http://schemas.microsoft.com/office/drawing/2014/main" id="{9254E36C-E889-44DE-BE5F-B6FD099126E4}"/>
              </a:ext>
            </a:extLst>
          </p:cNvPr>
          <p:cNvSpPr>
            <a:spLocks xmlns:a="http://schemas.openxmlformats.org/drawingml/2006/main" noGrp="1"/>
          </p:cNvSpPr>
          <p:nvPr/>
        </p:nvSpPr>
        <p:spPr>
          <a:xfrm xmlns:a="http://schemas.openxmlformats.org/drawingml/2006/main">
            <a:off x="9048750" y="1619250"/>
            <a:ext cx="114300" cy="33337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C7F48340-2F53-4519-8173-1680F2AA2027}"/>
              </a:ext>
            </a:extLst>
          </p:cNvPr>
          <p:cNvSpPr>
            <a:spLocks xmlns:a="http://schemas.openxmlformats.org/drawingml/2006/main" noGrp="1"/>
          </p:cNvSpPr>
          <p:nvPr/>
        </p:nvSpPr>
        <p:spPr>
          <a:xfrm xmlns:a="http://schemas.openxmlformats.org/drawingml/2006/main">
            <a:off x="9734550" y="1809750"/>
            <a:ext cx="1695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4. Durability</a:t>
            </a:r>
          </a:p>
        </p:txBody>
      </p:sp>
      <p:sp>
        <p:nvSpPr>
          <p:cNvPr id="23" name="">
            <a:extLst xmlns:a="http://schemas.openxmlformats.org/drawingml/2006/main">
              <a:ext uri="{FF2B5EF4-FFF2-40B4-BE49-F238E27FC236}">
                <a16:creationId xmlns:a16="http://schemas.microsoft.com/office/drawing/2014/main" id="{4C4F095B-DFEB-4508-870C-CC4323377C25}"/>
              </a:ext>
            </a:extLst>
          </p:cNvPr>
          <p:cNvSpPr>
            <a:spLocks xmlns:a="http://schemas.openxmlformats.org/drawingml/2006/main" noGrp="1"/>
          </p:cNvSpPr>
          <p:nvPr/>
        </p:nvSpPr>
        <p:spPr>
          <a:xfrm xmlns:a="http://schemas.openxmlformats.org/drawingml/2006/main">
            <a:off x="9315450" y="2266950"/>
            <a:ext cx="2095500" cy="2514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Where authored knowledge can be backed up and restored.</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Markdown sources</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Local index</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Private Git</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Recovery</a:t>
            </a:r>
          </a:p>
        </p:txBody>
      </p:sp>
      <p:sp>
        <p:nvSpPr>
          <p:cNvPr id="24" name="">
            <a:extLst xmlns:a="http://schemas.openxmlformats.org/drawingml/2006/main">
              <a:ext uri="{FF2B5EF4-FFF2-40B4-BE49-F238E27FC236}">
                <a16:creationId xmlns:a16="http://schemas.microsoft.com/office/drawing/2014/main" id="{3BBDD54D-2E8D-4CEA-BC4D-8B440CFEF924}"/>
              </a:ext>
            </a:extLst>
          </p:cNvPr>
          <p:cNvSpPr>
            <a:spLocks xmlns:a="http://schemas.openxmlformats.org/drawingml/2006/main" noGrp="1"/>
          </p:cNvSpPr>
          <p:nvPr/>
        </p:nvSpPr>
        <p:spPr>
          <a:xfrm xmlns:a="http://schemas.openxmlformats.org/drawingml/2006/main">
            <a:off x="1695450" y="5429250"/>
            <a:ext cx="8801100" cy="438150"/>
          </a:xfrm>
          <a:prstGeom xmlns:a="http://schemas.openxmlformats.org/drawingml/2006/main" prst="rect">
            <a:avLst/>
          </a:prstGeom>
          <a:solidFill xmlns:a="http://schemas.openxmlformats.org/drawingml/2006/main">
            <a:srgbClr val="F8F1E5"/>
          </a:solidFill>
          <a:ln xmlns:a="http://schemas.openxmlformats.org/drawingml/2006/main" w="17145">
            <a:solidFill>
              <a:srgbClr val="28253D"/>
            </a:solidFill>
            <a:prstDash val="solid"/>
          </a:ln>
        </p:spPr>
        <p:txBody>
          <a:bodyPr xmlns:a="http://schemas.openxmlformats.org/drawingml/2006/main" lIns="76200" tIns="28575" rIns="76200" bIns="28575" anchor="ctr"/>
          <a:lstStyle xmlns:a="http://schemas.openxmlformats.org/drawingml/2006/main"/>
          <a:p xmlns:a="http://schemas.openxmlformats.org/drawingml/2006/main">
            <a:pPr algn="ctr">
              <a:defRPr sz="1350" b="1">
                <a:solidFill>
                  <a:srgbClr val="28253D"/>
                </a:solidFill>
                <a:latin typeface="Arial"/>
                <a:ea typeface="Arial"/>
                <a:cs typeface="Arial"/>
              </a:defRPr>
            </a:pPr>
            <a:r>
              <a:rPr sz="1350" b="1">
                <a:solidFill>
                  <a:srgbClr val="28253D"/>
                </a:solidFill>
                <a:latin typeface="Arial"/>
                <a:ea typeface="Arial"/>
                <a:cs typeface="Arial"/>
              </a:rPr>
              <a:t>The workstation controls. The local host executes. GBrain remembers.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5b6950e55cd4453">
            <a:extLst>
              <a:ext uri="{96DAC541-7B7A-43D3-8B79-37D633B846F1}">
                <asvg:svgBlip xmlns:asvg="http://schemas.microsoft.com/office/drawing/2016/SVG/main" r:embed="Rbea3cfa55fda4dad"/>
              </a:ext>
            </a:extLst>
          </a:blip>
          <a:stretch xmlns:a="http://schemas.openxmlformats.org/drawingml/2006/main"/>
        </p:blipFill>
        <p:spPr>
          <a:xfrm xmlns:a="http://schemas.openxmlformats.org/drawingml/2006/main">
            <a:off x="838200" y="1847850"/>
            <a:ext cx="323850" cy="32385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c883c9446634a03">
            <a:extLst>
              <a:ext uri="{96DAC541-7B7A-43D3-8B79-37D633B846F1}">
                <asvg:svgBlip xmlns:asvg="http://schemas.microsoft.com/office/drawing/2016/SVG/main" r:embed="R8bc0de6a1d4a4c39"/>
              </a:ext>
            </a:extLst>
          </a:blip>
          <a:stretch xmlns:a="http://schemas.openxmlformats.org/drawingml/2006/main"/>
        </p:blipFill>
        <p:spPr>
          <a:xfrm xmlns:a="http://schemas.openxmlformats.org/drawingml/2006/main">
            <a:off x="3657600" y="1847850"/>
            <a:ext cx="323850" cy="3238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6f144ac8ba84ae3">
            <a:extLst>
              <a:ext uri="{96DAC541-7B7A-43D3-8B79-37D633B846F1}">
                <asvg:svgBlip xmlns:asvg="http://schemas.microsoft.com/office/drawing/2016/SVG/main" r:embed="R2d849f46cf2f4f1c"/>
              </a:ext>
            </a:extLst>
          </a:blip>
          <a:stretch xmlns:a="http://schemas.openxmlformats.org/drawingml/2006/main"/>
        </p:blipFill>
        <p:spPr>
          <a:xfrm xmlns:a="http://schemas.openxmlformats.org/drawingml/2006/main">
            <a:off x="6477000" y="1847850"/>
            <a:ext cx="323850" cy="323850"/>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fe8184908b346f6">
            <a:extLst>
              <a:ext uri="{96DAC541-7B7A-43D3-8B79-37D633B846F1}">
                <asvg:svgBlip xmlns:asvg="http://schemas.microsoft.com/office/drawing/2016/SVG/main" r:embed="R14e4c612da08473b"/>
              </a:ext>
            </a:extLst>
          </a:blip>
          <a:stretch xmlns:a="http://schemas.openxmlformats.org/drawingml/2006/main"/>
        </p:blipFill>
        <p:spPr>
          <a:xfrm xmlns:a="http://schemas.openxmlformats.org/drawingml/2006/main">
            <a:off x="9296400" y="1847850"/>
            <a:ext cx="323850" cy="323850"/>
          </a:xfrm>
          <a:prstGeom xmlns:a="http://schemas.openxmlformats.org/drawingml/2006/main" prst="rect">
            <a:avLst/>
          </a:prstGeom>
        </p:spPr>
      </p:pic>
    </p:spTree>
    <p:extLst>
      <p:ext uri="{BB962C8B-B14F-4D97-AF65-F5344CB8AC3E}">
        <p14:creationId xmlns:p14="http://schemas.microsoft.com/office/powerpoint/2010/main" val="42533945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BABD44-9AD6-40A6-82A1-93259B9FA6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1E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A475555-CBC6-4BBA-8115-0F1B6AD6C4D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CDEA321-8160-4607-87BD-BEBEE9826016}"/>
              </a:ext>
            </a:extLst>
          </p:cNvPr>
          <p:cNvSpPr>
            <a:spLocks xmlns:a="http://schemas.openxmlformats.org/drawingml/2006/main" noGrp="1"/>
          </p:cNvSpPr>
          <p:nvPr/>
        </p:nvSpPr>
        <p:spPr>
          <a:xfrm xmlns:a="http://schemas.openxmlformats.org/drawingml/2006/main">
            <a:off x="590550" y="3810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E9878C"/>
                </a:solidFill>
                <a:latin typeface="Arial"/>
                <a:ea typeface="Arial"/>
                <a:cs typeface="Arial"/>
              </a:defRPr>
            </a:pPr>
            <a:r>
              <a:rPr sz="1050" b="1">
                <a:solidFill>
                  <a:srgbClr val="E9878C"/>
                </a:solidFill>
                <a:latin typeface="Arial"/>
                <a:ea typeface="Arial"/>
                <a:cs typeface="Arial"/>
              </a:rPr>
              <a:t>ARCHITECTURE</a:t>
            </a:r>
          </a:p>
        </p:txBody>
      </p:sp>
      <p:sp>
        <p:nvSpPr>
          <p:cNvPr id="4" name="">
            <a:extLst xmlns:a="http://schemas.openxmlformats.org/drawingml/2006/main">
              <a:ext uri="{FF2B5EF4-FFF2-40B4-BE49-F238E27FC236}">
                <a16:creationId xmlns:a16="http://schemas.microsoft.com/office/drawing/2014/main" id="{DF0C7115-B9A5-4920-9282-36093392F545}"/>
              </a:ext>
            </a:extLst>
          </p:cNvPr>
          <p:cNvSpPr>
            <a:spLocks xmlns:a="http://schemas.openxmlformats.org/drawingml/2006/main" noGrp="1"/>
          </p:cNvSpPr>
          <p:nvPr/>
        </p:nvSpPr>
        <p:spPr>
          <a:xfrm xmlns:a="http://schemas.openxmlformats.org/drawingml/2006/main">
            <a:off x="590550" y="685800"/>
            <a:ext cx="10763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8253D"/>
                </a:solidFill>
                <a:latin typeface="Georgia"/>
                <a:ea typeface="Georgia"/>
                <a:cs typeface="Georgia"/>
              </a:defRPr>
            </a:pPr>
            <a:r>
              <a:rPr sz="2700" b="1">
                <a:solidFill>
                  <a:srgbClr val="28253D"/>
                </a:solidFill>
                <a:latin typeface="Georgia"/>
                <a:ea typeface="Georgia"/>
                <a:cs typeface="Georgia"/>
              </a:rPr>
              <a:t>One system, several deliberately separate lanes</a:t>
            </a:r>
          </a:p>
        </p:txBody>
      </p:sp>
      <p:sp>
        <p:nvSpPr>
          <p:cNvPr id="5" name="">
            <a:extLst xmlns:a="http://schemas.openxmlformats.org/drawingml/2006/main">
              <a:ext uri="{FF2B5EF4-FFF2-40B4-BE49-F238E27FC236}">
                <a16:creationId xmlns:a16="http://schemas.microsoft.com/office/drawing/2014/main" id="{E7F3209E-A2A8-4920-B259-B57F03AD37CD}"/>
              </a:ext>
            </a:extLst>
          </p:cNvPr>
          <p:cNvSpPr>
            <a:spLocks xmlns:a="http://schemas.openxmlformats.org/drawingml/2006/main" noGrp="1"/>
          </p:cNvSpPr>
          <p:nvPr/>
        </p:nvSpPr>
        <p:spPr>
          <a:xfrm xmlns:a="http://schemas.openxmlformats.org/drawingml/2006/main">
            <a:off x="590550" y="6496050"/>
            <a:ext cx="11010900" cy="190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5B85C2D-0506-49F2-87E5-7B73CC42E602}"/>
              </a:ext>
            </a:extLst>
          </p:cNvPr>
          <p:cNvSpPr>
            <a:spLocks xmlns:a="http://schemas.openxmlformats.org/drawingml/2006/main" noGrp="1"/>
          </p:cNvSpPr>
          <p:nvPr/>
        </p:nvSpPr>
        <p:spPr>
          <a:xfrm xmlns:a="http://schemas.openxmlformats.org/drawingml/2006/main">
            <a:off x="590550" y="657225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F6B74"/>
                </a:solidFill>
                <a:latin typeface="Arial"/>
                <a:ea typeface="Arial"/>
                <a:cs typeface="Arial"/>
              </a:defRPr>
            </a:pPr>
            <a:r>
              <a:rPr sz="750" b="1">
                <a:solidFill>
                  <a:srgbClr val="6F6B74"/>
                </a:solidFill>
                <a:latin typeface="Arial"/>
                <a:ea typeface="Arial"/>
                <a:cs typeface="Arial"/>
              </a:rPr>
              <a:t>ANONYMIZED LOCAL AI/ML ARCHITECTURE</a:t>
            </a:r>
          </a:p>
        </p:txBody>
      </p:sp>
      <p:sp>
        <p:nvSpPr>
          <p:cNvPr id="7" name="">
            <a:extLst xmlns:a="http://schemas.openxmlformats.org/drawingml/2006/main">
              <a:ext uri="{FF2B5EF4-FFF2-40B4-BE49-F238E27FC236}">
                <a16:creationId xmlns:a16="http://schemas.microsoft.com/office/drawing/2014/main" id="{B3CF0EBE-369C-4581-B2EF-32D695200D39}"/>
              </a:ext>
            </a:extLst>
          </p:cNvPr>
          <p:cNvSpPr>
            <a:spLocks xmlns:a="http://schemas.openxmlformats.org/drawingml/2006/main" noGrp="1"/>
          </p:cNvSpPr>
          <p:nvPr/>
        </p:nvSpPr>
        <p:spPr>
          <a:xfrm xmlns:a="http://schemas.openxmlformats.org/drawingml/2006/main">
            <a:off x="10744200" y="65722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F6B74"/>
                </a:solidFill>
                <a:latin typeface="Arial"/>
                <a:ea typeface="Arial"/>
                <a:cs typeface="Arial"/>
              </a:defRPr>
            </a:pPr>
            <a:r>
              <a:rPr sz="750" b="1">
                <a:solidFill>
                  <a:srgbClr val="6F6B74"/>
                </a:solidFill>
                <a:latin typeface="Arial"/>
                <a:ea typeface="Arial"/>
                <a:cs typeface="Arial"/>
              </a:rPr>
              <a:t>03</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81bbb74fafc43bb"/>
          <a:stretch xmlns:a="http://schemas.openxmlformats.org/drawingml/2006/main"/>
        </p:blipFill>
        <p:spPr>
          <a:xfrm xmlns:a="http://schemas.openxmlformats.org/drawingml/2006/main">
            <a:off x="1924716" y="1428750"/>
            <a:ext cx="4970717" cy="48101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342CF45-FEF9-4ABC-A884-14B47A917F3E}"/>
              </a:ext>
            </a:extLst>
          </p:cNvPr>
          <p:cNvSpPr>
            <a:spLocks xmlns:a="http://schemas.openxmlformats.org/drawingml/2006/main" noGrp="1"/>
          </p:cNvSpPr>
          <p:nvPr/>
        </p:nvSpPr>
        <p:spPr>
          <a:xfrm xmlns:a="http://schemas.openxmlformats.org/drawingml/2006/main">
            <a:off x="8610600" y="1504950"/>
            <a:ext cx="2781300" cy="323850"/>
          </a:xfrm>
          <a:prstGeom xmlns:a="http://schemas.openxmlformats.org/drawingml/2006/main" prst="rect">
            <a:avLst/>
          </a:prstGeom>
          <a:solidFill xmlns:a="http://schemas.openxmlformats.org/drawingml/2006/main">
            <a:srgbClr val="E9878C"/>
          </a:solidFill>
          <a:ln xmlns:a="http://schemas.openxmlformats.org/drawingml/2006/main" w="17145">
            <a:solidFill>
              <a:srgbClr val="28253D"/>
            </a:solidFill>
            <a:prstDash val="solid"/>
          </a:ln>
        </p:spPr>
        <p:txBody>
          <a:bodyPr xmlns:a="http://schemas.openxmlformats.org/drawingml/2006/main" lIns="76200" tIns="28575" rIns="76200" bIns="28575" anchor="ctr"/>
          <a:lstStyle xmlns:a="http://schemas.openxmlformats.org/drawingml/2006/main"/>
          <a:p xmlns:a="http://schemas.openxmlformats.org/drawingml/2006/main">
            <a:pPr algn="ctr">
              <a:defRPr sz="975" b="1">
                <a:solidFill>
                  <a:srgbClr val="28253D"/>
                </a:solidFill>
                <a:latin typeface="Arial"/>
                <a:ea typeface="Arial"/>
                <a:cs typeface="Arial"/>
              </a:defRPr>
            </a:pPr>
            <a:r>
              <a:rPr sz="975" b="1">
                <a:solidFill>
                  <a:srgbClr val="28253D"/>
                </a:solidFill>
                <a:latin typeface="Arial"/>
                <a:ea typeface="Arial"/>
                <a:cs typeface="Arial"/>
              </a:rPr>
              <a:t>WHAT CROSSES THE BOUNDARY</a:t>
            </a:r>
          </a:p>
        </p:txBody>
      </p:sp>
      <p:sp>
        <p:nvSpPr>
          <p:cNvPr id="10" name="">
            <a:extLst xmlns:a="http://schemas.openxmlformats.org/drawingml/2006/main">
              <a:ext uri="{FF2B5EF4-FFF2-40B4-BE49-F238E27FC236}">
                <a16:creationId xmlns:a16="http://schemas.microsoft.com/office/drawing/2014/main" id="{9FBEAF6E-2666-431D-BC47-AA39FFBA37AF}"/>
              </a:ext>
            </a:extLst>
          </p:cNvPr>
          <p:cNvSpPr>
            <a:spLocks xmlns:a="http://schemas.openxmlformats.org/drawingml/2006/main" noGrp="1"/>
          </p:cNvSpPr>
          <p:nvPr/>
        </p:nvSpPr>
        <p:spPr>
          <a:xfrm xmlns:a="http://schemas.openxmlformats.org/drawingml/2006/main">
            <a:off x="8648700" y="215265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26D56AE-C8DA-4379-9F99-0A25A120762A}"/>
              </a:ext>
            </a:extLst>
          </p:cNvPr>
          <p:cNvSpPr>
            <a:spLocks xmlns:a="http://schemas.openxmlformats.org/drawingml/2006/main" noGrp="1"/>
          </p:cNvSpPr>
          <p:nvPr/>
        </p:nvSpPr>
        <p:spPr>
          <a:xfrm xmlns:a="http://schemas.openxmlformats.org/drawingml/2006/main">
            <a:off x="8886825" y="2076450"/>
            <a:ext cx="2657475" cy="676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Canvas: sanitized workspace context over a managed SSH port-forward</a:t>
            </a:r>
          </a:p>
        </p:txBody>
      </p:sp>
      <p:sp>
        <p:nvSpPr>
          <p:cNvPr id="12" name="">
            <a:extLst xmlns:a="http://schemas.openxmlformats.org/drawingml/2006/main">
              <a:ext uri="{FF2B5EF4-FFF2-40B4-BE49-F238E27FC236}">
                <a16:creationId xmlns:a16="http://schemas.microsoft.com/office/drawing/2014/main" id="{93BF406C-ECF1-454C-899A-B316A92D13F9}"/>
              </a:ext>
            </a:extLst>
          </p:cNvPr>
          <p:cNvSpPr>
            <a:spLocks xmlns:a="http://schemas.openxmlformats.org/drawingml/2006/main" noGrp="1"/>
          </p:cNvSpPr>
          <p:nvPr/>
        </p:nvSpPr>
        <p:spPr>
          <a:xfrm xmlns:a="http://schemas.openxmlformats.org/drawingml/2006/main">
            <a:off x="8648700" y="2867025"/>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42912D4-71A8-47AD-8901-AA0B15218DC1}"/>
              </a:ext>
            </a:extLst>
          </p:cNvPr>
          <p:cNvSpPr>
            <a:spLocks xmlns:a="http://schemas.openxmlformats.org/drawingml/2006/main" noGrp="1"/>
          </p:cNvSpPr>
          <p:nvPr/>
        </p:nvSpPr>
        <p:spPr>
          <a:xfrm xmlns:a="http://schemas.openxmlformats.org/drawingml/2006/main">
            <a:off x="8886825" y="2790825"/>
            <a:ext cx="2657475" cy="676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Messaging: a source-scoped gateway message</a:t>
            </a:r>
          </a:p>
        </p:txBody>
      </p:sp>
      <p:sp>
        <p:nvSpPr>
          <p:cNvPr id="14" name="">
            <a:extLst xmlns:a="http://schemas.openxmlformats.org/drawingml/2006/main">
              <a:ext uri="{FF2B5EF4-FFF2-40B4-BE49-F238E27FC236}">
                <a16:creationId xmlns:a16="http://schemas.microsoft.com/office/drawing/2014/main" id="{D9C2AD31-8D58-4EFC-BB01-80257A898A29}"/>
              </a:ext>
            </a:extLst>
          </p:cNvPr>
          <p:cNvSpPr>
            <a:spLocks xmlns:a="http://schemas.openxmlformats.org/drawingml/2006/main" noGrp="1"/>
          </p:cNvSpPr>
          <p:nvPr/>
        </p:nvSpPr>
        <p:spPr>
          <a:xfrm xmlns:a="http://schemas.openxmlformats.org/drawingml/2006/main">
            <a:off x="8648700" y="35814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A2CA9A11-A944-4D35-9D10-8874E8FDF8EA}"/>
              </a:ext>
            </a:extLst>
          </p:cNvPr>
          <p:cNvSpPr>
            <a:spLocks xmlns:a="http://schemas.openxmlformats.org/drawingml/2006/main" noGrp="1"/>
          </p:cNvSpPr>
          <p:nvPr/>
        </p:nvSpPr>
        <p:spPr>
          <a:xfrm xmlns:a="http://schemas.openxmlformats.org/drawingml/2006/main">
            <a:off x="8886825" y="3505200"/>
            <a:ext cx="2657475" cy="676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Voice: transcribed text over a trusted local network</a:t>
            </a:r>
          </a:p>
        </p:txBody>
      </p:sp>
      <p:sp>
        <p:nvSpPr>
          <p:cNvPr id="16" name="">
            <a:extLst xmlns:a="http://schemas.openxmlformats.org/drawingml/2006/main">
              <a:ext uri="{FF2B5EF4-FFF2-40B4-BE49-F238E27FC236}">
                <a16:creationId xmlns:a16="http://schemas.microsoft.com/office/drawing/2014/main" id="{675988B0-83F3-45EE-9417-D68E15548B78}"/>
              </a:ext>
            </a:extLst>
          </p:cNvPr>
          <p:cNvSpPr>
            <a:spLocks xmlns:a="http://schemas.openxmlformats.org/drawingml/2006/main" noGrp="1"/>
          </p:cNvSpPr>
          <p:nvPr/>
        </p:nvSpPr>
        <p:spPr>
          <a:xfrm xmlns:a="http://schemas.openxmlformats.org/drawingml/2006/main">
            <a:off x="8648700" y="4295775"/>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12BBEAF7-420A-46FF-AE03-15F12AD2241B}"/>
              </a:ext>
            </a:extLst>
          </p:cNvPr>
          <p:cNvSpPr>
            <a:spLocks xmlns:a="http://schemas.openxmlformats.org/drawingml/2006/main" noGrp="1"/>
          </p:cNvSpPr>
          <p:nvPr/>
        </p:nvSpPr>
        <p:spPr>
          <a:xfrm xmlns:a="http://schemas.openxmlformats.org/drawingml/2006/main">
            <a:off x="8886825" y="4219575"/>
            <a:ext cx="2657475" cy="676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Coding sessions: explicit reads through a separate filesystem lane</a:t>
            </a:r>
          </a:p>
        </p:txBody>
      </p:sp>
      <p:sp>
        <p:nvSpPr>
          <p:cNvPr id="18" name="">
            <a:extLst xmlns:a="http://schemas.openxmlformats.org/drawingml/2006/main">
              <a:ext uri="{FF2B5EF4-FFF2-40B4-BE49-F238E27FC236}">
                <a16:creationId xmlns:a16="http://schemas.microsoft.com/office/drawing/2014/main" id="{D1E38318-CD69-40E3-A133-6EA8A7D8BE46}"/>
              </a:ext>
            </a:extLst>
          </p:cNvPr>
          <p:cNvSpPr>
            <a:spLocks xmlns:a="http://schemas.openxmlformats.org/drawingml/2006/main" noGrp="1"/>
          </p:cNvSpPr>
          <p:nvPr/>
        </p:nvSpPr>
        <p:spPr>
          <a:xfrm xmlns:a="http://schemas.openxmlformats.org/drawingml/2006/main">
            <a:off x="8648700" y="501015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77CB787C-47DC-4845-84ED-57E4EAE54798}"/>
              </a:ext>
            </a:extLst>
          </p:cNvPr>
          <p:cNvSpPr>
            <a:spLocks xmlns:a="http://schemas.openxmlformats.org/drawingml/2006/main" noGrp="1"/>
          </p:cNvSpPr>
          <p:nvPr/>
        </p:nvSpPr>
        <p:spPr>
          <a:xfrm xmlns:a="http://schemas.openxmlformats.org/drawingml/2006/main">
            <a:off x="8886825" y="4933950"/>
            <a:ext cx="2657475" cy="676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Durability: authored GBrain sources commit and push outside the request path</a:t>
            </a:r>
          </a:p>
        </p:txBody>
      </p:sp>
    </p:spTree>
    <p:extLst>
      <p:ext uri="{BB962C8B-B14F-4D97-AF65-F5344CB8AC3E}">
        <p14:creationId xmlns:p14="http://schemas.microsoft.com/office/powerpoint/2010/main" val="7014260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D701F7-E7F4-4D25-9621-E3D83E4089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1E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2A2AB6F-B6E4-498B-8791-C0F4ABF158D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29861D9-8BFA-4D54-93B6-5FFB5ECE78B6}"/>
              </a:ext>
            </a:extLst>
          </p:cNvPr>
          <p:cNvSpPr>
            <a:spLocks xmlns:a="http://schemas.openxmlformats.org/drawingml/2006/main" noGrp="1"/>
          </p:cNvSpPr>
          <p:nvPr/>
        </p:nvSpPr>
        <p:spPr>
          <a:xfrm xmlns:a="http://schemas.openxmlformats.org/drawingml/2006/main">
            <a:off x="590550" y="3810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E9878C"/>
                </a:solidFill>
                <a:latin typeface="Arial"/>
                <a:ea typeface="Arial"/>
                <a:cs typeface="Arial"/>
              </a:defRPr>
            </a:pPr>
            <a:r>
              <a:rPr sz="1050" b="1">
                <a:solidFill>
                  <a:srgbClr val="E9878C"/>
                </a:solidFill>
                <a:latin typeface="Arial"/>
                <a:ea typeface="Arial"/>
                <a:cs typeface="Arial"/>
              </a:rPr>
              <a:t>REQUEST FLOW</a:t>
            </a:r>
          </a:p>
        </p:txBody>
      </p:sp>
      <p:sp>
        <p:nvSpPr>
          <p:cNvPr id="4" name="">
            <a:extLst xmlns:a="http://schemas.openxmlformats.org/drawingml/2006/main">
              <a:ext uri="{FF2B5EF4-FFF2-40B4-BE49-F238E27FC236}">
                <a16:creationId xmlns:a16="http://schemas.microsoft.com/office/drawing/2014/main" id="{22D755D1-A2F6-45F5-BD3D-A347DBD5F75A}"/>
              </a:ext>
            </a:extLst>
          </p:cNvPr>
          <p:cNvSpPr>
            <a:spLocks xmlns:a="http://schemas.openxmlformats.org/drawingml/2006/main" noGrp="1"/>
          </p:cNvSpPr>
          <p:nvPr/>
        </p:nvSpPr>
        <p:spPr>
          <a:xfrm xmlns:a="http://schemas.openxmlformats.org/drawingml/2006/main">
            <a:off x="590550" y="685800"/>
            <a:ext cx="10763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8253D"/>
                </a:solidFill>
                <a:latin typeface="Georgia"/>
                <a:ea typeface="Georgia"/>
                <a:cs typeface="Georgia"/>
              </a:defRPr>
            </a:pPr>
            <a:r>
              <a:rPr sz="2700" b="1">
                <a:solidFill>
                  <a:srgbClr val="28253D"/>
                </a:solidFill>
                <a:latin typeface="Georgia"/>
                <a:ea typeface="Georgia"/>
                <a:cs typeface="Georgia"/>
              </a:rPr>
              <a:t>What happens during one canvas request</a:t>
            </a:r>
          </a:p>
        </p:txBody>
      </p:sp>
      <p:sp>
        <p:nvSpPr>
          <p:cNvPr id="5" name="">
            <a:extLst xmlns:a="http://schemas.openxmlformats.org/drawingml/2006/main">
              <a:ext uri="{FF2B5EF4-FFF2-40B4-BE49-F238E27FC236}">
                <a16:creationId xmlns:a16="http://schemas.microsoft.com/office/drawing/2014/main" id="{F3A7DD3F-B8BD-454B-80EB-4DE6EE2ED4B9}"/>
              </a:ext>
            </a:extLst>
          </p:cNvPr>
          <p:cNvSpPr>
            <a:spLocks xmlns:a="http://schemas.openxmlformats.org/drawingml/2006/main" noGrp="1"/>
          </p:cNvSpPr>
          <p:nvPr/>
        </p:nvSpPr>
        <p:spPr>
          <a:xfrm xmlns:a="http://schemas.openxmlformats.org/drawingml/2006/main">
            <a:off x="590550" y="6496050"/>
            <a:ext cx="11010900" cy="190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9EC73ECE-4547-4807-9DBF-E0A5CD996E1C}"/>
              </a:ext>
            </a:extLst>
          </p:cNvPr>
          <p:cNvSpPr>
            <a:spLocks xmlns:a="http://schemas.openxmlformats.org/drawingml/2006/main" noGrp="1"/>
          </p:cNvSpPr>
          <p:nvPr/>
        </p:nvSpPr>
        <p:spPr>
          <a:xfrm xmlns:a="http://schemas.openxmlformats.org/drawingml/2006/main">
            <a:off x="590550" y="657225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F6B74"/>
                </a:solidFill>
                <a:latin typeface="Arial"/>
                <a:ea typeface="Arial"/>
                <a:cs typeface="Arial"/>
              </a:defRPr>
            </a:pPr>
            <a:r>
              <a:rPr sz="750" b="1">
                <a:solidFill>
                  <a:srgbClr val="6F6B74"/>
                </a:solidFill>
                <a:latin typeface="Arial"/>
                <a:ea typeface="Arial"/>
                <a:cs typeface="Arial"/>
              </a:rPr>
              <a:t>ANONYMIZED LOCAL AI/ML ARCHITECTURE</a:t>
            </a:r>
          </a:p>
        </p:txBody>
      </p:sp>
      <p:sp>
        <p:nvSpPr>
          <p:cNvPr id="7" name="">
            <a:extLst xmlns:a="http://schemas.openxmlformats.org/drawingml/2006/main">
              <a:ext uri="{FF2B5EF4-FFF2-40B4-BE49-F238E27FC236}">
                <a16:creationId xmlns:a16="http://schemas.microsoft.com/office/drawing/2014/main" id="{91AE370A-73D5-4367-B9BD-606019B3C52D}"/>
              </a:ext>
            </a:extLst>
          </p:cNvPr>
          <p:cNvSpPr>
            <a:spLocks xmlns:a="http://schemas.openxmlformats.org/drawingml/2006/main" noGrp="1"/>
          </p:cNvSpPr>
          <p:nvPr/>
        </p:nvSpPr>
        <p:spPr>
          <a:xfrm xmlns:a="http://schemas.openxmlformats.org/drawingml/2006/main">
            <a:off x="10744200" y="65722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F6B74"/>
                </a:solidFill>
                <a:latin typeface="Arial"/>
                <a:ea typeface="Arial"/>
                <a:cs typeface="Arial"/>
              </a:defRPr>
            </a:pPr>
            <a:r>
              <a:rPr sz="750" b="1">
                <a:solidFill>
                  <a:srgbClr val="6F6B74"/>
                </a:solidFill>
                <a:latin typeface="Arial"/>
                <a:ea typeface="Arial"/>
                <a:cs typeface="Arial"/>
              </a:rPr>
              <a:t>04</a:t>
            </a:r>
          </a:p>
        </p:txBody>
      </p:sp>
      <p:sp>
        <p:nvSpPr>
          <p:cNvPr id="8" name="request-step-1">
            <a:extLst xmlns:a="http://schemas.openxmlformats.org/drawingml/2006/main">
              <a:ext uri="{FF2B5EF4-FFF2-40B4-BE49-F238E27FC236}">
                <a16:creationId xmlns:a16="http://schemas.microsoft.com/office/drawing/2014/main" id="{3C7973B5-E7BE-46D8-BAAF-2FE33E9BA61D}"/>
              </a:ext>
            </a:extLst>
          </p:cNvPr>
          <p:cNvSpPr>
            <a:spLocks xmlns:a="http://schemas.openxmlformats.org/drawingml/2006/main" noGrp="1"/>
          </p:cNvSpPr>
          <p:nvPr/>
        </p:nvSpPr>
        <p:spPr>
          <a:xfrm xmlns:a="http://schemas.openxmlformats.org/drawingml/2006/main">
            <a:off x="666750" y="1733550"/>
            <a:ext cx="2286000" cy="952500"/>
          </a:xfrm>
          <a:prstGeom xmlns:a="http://schemas.openxmlformats.org/drawingml/2006/main" prst="rect">
            <a:avLst/>
          </a:prstGeom>
          <a:solidFill xmlns:a="http://schemas.openxmlformats.org/drawingml/2006/main">
            <a:srgbClr val="FFF8EF"/>
          </a:solidFill>
          <a:ln xmlns:a="http://schemas.openxmlformats.org/drawingml/2006/main" w="19050">
            <a:solidFill>
              <a:srgbClr val="28253D"/>
            </a:solidFill>
            <a:prstDash val="solid"/>
          </a:ln>
        </p:spPr>
      </p:sp>
      <p:sp>
        <p:nvSpPr>
          <p:cNvPr id="9" name="">
            <a:extLst xmlns:a="http://schemas.openxmlformats.org/drawingml/2006/main">
              <a:ext uri="{FF2B5EF4-FFF2-40B4-BE49-F238E27FC236}">
                <a16:creationId xmlns:a16="http://schemas.microsoft.com/office/drawing/2014/main" id="{6AAC7B97-97F3-433C-8079-2CFCC386BAD9}"/>
              </a:ext>
            </a:extLst>
          </p:cNvPr>
          <p:cNvSpPr>
            <a:spLocks xmlns:a="http://schemas.openxmlformats.org/drawingml/2006/main" noGrp="1"/>
          </p:cNvSpPr>
          <p:nvPr/>
        </p:nvSpPr>
        <p:spPr>
          <a:xfrm xmlns:a="http://schemas.openxmlformats.org/drawingml/2006/main">
            <a:off x="781050" y="184785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1</a:t>
            </a:r>
          </a:p>
        </p:txBody>
      </p:sp>
      <p:sp>
        <p:nvSpPr>
          <p:cNvPr id="10" name="">
            <a:extLst xmlns:a="http://schemas.openxmlformats.org/drawingml/2006/main">
              <a:ext uri="{FF2B5EF4-FFF2-40B4-BE49-F238E27FC236}">
                <a16:creationId xmlns:a16="http://schemas.microsoft.com/office/drawing/2014/main" id="{646123A9-DEE5-48E2-B761-F9C55C6AC70D}"/>
              </a:ext>
            </a:extLst>
          </p:cNvPr>
          <p:cNvSpPr>
            <a:spLocks xmlns:a="http://schemas.openxmlformats.org/drawingml/2006/main" noGrp="1"/>
          </p:cNvSpPr>
          <p:nvPr/>
        </p:nvSpPr>
        <p:spPr>
          <a:xfrm xmlns:a="http://schemas.openxmlformats.org/drawingml/2006/main">
            <a:off x="1295400" y="1895475"/>
            <a:ext cx="1524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Workspace prompt</a:t>
            </a:r>
          </a:p>
        </p:txBody>
      </p:sp>
      <p:sp>
        <p:nvSpPr>
          <p:cNvPr id="11" name="request-step-2">
            <a:extLst xmlns:a="http://schemas.openxmlformats.org/drawingml/2006/main">
              <a:ext uri="{FF2B5EF4-FFF2-40B4-BE49-F238E27FC236}">
                <a16:creationId xmlns:a16="http://schemas.microsoft.com/office/drawing/2014/main" id="{FC07B98E-B4E7-414D-83A9-868AE831075B}"/>
              </a:ext>
            </a:extLst>
          </p:cNvPr>
          <p:cNvSpPr>
            <a:spLocks xmlns:a="http://schemas.openxmlformats.org/drawingml/2006/main" noGrp="1"/>
          </p:cNvSpPr>
          <p:nvPr/>
        </p:nvSpPr>
        <p:spPr>
          <a:xfrm xmlns:a="http://schemas.openxmlformats.org/drawingml/2006/main">
            <a:off x="3333750" y="1733550"/>
            <a:ext cx="2286000" cy="952500"/>
          </a:xfrm>
          <a:prstGeom xmlns:a="http://schemas.openxmlformats.org/drawingml/2006/main" prst="rect">
            <a:avLst/>
          </a:prstGeom>
          <a:solidFill xmlns:a="http://schemas.openxmlformats.org/drawingml/2006/main">
            <a:srgbClr val="FFF8EF"/>
          </a:solidFill>
          <a:ln xmlns:a="http://schemas.openxmlformats.org/drawingml/2006/main" w="19050">
            <a:solidFill>
              <a:srgbClr val="28253D"/>
            </a:solidFill>
            <a:prstDash val="solid"/>
          </a:ln>
        </p:spPr>
      </p:sp>
      <p:sp>
        <p:nvSpPr>
          <p:cNvPr id="12" name="">
            <a:extLst xmlns:a="http://schemas.openxmlformats.org/drawingml/2006/main">
              <a:ext uri="{FF2B5EF4-FFF2-40B4-BE49-F238E27FC236}">
                <a16:creationId xmlns:a16="http://schemas.microsoft.com/office/drawing/2014/main" id="{4B9D5679-528F-4AFD-AE66-56FF811250ED}"/>
              </a:ext>
            </a:extLst>
          </p:cNvPr>
          <p:cNvSpPr>
            <a:spLocks xmlns:a="http://schemas.openxmlformats.org/drawingml/2006/main" noGrp="1"/>
          </p:cNvSpPr>
          <p:nvPr/>
        </p:nvSpPr>
        <p:spPr>
          <a:xfrm xmlns:a="http://schemas.openxmlformats.org/drawingml/2006/main">
            <a:off x="3448050" y="184785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2</a:t>
            </a:r>
          </a:p>
        </p:txBody>
      </p:sp>
      <p:sp>
        <p:nvSpPr>
          <p:cNvPr id="13" name="">
            <a:extLst xmlns:a="http://schemas.openxmlformats.org/drawingml/2006/main">
              <a:ext uri="{FF2B5EF4-FFF2-40B4-BE49-F238E27FC236}">
                <a16:creationId xmlns:a16="http://schemas.microsoft.com/office/drawing/2014/main" id="{A684BE14-E11A-44AB-A8A2-DE7BE4EC50F6}"/>
              </a:ext>
            </a:extLst>
          </p:cNvPr>
          <p:cNvSpPr>
            <a:spLocks xmlns:a="http://schemas.openxmlformats.org/drawingml/2006/main" noGrp="1"/>
          </p:cNvSpPr>
          <p:nvPr/>
        </p:nvSpPr>
        <p:spPr>
          <a:xfrm xmlns:a="http://schemas.openxmlformats.org/drawingml/2006/main">
            <a:off x="3962400" y="1895475"/>
            <a:ext cx="1524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Sanitized canvas context</a:t>
            </a:r>
          </a:p>
        </p:txBody>
      </p:sp>
      <p:sp>
        <p:nvSpPr>
          <p:cNvPr id="14" name="request-step-3">
            <a:extLst xmlns:a="http://schemas.openxmlformats.org/drawingml/2006/main">
              <a:ext uri="{FF2B5EF4-FFF2-40B4-BE49-F238E27FC236}">
                <a16:creationId xmlns:a16="http://schemas.microsoft.com/office/drawing/2014/main" id="{215DEE6D-D996-4421-8910-7BD0F9EC4E83}"/>
              </a:ext>
            </a:extLst>
          </p:cNvPr>
          <p:cNvSpPr>
            <a:spLocks xmlns:a="http://schemas.openxmlformats.org/drawingml/2006/main" noGrp="1"/>
          </p:cNvSpPr>
          <p:nvPr/>
        </p:nvSpPr>
        <p:spPr>
          <a:xfrm xmlns:a="http://schemas.openxmlformats.org/drawingml/2006/main">
            <a:off x="6000750" y="1733550"/>
            <a:ext cx="2286000" cy="952500"/>
          </a:xfrm>
          <a:prstGeom xmlns:a="http://schemas.openxmlformats.org/drawingml/2006/main" prst="rect">
            <a:avLst/>
          </a:prstGeom>
          <a:solidFill xmlns:a="http://schemas.openxmlformats.org/drawingml/2006/main">
            <a:srgbClr val="FFF8EF"/>
          </a:solidFill>
          <a:ln xmlns:a="http://schemas.openxmlformats.org/drawingml/2006/main" w="19050">
            <a:solidFill>
              <a:srgbClr val="28253D"/>
            </a:solidFill>
            <a:prstDash val="solid"/>
          </a:ln>
        </p:spPr>
      </p:sp>
      <p:sp>
        <p:nvSpPr>
          <p:cNvPr id="15" name="">
            <a:extLst xmlns:a="http://schemas.openxmlformats.org/drawingml/2006/main">
              <a:ext uri="{FF2B5EF4-FFF2-40B4-BE49-F238E27FC236}">
                <a16:creationId xmlns:a16="http://schemas.microsoft.com/office/drawing/2014/main" id="{CBA48D79-BA57-4934-8D35-C42BE6FCFED1}"/>
              </a:ext>
            </a:extLst>
          </p:cNvPr>
          <p:cNvSpPr>
            <a:spLocks xmlns:a="http://schemas.openxmlformats.org/drawingml/2006/main" noGrp="1"/>
          </p:cNvSpPr>
          <p:nvPr/>
        </p:nvSpPr>
        <p:spPr>
          <a:xfrm xmlns:a="http://schemas.openxmlformats.org/drawingml/2006/main">
            <a:off x="6115050" y="184785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3</a:t>
            </a:r>
          </a:p>
        </p:txBody>
      </p:sp>
      <p:sp>
        <p:nvSpPr>
          <p:cNvPr id="16" name="">
            <a:extLst xmlns:a="http://schemas.openxmlformats.org/drawingml/2006/main">
              <a:ext uri="{FF2B5EF4-FFF2-40B4-BE49-F238E27FC236}">
                <a16:creationId xmlns:a16="http://schemas.microsoft.com/office/drawing/2014/main" id="{91C15E49-F522-40EF-BC82-9F935A56B5E6}"/>
              </a:ext>
            </a:extLst>
          </p:cNvPr>
          <p:cNvSpPr>
            <a:spLocks xmlns:a="http://schemas.openxmlformats.org/drawingml/2006/main" noGrp="1"/>
          </p:cNvSpPr>
          <p:nvPr/>
        </p:nvSpPr>
        <p:spPr>
          <a:xfrm xmlns:a="http://schemas.openxmlformats.org/drawingml/2006/main">
            <a:off x="6629400" y="1895475"/>
            <a:ext cx="1524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Localhost API over SSH</a:t>
            </a:r>
          </a:p>
        </p:txBody>
      </p:sp>
      <p:sp>
        <p:nvSpPr>
          <p:cNvPr id="17" name="request-step-4">
            <a:extLst xmlns:a="http://schemas.openxmlformats.org/drawingml/2006/main">
              <a:ext uri="{FF2B5EF4-FFF2-40B4-BE49-F238E27FC236}">
                <a16:creationId xmlns:a16="http://schemas.microsoft.com/office/drawing/2014/main" id="{07704086-8AF2-4F1B-9DF5-FC905D415927}"/>
              </a:ext>
            </a:extLst>
          </p:cNvPr>
          <p:cNvSpPr>
            <a:spLocks xmlns:a="http://schemas.openxmlformats.org/drawingml/2006/main" noGrp="1"/>
          </p:cNvSpPr>
          <p:nvPr/>
        </p:nvSpPr>
        <p:spPr>
          <a:xfrm xmlns:a="http://schemas.openxmlformats.org/drawingml/2006/main">
            <a:off x="8667750" y="1733550"/>
            <a:ext cx="2286000" cy="952500"/>
          </a:xfrm>
          <a:prstGeom xmlns:a="http://schemas.openxmlformats.org/drawingml/2006/main" prst="rect">
            <a:avLst/>
          </a:prstGeom>
          <a:solidFill xmlns:a="http://schemas.openxmlformats.org/drawingml/2006/main">
            <a:srgbClr val="FFF8EF"/>
          </a:solidFill>
          <a:ln xmlns:a="http://schemas.openxmlformats.org/drawingml/2006/main" w="19050">
            <a:solidFill>
              <a:srgbClr val="28253D"/>
            </a:solidFill>
            <a:prstDash val="solid"/>
          </a:ln>
        </p:spPr>
      </p:sp>
      <p:sp>
        <p:nvSpPr>
          <p:cNvPr id="18" name="">
            <a:extLst xmlns:a="http://schemas.openxmlformats.org/drawingml/2006/main">
              <a:ext uri="{FF2B5EF4-FFF2-40B4-BE49-F238E27FC236}">
                <a16:creationId xmlns:a16="http://schemas.microsoft.com/office/drawing/2014/main" id="{DC1CFCEA-96E4-4E8B-93C3-2C22F75F5F4F}"/>
              </a:ext>
            </a:extLst>
          </p:cNvPr>
          <p:cNvSpPr>
            <a:spLocks xmlns:a="http://schemas.openxmlformats.org/drawingml/2006/main" noGrp="1"/>
          </p:cNvSpPr>
          <p:nvPr/>
        </p:nvSpPr>
        <p:spPr>
          <a:xfrm xmlns:a="http://schemas.openxmlformats.org/drawingml/2006/main">
            <a:off x="8782050" y="184785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4</a:t>
            </a:r>
          </a:p>
        </p:txBody>
      </p:sp>
      <p:sp>
        <p:nvSpPr>
          <p:cNvPr id="19" name="">
            <a:extLst xmlns:a="http://schemas.openxmlformats.org/drawingml/2006/main">
              <a:ext uri="{FF2B5EF4-FFF2-40B4-BE49-F238E27FC236}">
                <a16:creationId xmlns:a16="http://schemas.microsoft.com/office/drawing/2014/main" id="{183AF9D7-156A-49B9-8C86-928FD821DB08}"/>
              </a:ext>
            </a:extLst>
          </p:cNvPr>
          <p:cNvSpPr>
            <a:spLocks xmlns:a="http://schemas.openxmlformats.org/drawingml/2006/main" noGrp="1"/>
          </p:cNvSpPr>
          <p:nvPr/>
        </p:nvSpPr>
        <p:spPr>
          <a:xfrm xmlns:a="http://schemas.openxmlformats.org/drawingml/2006/main">
            <a:off x="9296400" y="1895475"/>
            <a:ext cx="1524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Authenticated, scoped session</a:t>
            </a:r>
          </a:p>
        </p:txBody>
      </p:sp>
      <p:sp>
        <p:nvSpPr>
          <p:cNvPr id="20" name="">
            <a:extLst xmlns:a="http://schemas.openxmlformats.org/drawingml/2006/main">
              <a:ext uri="{FF2B5EF4-FFF2-40B4-BE49-F238E27FC236}">
                <a16:creationId xmlns:a16="http://schemas.microsoft.com/office/drawing/2014/main" id="{493410CF-C67F-4873-9B49-5F412035E672}"/>
              </a:ext>
            </a:extLst>
          </p:cNvPr>
          <p:cNvSpPr>
            <a:spLocks xmlns:a="http://schemas.openxmlformats.org/drawingml/2006/main" noGrp="1"/>
          </p:cNvSpPr>
          <p:nvPr/>
        </p:nvSpPr>
        <p:spPr>
          <a:xfrm xmlns:a="http://schemas.openxmlformats.org/drawingml/2006/main">
            <a:off x="2952750" y="2190750"/>
            <a:ext cx="381000" cy="47625"/>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94CDE2AE-D4C0-409C-B758-F898E4D25D99}"/>
              </a:ext>
            </a:extLst>
          </p:cNvPr>
          <p:cNvSpPr>
            <a:spLocks xmlns:a="http://schemas.openxmlformats.org/drawingml/2006/main" noGrp="1"/>
          </p:cNvSpPr>
          <p:nvPr/>
        </p:nvSpPr>
        <p:spPr>
          <a:xfrm xmlns:a="http://schemas.openxmlformats.org/drawingml/2006/main">
            <a:off x="5619750" y="2190750"/>
            <a:ext cx="381000" cy="47625"/>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64FCD68E-92EC-4514-AC4A-B8F07CD682B1}"/>
              </a:ext>
            </a:extLst>
          </p:cNvPr>
          <p:cNvSpPr>
            <a:spLocks xmlns:a="http://schemas.openxmlformats.org/drawingml/2006/main" noGrp="1"/>
          </p:cNvSpPr>
          <p:nvPr/>
        </p:nvSpPr>
        <p:spPr>
          <a:xfrm xmlns:a="http://schemas.openxmlformats.org/drawingml/2006/main">
            <a:off x="8286750" y="2190750"/>
            <a:ext cx="381000" cy="47625"/>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23" name="request-step-5">
            <a:extLst xmlns:a="http://schemas.openxmlformats.org/drawingml/2006/main">
              <a:ext uri="{FF2B5EF4-FFF2-40B4-BE49-F238E27FC236}">
                <a16:creationId xmlns:a16="http://schemas.microsoft.com/office/drawing/2014/main" id="{C275E279-96F5-4781-B151-A3EE795B0763}"/>
              </a:ext>
            </a:extLst>
          </p:cNvPr>
          <p:cNvSpPr>
            <a:spLocks xmlns:a="http://schemas.openxmlformats.org/drawingml/2006/main" noGrp="1"/>
          </p:cNvSpPr>
          <p:nvPr/>
        </p:nvSpPr>
        <p:spPr>
          <a:xfrm xmlns:a="http://schemas.openxmlformats.org/drawingml/2006/main">
            <a:off x="2000250" y="3752850"/>
            <a:ext cx="2476500" cy="1066800"/>
          </a:xfrm>
          <a:prstGeom xmlns:a="http://schemas.openxmlformats.org/drawingml/2006/main" prst="rect">
            <a:avLst/>
          </a:prstGeom>
          <a:solidFill xmlns:a="http://schemas.openxmlformats.org/drawingml/2006/main">
            <a:srgbClr val="FFF8EF"/>
          </a:solidFill>
          <a:ln xmlns:a="http://schemas.openxmlformats.org/drawingml/2006/main" w="19050">
            <a:solidFill>
              <a:srgbClr val="28253D"/>
            </a:solidFill>
            <a:prstDash val="solid"/>
          </a:ln>
        </p:spPr>
      </p:sp>
      <p:sp>
        <p:nvSpPr>
          <p:cNvPr id="24" name="">
            <a:extLst xmlns:a="http://schemas.openxmlformats.org/drawingml/2006/main">
              <a:ext uri="{FF2B5EF4-FFF2-40B4-BE49-F238E27FC236}">
                <a16:creationId xmlns:a16="http://schemas.microsoft.com/office/drawing/2014/main" id="{C4EC153E-1E11-4B28-9861-010AB078614A}"/>
              </a:ext>
            </a:extLst>
          </p:cNvPr>
          <p:cNvSpPr>
            <a:spLocks xmlns:a="http://schemas.openxmlformats.org/drawingml/2006/main" noGrp="1"/>
          </p:cNvSpPr>
          <p:nvPr/>
        </p:nvSpPr>
        <p:spPr>
          <a:xfrm xmlns:a="http://schemas.openxmlformats.org/drawingml/2006/main">
            <a:off x="2114550" y="386715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5</a:t>
            </a:r>
          </a:p>
        </p:txBody>
      </p:sp>
      <p:sp>
        <p:nvSpPr>
          <p:cNvPr id="25" name="">
            <a:extLst xmlns:a="http://schemas.openxmlformats.org/drawingml/2006/main">
              <a:ext uri="{FF2B5EF4-FFF2-40B4-BE49-F238E27FC236}">
                <a16:creationId xmlns:a16="http://schemas.microsoft.com/office/drawing/2014/main" id="{29BA0147-F33A-488D-BE40-D8FE8D0BA10C}"/>
              </a:ext>
            </a:extLst>
          </p:cNvPr>
          <p:cNvSpPr>
            <a:spLocks xmlns:a="http://schemas.openxmlformats.org/drawingml/2006/main" noGrp="1"/>
          </p:cNvSpPr>
          <p:nvPr/>
        </p:nvSpPr>
        <p:spPr>
          <a:xfrm xmlns:a="http://schemas.openxmlformats.org/drawingml/2006/main">
            <a:off x="2628900" y="3914775"/>
            <a:ext cx="17145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Local model + approved tools</a:t>
            </a:r>
          </a:p>
        </p:txBody>
      </p:sp>
      <p:sp>
        <p:nvSpPr>
          <p:cNvPr id="26" name="request-step-6">
            <a:extLst xmlns:a="http://schemas.openxmlformats.org/drawingml/2006/main">
              <a:ext uri="{FF2B5EF4-FFF2-40B4-BE49-F238E27FC236}">
                <a16:creationId xmlns:a16="http://schemas.microsoft.com/office/drawing/2014/main" id="{811ECA4F-3C75-4A99-B4F3-C59F0D3F658A}"/>
              </a:ext>
            </a:extLst>
          </p:cNvPr>
          <p:cNvSpPr>
            <a:spLocks xmlns:a="http://schemas.openxmlformats.org/drawingml/2006/main" noGrp="1"/>
          </p:cNvSpPr>
          <p:nvPr/>
        </p:nvSpPr>
        <p:spPr>
          <a:xfrm xmlns:a="http://schemas.openxmlformats.org/drawingml/2006/main">
            <a:off x="4953000" y="3752850"/>
            <a:ext cx="2476500" cy="1066800"/>
          </a:xfrm>
          <a:prstGeom xmlns:a="http://schemas.openxmlformats.org/drawingml/2006/main" prst="rect">
            <a:avLst/>
          </a:prstGeom>
          <a:solidFill xmlns:a="http://schemas.openxmlformats.org/drawingml/2006/main">
            <a:srgbClr val="DDE8D3"/>
          </a:solidFill>
          <a:ln xmlns:a="http://schemas.openxmlformats.org/drawingml/2006/main" w="19050">
            <a:solidFill>
              <a:srgbClr val="28253D"/>
            </a:solidFill>
            <a:prstDash val="solid"/>
          </a:ln>
        </p:spPr>
      </p:sp>
      <p:sp>
        <p:nvSpPr>
          <p:cNvPr id="27" name="">
            <a:extLst xmlns:a="http://schemas.openxmlformats.org/drawingml/2006/main">
              <a:ext uri="{FF2B5EF4-FFF2-40B4-BE49-F238E27FC236}">
                <a16:creationId xmlns:a16="http://schemas.microsoft.com/office/drawing/2014/main" id="{E7684F00-735C-4C9E-87D1-DEAEC226081A}"/>
              </a:ext>
            </a:extLst>
          </p:cNvPr>
          <p:cNvSpPr>
            <a:spLocks xmlns:a="http://schemas.openxmlformats.org/drawingml/2006/main" noGrp="1"/>
          </p:cNvSpPr>
          <p:nvPr/>
        </p:nvSpPr>
        <p:spPr>
          <a:xfrm xmlns:a="http://schemas.openxmlformats.org/drawingml/2006/main">
            <a:off x="5067300" y="386715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6</a:t>
            </a:r>
          </a:p>
        </p:txBody>
      </p:sp>
      <p:sp>
        <p:nvSpPr>
          <p:cNvPr id="28" name="">
            <a:extLst xmlns:a="http://schemas.openxmlformats.org/drawingml/2006/main">
              <a:ext uri="{FF2B5EF4-FFF2-40B4-BE49-F238E27FC236}">
                <a16:creationId xmlns:a16="http://schemas.microsoft.com/office/drawing/2014/main" id="{89CFEEDB-135D-4564-9596-8C65992761C8}"/>
              </a:ext>
            </a:extLst>
          </p:cNvPr>
          <p:cNvSpPr>
            <a:spLocks xmlns:a="http://schemas.openxmlformats.org/drawingml/2006/main" noGrp="1"/>
          </p:cNvSpPr>
          <p:nvPr/>
        </p:nvSpPr>
        <p:spPr>
          <a:xfrm xmlns:a="http://schemas.openxmlformats.org/drawingml/2006/main">
            <a:off x="5581650" y="3914775"/>
            <a:ext cx="17145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Explicit GBrain retrieval if needed</a:t>
            </a:r>
          </a:p>
        </p:txBody>
      </p:sp>
      <p:sp>
        <p:nvSpPr>
          <p:cNvPr id="29" name="request-step-7">
            <a:extLst xmlns:a="http://schemas.openxmlformats.org/drawingml/2006/main">
              <a:ext uri="{FF2B5EF4-FFF2-40B4-BE49-F238E27FC236}">
                <a16:creationId xmlns:a16="http://schemas.microsoft.com/office/drawing/2014/main" id="{A170A22F-2F83-469A-9B45-0791813848A3}"/>
              </a:ext>
            </a:extLst>
          </p:cNvPr>
          <p:cNvSpPr>
            <a:spLocks xmlns:a="http://schemas.openxmlformats.org/drawingml/2006/main" noGrp="1"/>
          </p:cNvSpPr>
          <p:nvPr/>
        </p:nvSpPr>
        <p:spPr>
          <a:xfrm xmlns:a="http://schemas.openxmlformats.org/drawingml/2006/main">
            <a:off x="7905750" y="3752850"/>
            <a:ext cx="2476500" cy="1066800"/>
          </a:xfrm>
          <a:prstGeom xmlns:a="http://schemas.openxmlformats.org/drawingml/2006/main" prst="rect">
            <a:avLst/>
          </a:prstGeom>
          <a:solidFill xmlns:a="http://schemas.openxmlformats.org/drawingml/2006/main">
            <a:srgbClr val="FFF8EF"/>
          </a:solidFill>
          <a:ln xmlns:a="http://schemas.openxmlformats.org/drawingml/2006/main" w="19050">
            <a:solidFill>
              <a:srgbClr val="28253D"/>
            </a:solidFill>
            <a:prstDash val="solid"/>
          </a:ln>
        </p:spPr>
      </p:sp>
      <p:sp>
        <p:nvSpPr>
          <p:cNvPr id="30" name="">
            <a:extLst xmlns:a="http://schemas.openxmlformats.org/drawingml/2006/main">
              <a:ext uri="{FF2B5EF4-FFF2-40B4-BE49-F238E27FC236}">
                <a16:creationId xmlns:a16="http://schemas.microsoft.com/office/drawing/2014/main" id="{55A48B6C-FC7D-440F-B59C-A49B2BA1A8B7}"/>
              </a:ext>
            </a:extLst>
          </p:cNvPr>
          <p:cNvSpPr>
            <a:spLocks xmlns:a="http://schemas.openxmlformats.org/drawingml/2006/main" noGrp="1"/>
          </p:cNvSpPr>
          <p:nvPr/>
        </p:nvSpPr>
        <p:spPr>
          <a:xfrm xmlns:a="http://schemas.openxmlformats.org/drawingml/2006/main">
            <a:off x="8020050" y="386715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7</a:t>
            </a:r>
          </a:p>
        </p:txBody>
      </p:sp>
      <p:sp>
        <p:nvSpPr>
          <p:cNvPr id="31" name="">
            <a:extLst xmlns:a="http://schemas.openxmlformats.org/drawingml/2006/main">
              <a:ext uri="{FF2B5EF4-FFF2-40B4-BE49-F238E27FC236}">
                <a16:creationId xmlns:a16="http://schemas.microsoft.com/office/drawing/2014/main" id="{AF7AFACD-7F9A-4A16-BA90-CB85D0C43AC6}"/>
              </a:ext>
            </a:extLst>
          </p:cNvPr>
          <p:cNvSpPr>
            <a:spLocks xmlns:a="http://schemas.openxmlformats.org/drawingml/2006/main" noGrp="1"/>
          </p:cNvSpPr>
          <p:nvPr/>
        </p:nvSpPr>
        <p:spPr>
          <a:xfrm xmlns:a="http://schemas.openxmlformats.org/drawingml/2006/main">
            <a:off x="8534400" y="3914775"/>
            <a:ext cx="17145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Response, evidence, and optional receipt</a:t>
            </a:r>
          </a:p>
        </p:txBody>
      </p:sp>
      <p:sp>
        <p:nvSpPr>
          <p:cNvPr id="32" name="">
            <a:extLst xmlns:a="http://schemas.openxmlformats.org/drawingml/2006/main">
              <a:ext uri="{FF2B5EF4-FFF2-40B4-BE49-F238E27FC236}">
                <a16:creationId xmlns:a16="http://schemas.microsoft.com/office/drawing/2014/main" id="{751B7DFC-ACDE-49CE-858E-B3C3B2203FE6}"/>
              </a:ext>
            </a:extLst>
          </p:cNvPr>
          <p:cNvSpPr>
            <a:spLocks xmlns:a="http://schemas.openxmlformats.org/drawingml/2006/main" noGrp="1"/>
          </p:cNvSpPr>
          <p:nvPr/>
        </p:nvSpPr>
        <p:spPr>
          <a:xfrm xmlns:a="http://schemas.openxmlformats.org/drawingml/2006/main">
            <a:off x="9810750" y="2686050"/>
            <a:ext cx="47625" cy="68580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75E73AAD-B7F2-458E-9F35-27999FD309D6}"/>
              </a:ext>
            </a:extLst>
          </p:cNvPr>
          <p:cNvSpPr>
            <a:spLocks xmlns:a="http://schemas.openxmlformats.org/drawingml/2006/main" noGrp="1"/>
          </p:cNvSpPr>
          <p:nvPr/>
        </p:nvSpPr>
        <p:spPr>
          <a:xfrm xmlns:a="http://schemas.openxmlformats.org/drawingml/2006/main">
            <a:off x="3238500" y="3371850"/>
            <a:ext cx="6619875" cy="47625"/>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82A60049-CB59-4153-8337-54412590A995}"/>
              </a:ext>
            </a:extLst>
          </p:cNvPr>
          <p:cNvSpPr>
            <a:spLocks xmlns:a="http://schemas.openxmlformats.org/drawingml/2006/main" noGrp="1"/>
          </p:cNvSpPr>
          <p:nvPr/>
        </p:nvSpPr>
        <p:spPr>
          <a:xfrm xmlns:a="http://schemas.openxmlformats.org/drawingml/2006/main">
            <a:off x="3238500" y="3371850"/>
            <a:ext cx="47625" cy="38100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26CB9B78-3AF5-42B2-90EA-ED570153A5A7}"/>
              </a:ext>
            </a:extLst>
          </p:cNvPr>
          <p:cNvSpPr>
            <a:spLocks xmlns:a="http://schemas.openxmlformats.org/drawingml/2006/main" noGrp="1"/>
          </p:cNvSpPr>
          <p:nvPr/>
        </p:nvSpPr>
        <p:spPr>
          <a:xfrm xmlns:a="http://schemas.openxmlformats.org/drawingml/2006/main">
            <a:off x="4476750" y="4267200"/>
            <a:ext cx="476250" cy="47625"/>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67A3AB26-E8AF-47B7-AC1B-884F6016F062}"/>
              </a:ext>
            </a:extLst>
          </p:cNvPr>
          <p:cNvSpPr>
            <a:spLocks xmlns:a="http://schemas.openxmlformats.org/drawingml/2006/main" noGrp="1"/>
          </p:cNvSpPr>
          <p:nvPr/>
        </p:nvSpPr>
        <p:spPr>
          <a:xfrm xmlns:a="http://schemas.openxmlformats.org/drawingml/2006/main">
            <a:off x="7429500" y="4267200"/>
            <a:ext cx="476250" cy="47625"/>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209A8A45-2C81-41A6-A59C-90FA066742A1}"/>
              </a:ext>
            </a:extLst>
          </p:cNvPr>
          <p:cNvSpPr>
            <a:spLocks xmlns:a="http://schemas.openxmlformats.org/drawingml/2006/main" noGrp="1"/>
          </p:cNvSpPr>
          <p:nvPr/>
        </p:nvSpPr>
        <p:spPr>
          <a:xfrm xmlns:a="http://schemas.openxmlformats.org/drawingml/2006/main">
            <a:off x="2476500" y="5381625"/>
            <a:ext cx="7239000" cy="457200"/>
          </a:xfrm>
          <a:prstGeom xmlns:a="http://schemas.openxmlformats.org/drawingml/2006/main" prst="rect">
            <a:avLst/>
          </a:prstGeom>
          <a:solidFill xmlns:a="http://schemas.openxmlformats.org/drawingml/2006/main">
            <a:srgbClr val="F7E9B6"/>
          </a:solidFill>
          <a:ln xmlns:a="http://schemas.openxmlformats.org/drawingml/2006/main" w="17145">
            <a:solidFill>
              <a:srgbClr val="28253D"/>
            </a:solidFill>
            <a:prstDash val="solid"/>
          </a:ln>
        </p:spPr>
        <p:txBody>
          <a:bodyPr xmlns:a="http://schemas.openxmlformats.org/drawingml/2006/main" lIns="76200" tIns="28575" rIns="76200" bIns="28575" anchor="ctr"/>
          <a:lstStyle xmlns:a="http://schemas.openxmlformats.org/drawingml/2006/main"/>
          <a:p xmlns:a="http://schemas.openxmlformats.org/drawingml/2006/main">
            <a:pPr algn="ctr">
              <a:defRPr sz="1350" b="1">
                <a:solidFill>
                  <a:srgbClr val="28253D"/>
                </a:solidFill>
                <a:latin typeface="Arial"/>
                <a:ea typeface="Arial"/>
                <a:cs typeface="Arial"/>
              </a:defRPr>
            </a:pPr>
            <a:r>
              <a:rPr sz="1350" b="1">
                <a:solidFill>
                  <a:srgbClr val="28253D"/>
                </a:solidFill>
                <a:latin typeface="Arial"/>
                <a:ea typeface="Arial"/>
                <a:cs typeface="Arial"/>
              </a:rPr>
              <a:t>Live jobs and evaluator output remain the operational source of truth.</a:t>
            </a:r>
          </a:p>
        </p:txBody>
      </p:sp>
    </p:spTree>
    <p:extLst>
      <p:ext uri="{BB962C8B-B14F-4D97-AF65-F5344CB8AC3E}">
        <p14:creationId xmlns:p14="http://schemas.microsoft.com/office/powerpoint/2010/main" val="104494492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0FDD6A9-20BB-4604-840C-1C2DC0FBE8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1E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780ECE1-CA34-440A-8A61-100D7659159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55E2DDD-646E-4FE4-81D0-0F59A54BA5A4}"/>
              </a:ext>
            </a:extLst>
          </p:cNvPr>
          <p:cNvSpPr>
            <a:spLocks xmlns:a="http://schemas.openxmlformats.org/drawingml/2006/main" noGrp="1"/>
          </p:cNvSpPr>
          <p:nvPr/>
        </p:nvSpPr>
        <p:spPr>
          <a:xfrm xmlns:a="http://schemas.openxmlformats.org/drawingml/2006/main">
            <a:off x="590550" y="3810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E9878C"/>
                </a:solidFill>
                <a:latin typeface="Arial"/>
                <a:ea typeface="Arial"/>
                <a:cs typeface="Arial"/>
              </a:defRPr>
            </a:pPr>
            <a:r>
              <a:rPr sz="1050" b="1">
                <a:solidFill>
                  <a:srgbClr val="E9878C"/>
                </a:solidFill>
                <a:latin typeface="Arial"/>
                <a:ea typeface="Arial"/>
                <a:cs typeface="Arial"/>
              </a:rPr>
              <a:t>CONTEXT MODEL</a:t>
            </a:r>
          </a:p>
        </p:txBody>
      </p:sp>
      <p:sp>
        <p:nvSpPr>
          <p:cNvPr id="4" name="">
            <a:extLst xmlns:a="http://schemas.openxmlformats.org/drawingml/2006/main">
              <a:ext uri="{FF2B5EF4-FFF2-40B4-BE49-F238E27FC236}">
                <a16:creationId xmlns:a16="http://schemas.microsoft.com/office/drawing/2014/main" id="{3C085658-A7A9-4CB6-A92F-9D6D8AB20B84}"/>
              </a:ext>
            </a:extLst>
          </p:cNvPr>
          <p:cNvSpPr>
            <a:spLocks xmlns:a="http://schemas.openxmlformats.org/drawingml/2006/main" noGrp="1"/>
          </p:cNvSpPr>
          <p:nvPr/>
        </p:nvSpPr>
        <p:spPr>
          <a:xfrm xmlns:a="http://schemas.openxmlformats.org/drawingml/2006/main">
            <a:off x="590550" y="685800"/>
            <a:ext cx="10763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8253D"/>
                </a:solidFill>
                <a:latin typeface="Georgia"/>
                <a:ea typeface="Georgia"/>
                <a:cs typeface="Georgia"/>
              </a:defRPr>
            </a:pPr>
            <a:r>
              <a:rPr sz="2700" b="1">
                <a:solidFill>
                  <a:srgbClr val="28253D"/>
                </a:solidFill>
                <a:latin typeface="Georgia"/>
                <a:ea typeface="Georgia"/>
                <a:cs typeface="Georgia"/>
              </a:rPr>
              <a:t>Context is scoped—not magically shared</a:t>
            </a:r>
          </a:p>
        </p:txBody>
      </p:sp>
      <p:sp>
        <p:nvSpPr>
          <p:cNvPr id="5" name="">
            <a:extLst xmlns:a="http://schemas.openxmlformats.org/drawingml/2006/main">
              <a:ext uri="{FF2B5EF4-FFF2-40B4-BE49-F238E27FC236}">
                <a16:creationId xmlns:a16="http://schemas.microsoft.com/office/drawing/2014/main" id="{09D67603-56B5-448C-959E-CD85C9460A04}"/>
              </a:ext>
            </a:extLst>
          </p:cNvPr>
          <p:cNvSpPr>
            <a:spLocks xmlns:a="http://schemas.openxmlformats.org/drawingml/2006/main" noGrp="1"/>
          </p:cNvSpPr>
          <p:nvPr/>
        </p:nvSpPr>
        <p:spPr>
          <a:xfrm xmlns:a="http://schemas.openxmlformats.org/drawingml/2006/main">
            <a:off x="590550" y="6496050"/>
            <a:ext cx="11010900" cy="190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7461CB9-4519-4ECA-94F4-B8B3CF7D87CB}"/>
              </a:ext>
            </a:extLst>
          </p:cNvPr>
          <p:cNvSpPr>
            <a:spLocks xmlns:a="http://schemas.openxmlformats.org/drawingml/2006/main" noGrp="1"/>
          </p:cNvSpPr>
          <p:nvPr/>
        </p:nvSpPr>
        <p:spPr>
          <a:xfrm xmlns:a="http://schemas.openxmlformats.org/drawingml/2006/main">
            <a:off x="590550" y="657225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F6B74"/>
                </a:solidFill>
                <a:latin typeface="Arial"/>
                <a:ea typeface="Arial"/>
                <a:cs typeface="Arial"/>
              </a:defRPr>
            </a:pPr>
            <a:r>
              <a:rPr sz="750" b="1">
                <a:solidFill>
                  <a:srgbClr val="6F6B74"/>
                </a:solidFill>
                <a:latin typeface="Arial"/>
                <a:ea typeface="Arial"/>
                <a:cs typeface="Arial"/>
              </a:rPr>
              <a:t>ANONYMIZED LOCAL AI/ML ARCHITECTURE</a:t>
            </a:r>
          </a:p>
        </p:txBody>
      </p:sp>
      <p:sp>
        <p:nvSpPr>
          <p:cNvPr id="7" name="">
            <a:extLst xmlns:a="http://schemas.openxmlformats.org/drawingml/2006/main">
              <a:ext uri="{FF2B5EF4-FFF2-40B4-BE49-F238E27FC236}">
                <a16:creationId xmlns:a16="http://schemas.microsoft.com/office/drawing/2014/main" id="{F318370F-2CFE-4610-89CF-2BCFAB4DE436}"/>
              </a:ext>
            </a:extLst>
          </p:cNvPr>
          <p:cNvSpPr>
            <a:spLocks xmlns:a="http://schemas.openxmlformats.org/drawingml/2006/main" noGrp="1"/>
          </p:cNvSpPr>
          <p:nvPr/>
        </p:nvSpPr>
        <p:spPr>
          <a:xfrm xmlns:a="http://schemas.openxmlformats.org/drawingml/2006/main">
            <a:off x="10744200" y="65722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F6B74"/>
                </a:solidFill>
                <a:latin typeface="Arial"/>
                <a:ea typeface="Arial"/>
                <a:cs typeface="Arial"/>
              </a:defRPr>
            </a:pPr>
            <a:r>
              <a:rPr sz="750" b="1">
                <a:solidFill>
                  <a:srgbClr val="6F6B74"/>
                </a:solidFill>
                <a:latin typeface="Arial"/>
                <a:ea typeface="Arial"/>
                <a:cs typeface="Arial"/>
              </a:rPr>
              <a:t>05</a:t>
            </a:r>
          </a:p>
        </p:txBody>
      </p:sp>
      <p:sp>
        <p:nvSpPr>
          <p:cNvPr id="8" name="">
            <a:extLst xmlns:a="http://schemas.openxmlformats.org/drawingml/2006/main">
              <a:ext uri="{FF2B5EF4-FFF2-40B4-BE49-F238E27FC236}">
                <a16:creationId xmlns:a16="http://schemas.microsoft.com/office/drawing/2014/main" id="{FB121900-BE93-454C-B22B-DD3045033869}"/>
              </a:ext>
            </a:extLst>
          </p:cNvPr>
          <p:cNvSpPr>
            <a:spLocks xmlns:a="http://schemas.openxmlformats.org/drawingml/2006/main" noGrp="1"/>
          </p:cNvSpPr>
          <p:nvPr/>
        </p:nvSpPr>
        <p:spPr>
          <a:xfrm xmlns:a="http://schemas.openxmlformats.org/drawingml/2006/main">
            <a:off x="590550" y="1581150"/>
            <a:ext cx="3448050" cy="3790950"/>
          </a:xfrm>
          <a:prstGeom xmlns:a="http://schemas.openxmlformats.org/drawingml/2006/main" prst="rect">
            <a:avLst/>
          </a:prstGeom>
          <a:solidFill xmlns:a="http://schemas.openxmlformats.org/drawingml/2006/main">
            <a:srgbClr val="DDE8D3"/>
          </a:solidFill>
          <a:ln xmlns:a="http://schemas.openxmlformats.org/drawingml/2006/main" w="20955">
            <a:solidFill>
              <a:srgbClr val="28253D"/>
            </a:solidFill>
            <a:prstDash val="solid"/>
          </a:ln>
        </p:spPr>
      </p:sp>
      <p:sp>
        <p:nvSpPr>
          <p:cNvPr id="9" name="">
            <a:extLst xmlns:a="http://schemas.openxmlformats.org/drawingml/2006/main">
              <a:ext uri="{FF2B5EF4-FFF2-40B4-BE49-F238E27FC236}">
                <a16:creationId xmlns:a16="http://schemas.microsoft.com/office/drawing/2014/main" id="{14062253-0CB5-4E4D-8BA1-802E44ABD231}"/>
              </a:ext>
            </a:extLst>
          </p:cNvPr>
          <p:cNvSpPr>
            <a:spLocks xmlns:a="http://schemas.openxmlformats.org/drawingml/2006/main" noGrp="1"/>
          </p:cNvSpPr>
          <p:nvPr/>
        </p:nvSpPr>
        <p:spPr>
          <a:xfrm xmlns:a="http://schemas.openxmlformats.org/drawingml/2006/main">
            <a:off x="590550" y="1581150"/>
            <a:ext cx="114300" cy="37909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5E4EEDB-6863-4F2A-8170-CC6244BD231F}"/>
              </a:ext>
            </a:extLst>
          </p:cNvPr>
          <p:cNvSpPr>
            <a:spLocks xmlns:a="http://schemas.openxmlformats.org/drawingml/2006/main" noGrp="1"/>
          </p:cNvSpPr>
          <p:nvPr/>
        </p:nvSpPr>
        <p:spPr>
          <a:xfrm xmlns:a="http://schemas.openxmlformats.org/drawingml/2006/main">
            <a:off x="1276350" y="1771650"/>
            <a:ext cx="2571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Automatic</a:t>
            </a:r>
          </a:p>
        </p:txBody>
      </p:sp>
      <p:sp>
        <p:nvSpPr>
          <p:cNvPr id="11" name="">
            <a:extLst xmlns:a="http://schemas.openxmlformats.org/drawingml/2006/main">
              <a:ext uri="{FF2B5EF4-FFF2-40B4-BE49-F238E27FC236}">
                <a16:creationId xmlns:a16="http://schemas.microsoft.com/office/drawing/2014/main" id="{4F0800CF-304D-4207-8E99-0AAF7A49064C}"/>
              </a:ext>
            </a:extLst>
          </p:cNvPr>
          <p:cNvSpPr>
            <a:spLocks xmlns:a="http://schemas.openxmlformats.org/drawingml/2006/main" noGrp="1"/>
          </p:cNvSpPr>
          <p:nvPr/>
        </p:nvSpPr>
        <p:spPr>
          <a:xfrm xmlns:a="http://schemas.openxmlformats.org/drawingml/2006/main">
            <a:off x="857250" y="2228850"/>
            <a:ext cx="2971800" cy="2971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 Sanitized canvas context with each prompt</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 Stable source-specific session identity</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 Gateway authentication and transport</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 Configured local model and approved tools</a:t>
            </a:r>
          </a:p>
        </p:txBody>
      </p:sp>
      <p:sp>
        <p:nvSpPr>
          <p:cNvPr id="12" name="">
            <a:extLst xmlns:a="http://schemas.openxmlformats.org/drawingml/2006/main">
              <a:ext uri="{FF2B5EF4-FFF2-40B4-BE49-F238E27FC236}">
                <a16:creationId xmlns:a16="http://schemas.microsoft.com/office/drawing/2014/main" id="{62857B28-5522-49EE-BA2D-F87832A06143}"/>
              </a:ext>
            </a:extLst>
          </p:cNvPr>
          <p:cNvSpPr>
            <a:spLocks xmlns:a="http://schemas.openxmlformats.org/drawingml/2006/main" noGrp="1"/>
          </p:cNvSpPr>
          <p:nvPr/>
        </p:nvSpPr>
        <p:spPr>
          <a:xfrm xmlns:a="http://schemas.openxmlformats.org/drawingml/2006/main">
            <a:off x="4371975" y="1581150"/>
            <a:ext cx="3448050" cy="3790950"/>
          </a:xfrm>
          <a:prstGeom xmlns:a="http://schemas.openxmlformats.org/drawingml/2006/main" prst="rect">
            <a:avLst/>
          </a:prstGeom>
          <a:solidFill xmlns:a="http://schemas.openxmlformats.org/drawingml/2006/main">
            <a:srgbClr val="FFF8EF"/>
          </a:solidFill>
          <a:ln xmlns:a="http://schemas.openxmlformats.org/drawingml/2006/main" w="20955">
            <a:solidFill>
              <a:srgbClr val="28253D"/>
            </a:solidFill>
            <a:prstDash val="solid"/>
          </a:ln>
        </p:spPr>
      </p:sp>
      <p:sp>
        <p:nvSpPr>
          <p:cNvPr id="13" name="">
            <a:extLst xmlns:a="http://schemas.openxmlformats.org/drawingml/2006/main">
              <a:ext uri="{FF2B5EF4-FFF2-40B4-BE49-F238E27FC236}">
                <a16:creationId xmlns:a16="http://schemas.microsoft.com/office/drawing/2014/main" id="{8BBC1D72-1AB9-456D-B9ED-421AAA3FD8AE}"/>
              </a:ext>
            </a:extLst>
          </p:cNvPr>
          <p:cNvSpPr>
            <a:spLocks xmlns:a="http://schemas.openxmlformats.org/drawingml/2006/main" noGrp="1"/>
          </p:cNvSpPr>
          <p:nvPr/>
        </p:nvSpPr>
        <p:spPr>
          <a:xfrm xmlns:a="http://schemas.openxmlformats.org/drawingml/2006/main">
            <a:off x="4371975" y="1581150"/>
            <a:ext cx="114300" cy="37909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ED444132-685F-4132-8451-A8418F1C5562}"/>
              </a:ext>
            </a:extLst>
          </p:cNvPr>
          <p:cNvSpPr>
            <a:spLocks xmlns:a="http://schemas.openxmlformats.org/drawingml/2006/main" noGrp="1"/>
          </p:cNvSpPr>
          <p:nvPr/>
        </p:nvSpPr>
        <p:spPr>
          <a:xfrm xmlns:a="http://schemas.openxmlformats.org/drawingml/2006/main">
            <a:off x="5057775" y="1771650"/>
            <a:ext cx="2571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Explicit</a:t>
            </a:r>
          </a:p>
        </p:txBody>
      </p:sp>
      <p:sp>
        <p:nvSpPr>
          <p:cNvPr id="15" name="">
            <a:extLst xmlns:a="http://schemas.openxmlformats.org/drawingml/2006/main">
              <a:ext uri="{FF2B5EF4-FFF2-40B4-BE49-F238E27FC236}">
                <a16:creationId xmlns:a16="http://schemas.microsoft.com/office/drawing/2014/main" id="{AD4D9554-A7B4-4192-BC4C-FFBEB6E6D808}"/>
              </a:ext>
            </a:extLst>
          </p:cNvPr>
          <p:cNvSpPr>
            <a:spLocks xmlns:a="http://schemas.openxmlformats.org/drawingml/2006/main" noGrp="1"/>
          </p:cNvSpPr>
          <p:nvPr/>
        </p:nvSpPr>
        <p:spPr>
          <a:xfrm xmlns:a="http://schemas.openxmlformats.org/drawingml/2006/main">
            <a:off x="4638675" y="2228850"/>
            <a:ext cx="2971800" cy="2971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 Scoped GBrain retrieval</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 Coding-session journal inspection</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 Training, evaluation, and promotion workflows</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 Cross-surface provenance reconciliation</a:t>
            </a:r>
          </a:p>
        </p:txBody>
      </p:sp>
      <p:sp>
        <p:nvSpPr>
          <p:cNvPr id="16" name="">
            <a:extLst xmlns:a="http://schemas.openxmlformats.org/drawingml/2006/main">
              <a:ext uri="{FF2B5EF4-FFF2-40B4-BE49-F238E27FC236}">
                <a16:creationId xmlns:a16="http://schemas.microsoft.com/office/drawing/2014/main" id="{44D0124C-98A2-4C7A-A4C2-FFB5D7F7F311}"/>
              </a:ext>
            </a:extLst>
          </p:cNvPr>
          <p:cNvSpPr>
            <a:spLocks xmlns:a="http://schemas.openxmlformats.org/drawingml/2006/main" noGrp="1"/>
          </p:cNvSpPr>
          <p:nvPr/>
        </p:nvSpPr>
        <p:spPr>
          <a:xfrm xmlns:a="http://schemas.openxmlformats.org/drawingml/2006/main">
            <a:off x="8153400" y="1581150"/>
            <a:ext cx="3448050" cy="3790950"/>
          </a:xfrm>
          <a:prstGeom xmlns:a="http://schemas.openxmlformats.org/drawingml/2006/main" prst="rect">
            <a:avLst/>
          </a:prstGeom>
          <a:solidFill xmlns:a="http://schemas.openxmlformats.org/drawingml/2006/main">
            <a:srgbClr val="F7E9B6"/>
          </a:solidFill>
          <a:ln xmlns:a="http://schemas.openxmlformats.org/drawingml/2006/main" w="20955">
            <a:solidFill>
              <a:srgbClr val="28253D"/>
            </a:solidFill>
            <a:prstDash val="solid"/>
          </a:ln>
        </p:spPr>
      </p:sp>
      <p:sp>
        <p:nvSpPr>
          <p:cNvPr id="17" name="">
            <a:extLst xmlns:a="http://schemas.openxmlformats.org/drawingml/2006/main">
              <a:ext uri="{FF2B5EF4-FFF2-40B4-BE49-F238E27FC236}">
                <a16:creationId xmlns:a16="http://schemas.microsoft.com/office/drawing/2014/main" id="{2C8FCDEB-BF86-4DEC-9BB0-317563B79A77}"/>
              </a:ext>
            </a:extLst>
          </p:cNvPr>
          <p:cNvSpPr>
            <a:spLocks xmlns:a="http://schemas.openxmlformats.org/drawingml/2006/main" noGrp="1"/>
          </p:cNvSpPr>
          <p:nvPr/>
        </p:nvSpPr>
        <p:spPr>
          <a:xfrm xmlns:a="http://schemas.openxmlformats.org/drawingml/2006/main">
            <a:off x="8153400" y="1581150"/>
            <a:ext cx="114300" cy="37909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B7619726-EA05-4895-8756-2685742D32EC}"/>
              </a:ext>
            </a:extLst>
          </p:cNvPr>
          <p:cNvSpPr>
            <a:spLocks xmlns:a="http://schemas.openxmlformats.org/drawingml/2006/main" noGrp="1"/>
          </p:cNvSpPr>
          <p:nvPr/>
        </p:nvSpPr>
        <p:spPr>
          <a:xfrm xmlns:a="http://schemas.openxmlformats.org/drawingml/2006/main">
            <a:off x="8839200" y="1771650"/>
            <a:ext cx="2571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Not implied</a:t>
            </a:r>
          </a:p>
        </p:txBody>
      </p:sp>
      <p:sp>
        <p:nvSpPr>
          <p:cNvPr id="19" name="">
            <a:extLst xmlns:a="http://schemas.openxmlformats.org/drawingml/2006/main">
              <a:ext uri="{FF2B5EF4-FFF2-40B4-BE49-F238E27FC236}">
                <a16:creationId xmlns:a16="http://schemas.microsoft.com/office/drawing/2014/main" id="{C3AA62AA-F712-4D55-A118-CFB11BE9636D}"/>
              </a:ext>
            </a:extLst>
          </p:cNvPr>
          <p:cNvSpPr>
            <a:spLocks xmlns:a="http://schemas.openxmlformats.org/drawingml/2006/main" noGrp="1"/>
          </p:cNvSpPr>
          <p:nvPr/>
        </p:nvSpPr>
        <p:spPr>
          <a:xfrm xmlns:a="http://schemas.openxmlformats.org/drawingml/2006/main">
            <a:off x="8420100" y="2228850"/>
            <a:ext cx="2971800" cy="2971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 One giant transcript across surfaces</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 Automatic indexing of mounted directories</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 Copying all raw logs into GBrain</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 Old skill text overriding live state</a:t>
            </a:r>
          </a:p>
        </p:txBody>
      </p:sp>
      <p:sp>
        <p:nvSpPr>
          <p:cNvPr id="20" name="">
            <a:extLst xmlns:a="http://schemas.openxmlformats.org/drawingml/2006/main">
              <a:ext uri="{FF2B5EF4-FFF2-40B4-BE49-F238E27FC236}">
                <a16:creationId xmlns:a16="http://schemas.microsoft.com/office/drawing/2014/main" id="{EF164B0A-CF2F-4B4C-8873-A867E3F38DAC}"/>
              </a:ext>
            </a:extLst>
          </p:cNvPr>
          <p:cNvSpPr>
            <a:spLocks xmlns:a="http://schemas.openxmlformats.org/drawingml/2006/main" noGrp="1"/>
          </p:cNvSpPr>
          <p:nvPr/>
        </p:nvSpPr>
        <p:spPr>
          <a:xfrm xmlns:a="http://schemas.openxmlformats.org/drawingml/2006/main">
            <a:off x="2857500" y="5667375"/>
            <a:ext cx="6477000" cy="419100"/>
          </a:xfrm>
          <a:prstGeom xmlns:a="http://schemas.openxmlformats.org/drawingml/2006/main" prst="rect">
            <a:avLst/>
          </a:prstGeom>
          <a:solidFill xmlns:a="http://schemas.openxmlformats.org/drawingml/2006/main">
            <a:srgbClr val="F8F1E5"/>
          </a:solidFill>
          <a:ln xmlns:a="http://schemas.openxmlformats.org/drawingml/2006/main" w="17145">
            <a:solidFill>
              <a:srgbClr val="28253D"/>
            </a:solidFill>
            <a:prstDash val="solid"/>
          </a:ln>
        </p:spPr>
        <p:txBody>
          <a:bodyPr xmlns:a="http://schemas.openxmlformats.org/drawingml/2006/main" lIns="76200" tIns="28575" rIns="76200" bIns="28575" anchor="ctr"/>
          <a:lstStyle xmlns:a="http://schemas.openxmlformats.org/drawingml/2006/main"/>
          <a:p xmlns:a="http://schemas.openxmlformats.org/drawingml/2006/main">
            <a:pPr algn="ctr">
              <a:defRPr sz="1350" b="1">
                <a:solidFill>
                  <a:srgbClr val="28253D"/>
                </a:solidFill>
                <a:latin typeface="Arial"/>
                <a:ea typeface="Arial"/>
                <a:cs typeface="Arial"/>
              </a:defRPr>
            </a:pPr>
            <a:r>
              <a:rPr sz="1350" b="1">
                <a:solidFill>
                  <a:srgbClr val="28253D"/>
                </a:solidFill>
                <a:latin typeface="Arial"/>
                <a:ea typeface="Arial"/>
                <a:cs typeface="Arial"/>
              </a:rPr>
              <a:t>Availability is not ingestion. History is not current state.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28a85b0ba2e496a">
            <a:extLst>
              <a:ext uri="{96DAC541-7B7A-43D3-8B79-37D633B846F1}">
                <asvg:svgBlip xmlns:asvg="http://schemas.microsoft.com/office/drawing/2016/SVG/main" r:embed="R082d369391fe4f28"/>
              </a:ext>
            </a:extLst>
          </a:blip>
          <a:stretch xmlns:a="http://schemas.openxmlformats.org/drawingml/2006/main"/>
        </p:blipFill>
        <p:spPr>
          <a:xfrm xmlns:a="http://schemas.openxmlformats.org/drawingml/2006/main">
            <a:off x="838200" y="1809750"/>
            <a:ext cx="323850" cy="32385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136945d1f4640e9">
            <a:extLst>
              <a:ext uri="{96DAC541-7B7A-43D3-8B79-37D633B846F1}">
                <asvg:svgBlip xmlns:asvg="http://schemas.microsoft.com/office/drawing/2016/SVG/main" r:embed="R680203b8e483449c"/>
              </a:ext>
            </a:extLst>
          </a:blip>
          <a:stretch xmlns:a="http://schemas.openxmlformats.org/drawingml/2006/main"/>
        </p:blipFill>
        <p:spPr>
          <a:xfrm xmlns:a="http://schemas.openxmlformats.org/drawingml/2006/main">
            <a:off x="4619625" y="1809750"/>
            <a:ext cx="323850" cy="32385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da00357ce58416f">
            <a:extLst>
              <a:ext uri="{96DAC541-7B7A-43D3-8B79-37D633B846F1}">
                <asvg:svgBlip xmlns:asvg="http://schemas.microsoft.com/office/drawing/2016/SVG/main" r:embed="Rcfc2d860d6fb4cac"/>
              </a:ext>
            </a:extLst>
          </a:blip>
          <a:stretch xmlns:a="http://schemas.openxmlformats.org/drawingml/2006/main"/>
        </p:blipFill>
        <p:spPr>
          <a:xfrm xmlns:a="http://schemas.openxmlformats.org/drawingml/2006/main">
            <a:off x="8401050" y="1809750"/>
            <a:ext cx="323850" cy="323850"/>
          </a:xfrm>
          <a:prstGeom xmlns:a="http://schemas.openxmlformats.org/drawingml/2006/main" prst="rect">
            <a:avLst/>
          </a:prstGeom>
        </p:spPr>
      </p:pic>
    </p:spTree>
    <p:extLst>
      <p:ext uri="{BB962C8B-B14F-4D97-AF65-F5344CB8AC3E}">
        <p14:creationId xmlns:p14="http://schemas.microsoft.com/office/powerpoint/2010/main" val="15922343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6AE90B-C5DC-4B97-A681-AB6E424121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1E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0ED935B-1349-4E9A-8B84-57DCE733283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9B760B7-EF6C-44C9-AE76-E244BB97C788}"/>
              </a:ext>
            </a:extLst>
          </p:cNvPr>
          <p:cNvSpPr>
            <a:spLocks xmlns:a="http://schemas.openxmlformats.org/drawingml/2006/main" noGrp="1"/>
          </p:cNvSpPr>
          <p:nvPr/>
        </p:nvSpPr>
        <p:spPr>
          <a:xfrm xmlns:a="http://schemas.openxmlformats.org/drawingml/2006/main">
            <a:off x="590550" y="3810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E9878C"/>
                </a:solidFill>
                <a:latin typeface="Arial"/>
                <a:ea typeface="Arial"/>
                <a:cs typeface="Arial"/>
              </a:defRPr>
            </a:pPr>
            <a:r>
              <a:rPr sz="1050" b="1">
                <a:solidFill>
                  <a:srgbClr val="E9878C"/>
                </a:solidFill>
                <a:latin typeface="Arial"/>
                <a:ea typeface="Arial"/>
                <a:cs typeface="Arial"/>
              </a:rPr>
              <a:t>FRESHNESS ORDER</a:t>
            </a:r>
          </a:p>
        </p:txBody>
      </p:sp>
      <p:sp>
        <p:nvSpPr>
          <p:cNvPr id="4" name="">
            <a:extLst xmlns:a="http://schemas.openxmlformats.org/drawingml/2006/main">
              <a:ext uri="{FF2B5EF4-FFF2-40B4-BE49-F238E27FC236}">
                <a16:creationId xmlns:a16="http://schemas.microsoft.com/office/drawing/2014/main" id="{A64EF93D-6E07-49E6-81FC-2AF248747A93}"/>
              </a:ext>
            </a:extLst>
          </p:cNvPr>
          <p:cNvSpPr>
            <a:spLocks xmlns:a="http://schemas.openxmlformats.org/drawingml/2006/main" noGrp="1"/>
          </p:cNvSpPr>
          <p:nvPr/>
        </p:nvSpPr>
        <p:spPr>
          <a:xfrm xmlns:a="http://schemas.openxmlformats.org/drawingml/2006/main">
            <a:off x="590550" y="685800"/>
            <a:ext cx="10763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8253D"/>
                </a:solidFill>
                <a:latin typeface="Georgia"/>
                <a:ea typeface="Georgia"/>
                <a:cs typeface="Georgia"/>
              </a:defRPr>
            </a:pPr>
            <a:r>
              <a:rPr sz="2700" b="1">
                <a:solidFill>
                  <a:srgbClr val="28253D"/>
                </a:solidFill>
                <a:latin typeface="Georgia"/>
                <a:ea typeface="Georgia"/>
                <a:cs typeface="Georgia"/>
              </a:rPr>
              <a:t>Fresh evidence first. Durable context second.</a:t>
            </a:r>
          </a:p>
        </p:txBody>
      </p:sp>
      <p:sp>
        <p:nvSpPr>
          <p:cNvPr id="5" name="">
            <a:extLst xmlns:a="http://schemas.openxmlformats.org/drawingml/2006/main">
              <a:ext uri="{FF2B5EF4-FFF2-40B4-BE49-F238E27FC236}">
                <a16:creationId xmlns:a16="http://schemas.microsoft.com/office/drawing/2014/main" id="{1F57E078-59AC-4657-B942-22CC638CB72F}"/>
              </a:ext>
            </a:extLst>
          </p:cNvPr>
          <p:cNvSpPr>
            <a:spLocks xmlns:a="http://schemas.openxmlformats.org/drawingml/2006/main" noGrp="1"/>
          </p:cNvSpPr>
          <p:nvPr/>
        </p:nvSpPr>
        <p:spPr>
          <a:xfrm xmlns:a="http://schemas.openxmlformats.org/drawingml/2006/main">
            <a:off x="590550" y="6496050"/>
            <a:ext cx="11010900" cy="190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0D63234D-7048-4AFD-BB0E-17586104EDD7}"/>
              </a:ext>
            </a:extLst>
          </p:cNvPr>
          <p:cNvSpPr>
            <a:spLocks xmlns:a="http://schemas.openxmlformats.org/drawingml/2006/main" noGrp="1"/>
          </p:cNvSpPr>
          <p:nvPr/>
        </p:nvSpPr>
        <p:spPr>
          <a:xfrm xmlns:a="http://schemas.openxmlformats.org/drawingml/2006/main">
            <a:off x="590550" y="657225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F6B74"/>
                </a:solidFill>
                <a:latin typeface="Arial"/>
                <a:ea typeface="Arial"/>
                <a:cs typeface="Arial"/>
              </a:defRPr>
            </a:pPr>
            <a:r>
              <a:rPr sz="750" b="1">
                <a:solidFill>
                  <a:srgbClr val="6F6B74"/>
                </a:solidFill>
                <a:latin typeface="Arial"/>
                <a:ea typeface="Arial"/>
                <a:cs typeface="Arial"/>
              </a:rPr>
              <a:t>ANONYMIZED LOCAL AI/ML ARCHITECTURE</a:t>
            </a:r>
          </a:p>
        </p:txBody>
      </p:sp>
      <p:sp>
        <p:nvSpPr>
          <p:cNvPr id="7" name="">
            <a:extLst xmlns:a="http://schemas.openxmlformats.org/drawingml/2006/main">
              <a:ext uri="{FF2B5EF4-FFF2-40B4-BE49-F238E27FC236}">
                <a16:creationId xmlns:a16="http://schemas.microsoft.com/office/drawing/2014/main" id="{AB368C38-F756-4EFD-A3C9-7AC4CBDF55B0}"/>
              </a:ext>
            </a:extLst>
          </p:cNvPr>
          <p:cNvSpPr>
            <a:spLocks xmlns:a="http://schemas.openxmlformats.org/drawingml/2006/main" noGrp="1"/>
          </p:cNvSpPr>
          <p:nvPr/>
        </p:nvSpPr>
        <p:spPr>
          <a:xfrm xmlns:a="http://schemas.openxmlformats.org/drawingml/2006/main">
            <a:off x="10744200" y="65722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F6B74"/>
                </a:solidFill>
                <a:latin typeface="Arial"/>
                <a:ea typeface="Arial"/>
                <a:cs typeface="Arial"/>
              </a:defRPr>
            </a:pPr>
            <a:r>
              <a:rPr sz="750" b="1">
                <a:solidFill>
                  <a:srgbClr val="6F6B74"/>
                </a:solidFill>
                <a:latin typeface="Arial"/>
                <a:ea typeface="Arial"/>
                <a:cs typeface="Arial"/>
              </a:rPr>
              <a:t>06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94b1aa76b6c4e8e"/>
          <a:stretch xmlns:a="http://schemas.openxmlformats.org/drawingml/2006/main"/>
        </p:blipFill>
        <p:spPr>
          <a:xfrm xmlns:a="http://schemas.openxmlformats.org/drawingml/2006/main">
            <a:off x="1443827" y="1381125"/>
            <a:ext cx="2979746" cy="4857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EFF6317-4C36-4E18-ADAC-131981C783B4}"/>
              </a:ext>
            </a:extLst>
          </p:cNvPr>
          <p:cNvSpPr>
            <a:spLocks xmlns:a="http://schemas.openxmlformats.org/drawingml/2006/main" noGrp="1"/>
          </p:cNvSpPr>
          <p:nvPr/>
        </p:nvSpPr>
        <p:spPr>
          <a:xfrm xmlns:a="http://schemas.openxmlformats.org/drawingml/2006/main">
            <a:off x="5905500" y="1619250"/>
            <a:ext cx="495300" cy="495300"/>
          </a:xfrm>
          <a:prstGeom xmlns:a="http://schemas.openxmlformats.org/drawingml/2006/main" prst="rect">
            <a:avLst/>
          </a:prstGeom>
          <a:solidFill xmlns:a="http://schemas.openxmlformats.org/drawingml/2006/main">
            <a:srgbClr val="E9878C"/>
          </a:solidFill>
          <a:ln xmlns:a="http://schemas.openxmlformats.org/drawingml/2006/main" w="19050">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28253D"/>
                </a:solidFill>
                <a:latin typeface="Georgia"/>
                <a:ea typeface="Georgia"/>
                <a:cs typeface="Georgia"/>
              </a:defRPr>
            </a:pPr>
            <a:r>
              <a:rPr sz="2100" b="1">
                <a:solidFill>
                  <a:srgbClr val="28253D"/>
                </a:solidFill>
                <a:latin typeface="Georgia"/>
                <a:ea typeface="Georgia"/>
                <a:cs typeface="Georgia"/>
              </a:rPr>
              <a:t>1</a:t>
            </a:r>
          </a:p>
        </p:txBody>
      </p:sp>
      <p:sp>
        <p:nvSpPr>
          <p:cNvPr id="10" name="">
            <a:extLst xmlns:a="http://schemas.openxmlformats.org/drawingml/2006/main">
              <a:ext uri="{FF2B5EF4-FFF2-40B4-BE49-F238E27FC236}">
                <a16:creationId xmlns:a16="http://schemas.microsoft.com/office/drawing/2014/main" id="{62508BDA-2F0F-4CFA-8A2C-872D632EFAAC}"/>
              </a:ext>
            </a:extLst>
          </p:cNvPr>
          <p:cNvSpPr>
            <a:spLocks xmlns:a="http://schemas.openxmlformats.org/drawingml/2006/main" noGrp="1"/>
          </p:cNvSpPr>
          <p:nvPr/>
        </p:nvSpPr>
        <p:spPr>
          <a:xfrm xmlns:a="http://schemas.openxmlformats.org/drawingml/2006/main">
            <a:off x="6572250" y="1619250"/>
            <a:ext cx="4000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28253D"/>
                </a:solidFill>
                <a:latin typeface="Georgia"/>
                <a:ea typeface="Georgia"/>
                <a:cs typeface="Georgia"/>
              </a:defRPr>
            </a:pPr>
            <a:r>
              <a:rPr sz="1500" b="1">
                <a:solidFill>
                  <a:srgbClr val="28253D"/>
                </a:solidFill>
                <a:latin typeface="Georgia"/>
                <a:ea typeface="Georgia"/>
                <a:cs typeface="Georgia"/>
              </a:rPr>
              <a:t>Live operations</a:t>
            </a:r>
          </a:p>
        </p:txBody>
      </p:sp>
      <p:sp>
        <p:nvSpPr>
          <p:cNvPr id="11" name="">
            <a:extLst xmlns:a="http://schemas.openxmlformats.org/drawingml/2006/main">
              <a:ext uri="{FF2B5EF4-FFF2-40B4-BE49-F238E27FC236}">
                <a16:creationId xmlns:a16="http://schemas.microsoft.com/office/drawing/2014/main" id="{2B3B4C53-743A-4B30-8882-9F6958C48A2D}"/>
              </a:ext>
            </a:extLst>
          </p:cNvPr>
          <p:cNvSpPr>
            <a:spLocks xmlns:a="http://schemas.openxmlformats.org/drawingml/2006/main" noGrp="1"/>
          </p:cNvSpPr>
          <p:nvPr/>
        </p:nvSpPr>
        <p:spPr>
          <a:xfrm xmlns:a="http://schemas.openxmlformats.org/drawingml/2006/main">
            <a:off x="6572250" y="1914525"/>
            <a:ext cx="419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F6B74"/>
                </a:solidFill>
                <a:latin typeface="Arial"/>
                <a:ea typeface="Arial"/>
                <a:cs typeface="Arial"/>
              </a:defRPr>
            </a:pPr>
            <a:r>
              <a:rPr sz="1050" b="0">
                <a:solidFill>
                  <a:srgbClr val="6F6B74"/>
                </a:solidFill>
                <a:latin typeface="Arial"/>
                <a:ea typeface="Arial"/>
                <a:cs typeface="Arial"/>
              </a:rPr>
              <a:t>Jobs, manifests, evaluator output, and artifacts answer what is happening now.</a:t>
            </a:r>
          </a:p>
        </p:txBody>
      </p:sp>
      <p:sp>
        <p:nvSpPr>
          <p:cNvPr id="12" name="">
            <a:extLst xmlns:a="http://schemas.openxmlformats.org/drawingml/2006/main">
              <a:ext uri="{FF2B5EF4-FFF2-40B4-BE49-F238E27FC236}">
                <a16:creationId xmlns:a16="http://schemas.microsoft.com/office/drawing/2014/main" id="{1B88436A-A9FF-4D72-ABE8-D3E4AC675DBF}"/>
              </a:ext>
            </a:extLst>
          </p:cNvPr>
          <p:cNvSpPr>
            <a:spLocks xmlns:a="http://schemas.openxmlformats.org/drawingml/2006/main" noGrp="1"/>
          </p:cNvSpPr>
          <p:nvPr/>
        </p:nvSpPr>
        <p:spPr>
          <a:xfrm xmlns:a="http://schemas.openxmlformats.org/drawingml/2006/main">
            <a:off x="5905500" y="2667000"/>
            <a:ext cx="495300" cy="495300"/>
          </a:xfrm>
          <a:prstGeom xmlns:a="http://schemas.openxmlformats.org/drawingml/2006/main" prst="rect">
            <a:avLst/>
          </a:prstGeom>
          <a:solidFill xmlns:a="http://schemas.openxmlformats.org/drawingml/2006/main">
            <a:srgbClr val="E9878C"/>
          </a:solidFill>
          <a:ln xmlns:a="http://schemas.openxmlformats.org/drawingml/2006/main" w="19050">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28253D"/>
                </a:solidFill>
                <a:latin typeface="Georgia"/>
                <a:ea typeface="Georgia"/>
                <a:cs typeface="Georgia"/>
              </a:defRPr>
            </a:pPr>
            <a:r>
              <a:rPr sz="2100" b="1">
                <a:solidFill>
                  <a:srgbClr val="28253D"/>
                </a:solidFill>
                <a:latin typeface="Georgia"/>
                <a:ea typeface="Georgia"/>
                <a:cs typeface="Georgia"/>
              </a:rPr>
              <a:t>2</a:t>
            </a:r>
          </a:p>
        </p:txBody>
      </p:sp>
      <p:sp>
        <p:nvSpPr>
          <p:cNvPr id="13" name="">
            <a:extLst xmlns:a="http://schemas.openxmlformats.org/drawingml/2006/main">
              <a:ext uri="{FF2B5EF4-FFF2-40B4-BE49-F238E27FC236}">
                <a16:creationId xmlns:a16="http://schemas.microsoft.com/office/drawing/2014/main" id="{909BAF95-515F-423D-843F-298C3597307A}"/>
              </a:ext>
            </a:extLst>
          </p:cNvPr>
          <p:cNvSpPr>
            <a:spLocks xmlns:a="http://schemas.openxmlformats.org/drawingml/2006/main" noGrp="1"/>
          </p:cNvSpPr>
          <p:nvPr/>
        </p:nvSpPr>
        <p:spPr>
          <a:xfrm xmlns:a="http://schemas.openxmlformats.org/drawingml/2006/main">
            <a:off x="6572250" y="2667000"/>
            <a:ext cx="4000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28253D"/>
                </a:solidFill>
                <a:latin typeface="Georgia"/>
                <a:ea typeface="Georgia"/>
                <a:cs typeface="Georgia"/>
              </a:defRPr>
            </a:pPr>
            <a:r>
              <a:rPr sz="1500" b="1">
                <a:solidFill>
                  <a:srgbClr val="28253D"/>
                </a:solidFill>
                <a:latin typeface="Georgia"/>
                <a:ea typeface="Georgia"/>
                <a:cs typeface="Georgia"/>
              </a:rPr>
              <a:t>Scoped GBrain receipts</a:t>
            </a:r>
          </a:p>
        </p:txBody>
      </p:sp>
      <p:sp>
        <p:nvSpPr>
          <p:cNvPr id="14" name="">
            <a:extLst xmlns:a="http://schemas.openxmlformats.org/drawingml/2006/main">
              <a:ext uri="{FF2B5EF4-FFF2-40B4-BE49-F238E27FC236}">
                <a16:creationId xmlns:a16="http://schemas.microsoft.com/office/drawing/2014/main" id="{7C550C22-B042-4C40-A690-2D09190E6DA5}"/>
              </a:ext>
            </a:extLst>
          </p:cNvPr>
          <p:cNvSpPr>
            <a:spLocks xmlns:a="http://schemas.openxmlformats.org/drawingml/2006/main" noGrp="1"/>
          </p:cNvSpPr>
          <p:nvPr/>
        </p:nvSpPr>
        <p:spPr>
          <a:xfrm xmlns:a="http://schemas.openxmlformats.org/drawingml/2006/main">
            <a:off x="6572250" y="2962275"/>
            <a:ext cx="419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F6B74"/>
                </a:solidFill>
                <a:latin typeface="Arial"/>
                <a:ea typeface="Arial"/>
                <a:cs typeface="Arial"/>
              </a:defRPr>
            </a:pPr>
            <a:r>
              <a:rPr sz="1050" b="0">
                <a:solidFill>
                  <a:srgbClr val="6F6B74"/>
                </a:solidFill>
                <a:latin typeface="Arial"/>
                <a:ea typeface="Arial"/>
                <a:cs typeface="Arial"/>
              </a:rPr>
              <a:t>Goals, prior decisions, and verified outcomes explain why the system is here.</a:t>
            </a:r>
          </a:p>
        </p:txBody>
      </p:sp>
      <p:sp>
        <p:nvSpPr>
          <p:cNvPr id="15" name="">
            <a:extLst xmlns:a="http://schemas.openxmlformats.org/drawingml/2006/main">
              <a:ext uri="{FF2B5EF4-FFF2-40B4-BE49-F238E27FC236}">
                <a16:creationId xmlns:a16="http://schemas.microsoft.com/office/drawing/2014/main" id="{A5D72ABC-ADF0-479A-BEE3-1AC9D62E30E2}"/>
              </a:ext>
            </a:extLst>
          </p:cNvPr>
          <p:cNvSpPr>
            <a:spLocks xmlns:a="http://schemas.openxmlformats.org/drawingml/2006/main" noGrp="1"/>
          </p:cNvSpPr>
          <p:nvPr/>
        </p:nvSpPr>
        <p:spPr>
          <a:xfrm xmlns:a="http://schemas.openxmlformats.org/drawingml/2006/main">
            <a:off x="5905500" y="3714750"/>
            <a:ext cx="495300" cy="495300"/>
          </a:xfrm>
          <a:prstGeom xmlns:a="http://schemas.openxmlformats.org/drawingml/2006/main" prst="rect">
            <a:avLst/>
          </a:prstGeom>
          <a:solidFill xmlns:a="http://schemas.openxmlformats.org/drawingml/2006/main">
            <a:srgbClr val="E9878C"/>
          </a:solidFill>
          <a:ln xmlns:a="http://schemas.openxmlformats.org/drawingml/2006/main" w="19050">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28253D"/>
                </a:solidFill>
                <a:latin typeface="Georgia"/>
                <a:ea typeface="Georgia"/>
                <a:cs typeface="Georgia"/>
              </a:defRPr>
            </a:pPr>
            <a:r>
              <a:rPr sz="2100" b="1">
                <a:solidFill>
                  <a:srgbClr val="28253D"/>
                </a:solidFill>
                <a:latin typeface="Georgia"/>
                <a:ea typeface="Georgia"/>
                <a:cs typeface="Georgia"/>
              </a:rPr>
              <a:t>3</a:t>
            </a:r>
          </a:p>
        </p:txBody>
      </p:sp>
      <p:sp>
        <p:nvSpPr>
          <p:cNvPr id="16" name="">
            <a:extLst xmlns:a="http://schemas.openxmlformats.org/drawingml/2006/main">
              <a:ext uri="{FF2B5EF4-FFF2-40B4-BE49-F238E27FC236}">
                <a16:creationId xmlns:a16="http://schemas.microsoft.com/office/drawing/2014/main" id="{FB556924-9924-4B51-B9E2-929A121DB5E1}"/>
              </a:ext>
            </a:extLst>
          </p:cNvPr>
          <p:cNvSpPr>
            <a:spLocks xmlns:a="http://schemas.openxmlformats.org/drawingml/2006/main" noGrp="1"/>
          </p:cNvSpPr>
          <p:nvPr/>
        </p:nvSpPr>
        <p:spPr>
          <a:xfrm xmlns:a="http://schemas.openxmlformats.org/drawingml/2006/main">
            <a:off x="6572250" y="3714750"/>
            <a:ext cx="4000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28253D"/>
                </a:solidFill>
                <a:latin typeface="Georgia"/>
                <a:ea typeface="Georgia"/>
                <a:cs typeface="Georgia"/>
              </a:defRPr>
            </a:pPr>
            <a:r>
              <a:rPr sz="1500" b="1">
                <a:solidFill>
                  <a:srgbClr val="28253D"/>
                </a:solidFill>
                <a:latin typeface="Georgia"/>
                <a:ea typeface="Georgia"/>
                <a:cs typeface="Georgia"/>
              </a:rPr>
              <a:t>Sanitized handoffs</a:t>
            </a:r>
          </a:p>
        </p:txBody>
      </p:sp>
      <p:sp>
        <p:nvSpPr>
          <p:cNvPr id="17" name="">
            <a:extLst xmlns:a="http://schemas.openxmlformats.org/drawingml/2006/main">
              <a:ext uri="{FF2B5EF4-FFF2-40B4-BE49-F238E27FC236}">
                <a16:creationId xmlns:a16="http://schemas.microsoft.com/office/drawing/2014/main" id="{715DEB06-6A63-4FD2-A685-5CEB07726549}"/>
              </a:ext>
            </a:extLst>
          </p:cNvPr>
          <p:cNvSpPr>
            <a:spLocks xmlns:a="http://schemas.openxmlformats.org/drawingml/2006/main" noGrp="1"/>
          </p:cNvSpPr>
          <p:nvPr/>
        </p:nvSpPr>
        <p:spPr>
          <a:xfrm xmlns:a="http://schemas.openxmlformats.org/drawingml/2006/main">
            <a:off x="6572250" y="4010025"/>
            <a:ext cx="419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F6B74"/>
                </a:solidFill>
                <a:latin typeface="Arial"/>
                <a:ea typeface="Arial"/>
                <a:cs typeface="Arial"/>
              </a:defRPr>
            </a:pPr>
            <a:r>
              <a:rPr sz="1050" b="0">
                <a:solidFill>
                  <a:srgbClr val="6F6B74"/>
                </a:solidFill>
                <a:latin typeface="Arial"/>
                <a:ea typeface="Arial"/>
                <a:cs typeface="Arial"/>
              </a:rPr>
              <a:t>Recent coding context becomes useful after it is explicitly published and bounded.</a:t>
            </a:r>
          </a:p>
        </p:txBody>
      </p:sp>
      <p:sp>
        <p:nvSpPr>
          <p:cNvPr id="18" name="">
            <a:extLst xmlns:a="http://schemas.openxmlformats.org/drawingml/2006/main">
              <a:ext uri="{FF2B5EF4-FFF2-40B4-BE49-F238E27FC236}">
                <a16:creationId xmlns:a16="http://schemas.microsoft.com/office/drawing/2014/main" id="{C0371913-BFA5-4DCE-99D8-C1AA3E27A24F}"/>
              </a:ext>
            </a:extLst>
          </p:cNvPr>
          <p:cNvSpPr>
            <a:spLocks xmlns:a="http://schemas.openxmlformats.org/drawingml/2006/main" noGrp="1"/>
          </p:cNvSpPr>
          <p:nvPr/>
        </p:nvSpPr>
        <p:spPr>
          <a:xfrm xmlns:a="http://schemas.openxmlformats.org/drawingml/2006/main">
            <a:off x="5905500" y="4762500"/>
            <a:ext cx="495300" cy="495300"/>
          </a:xfrm>
          <a:prstGeom xmlns:a="http://schemas.openxmlformats.org/drawingml/2006/main" prst="rect">
            <a:avLst/>
          </a:prstGeom>
          <a:solidFill xmlns:a="http://schemas.openxmlformats.org/drawingml/2006/main">
            <a:srgbClr val="E9878C"/>
          </a:solidFill>
          <a:ln xmlns:a="http://schemas.openxmlformats.org/drawingml/2006/main" w="19050">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28253D"/>
                </a:solidFill>
                <a:latin typeface="Georgia"/>
                <a:ea typeface="Georgia"/>
                <a:cs typeface="Georgia"/>
              </a:defRPr>
            </a:pPr>
            <a:r>
              <a:rPr sz="2100" b="1">
                <a:solidFill>
                  <a:srgbClr val="28253D"/>
                </a:solidFill>
                <a:latin typeface="Georgia"/>
                <a:ea typeface="Georgia"/>
                <a:cs typeface="Georgia"/>
              </a:rPr>
              <a:t>4</a:t>
            </a:r>
          </a:p>
        </p:txBody>
      </p:sp>
      <p:sp>
        <p:nvSpPr>
          <p:cNvPr id="19" name="">
            <a:extLst xmlns:a="http://schemas.openxmlformats.org/drawingml/2006/main">
              <a:ext uri="{FF2B5EF4-FFF2-40B4-BE49-F238E27FC236}">
                <a16:creationId xmlns:a16="http://schemas.microsoft.com/office/drawing/2014/main" id="{F6FD4FB5-F7E6-4305-8E57-D682111FABFF}"/>
              </a:ext>
            </a:extLst>
          </p:cNvPr>
          <p:cNvSpPr>
            <a:spLocks xmlns:a="http://schemas.openxmlformats.org/drawingml/2006/main" noGrp="1"/>
          </p:cNvSpPr>
          <p:nvPr/>
        </p:nvSpPr>
        <p:spPr>
          <a:xfrm xmlns:a="http://schemas.openxmlformats.org/drawingml/2006/main">
            <a:off x="6572250" y="4762500"/>
            <a:ext cx="4000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28253D"/>
                </a:solidFill>
                <a:latin typeface="Georgia"/>
                <a:ea typeface="Georgia"/>
                <a:cs typeface="Georgia"/>
              </a:defRPr>
            </a:pPr>
            <a:r>
              <a:rPr sz="1500" b="1">
                <a:solidFill>
                  <a:srgbClr val="28253D"/>
                </a:solidFill>
                <a:latin typeface="Georgia"/>
                <a:ea typeface="Georgia"/>
                <a:cs typeface="Georgia"/>
              </a:rPr>
              <a:t>Historical context</a:t>
            </a:r>
          </a:p>
        </p:txBody>
      </p:sp>
      <p:sp>
        <p:nvSpPr>
          <p:cNvPr id="20" name="">
            <a:extLst xmlns:a="http://schemas.openxmlformats.org/drawingml/2006/main">
              <a:ext uri="{FF2B5EF4-FFF2-40B4-BE49-F238E27FC236}">
                <a16:creationId xmlns:a16="http://schemas.microsoft.com/office/drawing/2014/main" id="{B6829721-27EB-45CE-BE73-C062F3D73323}"/>
              </a:ext>
            </a:extLst>
          </p:cNvPr>
          <p:cNvSpPr>
            <a:spLocks xmlns:a="http://schemas.openxmlformats.org/drawingml/2006/main" noGrp="1"/>
          </p:cNvSpPr>
          <p:nvPr/>
        </p:nvSpPr>
        <p:spPr>
          <a:xfrm xmlns:a="http://schemas.openxmlformats.org/drawingml/2006/main">
            <a:off x="6572250" y="5057775"/>
            <a:ext cx="419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F6B74"/>
                </a:solidFill>
                <a:latin typeface="Arial"/>
                <a:ea typeface="Arial"/>
                <a:cs typeface="Arial"/>
              </a:defRPr>
            </a:pPr>
            <a:r>
              <a:rPr sz="1050" b="0">
                <a:solidFill>
                  <a:srgbClr val="6F6B74"/>
                </a:solidFill>
                <a:latin typeface="Arial"/>
                <a:ea typeface="Arial"/>
                <a:cs typeface="Arial"/>
              </a:rPr>
              <a:t>Older sessions support an answer; they do not become authority.</a:t>
            </a:r>
          </a:p>
        </p:txBody>
      </p:sp>
      <p:sp>
        <p:nvSpPr>
          <p:cNvPr id="21" name="">
            <a:extLst xmlns:a="http://schemas.openxmlformats.org/drawingml/2006/main">
              <a:ext uri="{FF2B5EF4-FFF2-40B4-BE49-F238E27FC236}">
                <a16:creationId xmlns:a16="http://schemas.microsoft.com/office/drawing/2014/main" id="{6571D8E5-4AF6-49BF-A8E9-1A7531F617CF}"/>
              </a:ext>
            </a:extLst>
          </p:cNvPr>
          <p:cNvSpPr>
            <a:spLocks xmlns:a="http://schemas.openxmlformats.org/drawingml/2006/main" noGrp="1"/>
          </p:cNvSpPr>
          <p:nvPr/>
        </p:nvSpPr>
        <p:spPr>
          <a:xfrm xmlns:a="http://schemas.openxmlformats.org/drawingml/2006/main">
            <a:off x="6191250" y="5810250"/>
            <a:ext cx="4762500" cy="381000"/>
          </a:xfrm>
          <a:prstGeom xmlns:a="http://schemas.openxmlformats.org/drawingml/2006/main" prst="rect">
            <a:avLst/>
          </a:prstGeom>
          <a:solidFill xmlns:a="http://schemas.openxmlformats.org/drawingml/2006/main">
            <a:srgbClr val="F7E9B6"/>
          </a:solidFill>
          <a:ln xmlns:a="http://schemas.openxmlformats.org/drawingml/2006/main" w="17145">
            <a:solidFill>
              <a:srgbClr val="28253D"/>
            </a:solidFill>
            <a:prstDash val="solid"/>
          </a:ln>
        </p:spPr>
        <p:txBody>
          <a:bodyPr xmlns:a="http://schemas.openxmlformats.org/drawingml/2006/main" lIns="76200" tIns="28575" rIns="76200" bIns="28575" anchor="ctr"/>
          <a:lstStyle xmlns:a="http://schemas.openxmlformats.org/drawingml/2006/main"/>
          <a:p xmlns:a="http://schemas.openxmlformats.org/drawingml/2006/main">
            <a:pPr algn="ctr">
              <a:defRPr sz="1200" b="1">
                <a:solidFill>
                  <a:srgbClr val="28253D"/>
                </a:solidFill>
                <a:latin typeface="Arial"/>
                <a:ea typeface="Arial"/>
                <a:cs typeface="Arial"/>
              </a:defRPr>
            </a:pPr>
            <a:r>
              <a:rPr sz="1200" b="1">
                <a:solidFill>
                  <a:srgbClr val="28253D"/>
                </a:solidFill>
                <a:latin typeface="Arial"/>
                <a:ea typeface="Arial"/>
                <a:cs typeface="Arial"/>
              </a:rPr>
              <a:t>Dated skills never override current evidence.</a:t>
            </a:r>
          </a:p>
        </p:txBody>
      </p:sp>
    </p:spTree>
    <p:extLst>
      <p:ext uri="{BB962C8B-B14F-4D97-AF65-F5344CB8AC3E}">
        <p14:creationId xmlns:p14="http://schemas.microsoft.com/office/powerpoint/2010/main" val="168210023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B4DC37-0AF8-42D6-8589-A16CFCC67C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1E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D19E828-9275-474B-86FE-535020AC8DE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9BB2FB0-2632-4403-9777-833FAECC3374}"/>
              </a:ext>
            </a:extLst>
          </p:cNvPr>
          <p:cNvSpPr>
            <a:spLocks xmlns:a="http://schemas.openxmlformats.org/drawingml/2006/main" noGrp="1"/>
          </p:cNvSpPr>
          <p:nvPr/>
        </p:nvSpPr>
        <p:spPr>
          <a:xfrm xmlns:a="http://schemas.openxmlformats.org/drawingml/2006/main">
            <a:off x="590550" y="3810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E9878C"/>
                </a:solidFill>
                <a:latin typeface="Arial"/>
                <a:ea typeface="Arial"/>
                <a:cs typeface="Arial"/>
              </a:defRPr>
            </a:pPr>
            <a:r>
              <a:rPr sz="1050" b="1">
                <a:solidFill>
                  <a:srgbClr val="E9878C"/>
                </a:solidFill>
                <a:latin typeface="Arial"/>
                <a:ea typeface="Arial"/>
                <a:cs typeface="Arial"/>
              </a:rPr>
              <a:t>KNOWLEDGE DURABILITY</a:t>
            </a:r>
          </a:p>
        </p:txBody>
      </p:sp>
      <p:sp>
        <p:nvSpPr>
          <p:cNvPr id="4" name="">
            <a:extLst xmlns:a="http://schemas.openxmlformats.org/drawingml/2006/main">
              <a:ext uri="{FF2B5EF4-FFF2-40B4-BE49-F238E27FC236}">
                <a16:creationId xmlns:a16="http://schemas.microsoft.com/office/drawing/2014/main" id="{9E297903-B06B-45F0-AD12-C7135614373C}"/>
              </a:ext>
            </a:extLst>
          </p:cNvPr>
          <p:cNvSpPr>
            <a:spLocks xmlns:a="http://schemas.openxmlformats.org/drawingml/2006/main" noGrp="1"/>
          </p:cNvSpPr>
          <p:nvPr/>
        </p:nvSpPr>
        <p:spPr>
          <a:xfrm xmlns:a="http://schemas.openxmlformats.org/drawingml/2006/main">
            <a:off x="590550" y="685800"/>
            <a:ext cx="10763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8253D"/>
                </a:solidFill>
                <a:latin typeface="Georgia"/>
                <a:ea typeface="Georgia"/>
                <a:cs typeface="Georgia"/>
              </a:defRPr>
            </a:pPr>
            <a:r>
              <a:rPr sz="2700" b="1">
                <a:solidFill>
                  <a:srgbClr val="28253D"/>
                </a:solidFill>
                <a:latin typeface="Georgia"/>
                <a:ea typeface="Georgia"/>
                <a:cs typeface="Georgia"/>
              </a:rPr>
              <a:t>GBrain stores durable receipts—not the whole machine</a:t>
            </a:r>
          </a:p>
        </p:txBody>
      </p:sp>
      <p:sp>
        <p:nvSpPr>
          <p:cNvPr id="5" name="">
            <a:extLst xmlns:a="http://schemas.openxmlformats.org/drawingml/2006/main">
              <a:ext uri="{FF2B5EF4-FFF2-40B4-BE49-F238E27FC236}">
                <a16:creationId xmlns:a16="http://schemas.microsoft.com/office/drawing/2014/main" id="{9930F778-DE1D-4C2B-9767-B46549221E3B}"/>
              </a:ext>
            </a:extLst>
          </p:cNvPr>
          <p:cNvSpPr>
            <a:spLocks xmlns:a="http://schemas.openxmlformats.org/drawingml/2006/main" noGrp="1"/>
          </p:cNvSpPr>
          <p:nvPr/>
        </p:nvSpPr>
        <p:spPr>
          <a:xfrm xmlns:a="http://schemas.openxmlformats.org/drawingml/2006/main">
            <a:off x="590550" y="6496050"/>
            <a:ext cx="11010900" cy="190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B86ECAE-BBC1-445A-B9A2-56FB1C3D38F8}"/>
              </a:ext>
            </a:extLst>
          </p:cNvPr>
          <p:cNvSpPr>
            <a:spLocks xmlns:a="http://schemas.openxmlformats.org/drawingml/2006/main" noGrp="1"/>
          </p:cNvSpPr>
          <p:nvPr/>
        </p:nvSpPr>
        <p:spPr>
          <a:xfrm xmlns:a="http://schemas.openxmlformats.org/drawingml/2006/main">
            <a:off x="590550" y="657225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F6B74"/>
                </a:solidFill>
                <a:latin typeface="Arial"/>
                <a:ea typeface="Arial"/>
                <a:cs typeface="Arial"/>
              </a:defRPr>
            </a:pPr>
            <a:r>
              <a:rPr sz="750" b="1">
                <a:solidFill>
                  <a:srgbClr val="6F6B74"/>
                </a:solidFill>
                <a:latin typeface="Arial"/>
                <a:ea typeface="Arial"/>
                <a:cs typeface="Arial"/>
              </a:rPr>
              <a:t>ANONYMIZED LOCAL AI/ML ARCHITECTURE</a:t>
            </a:r>
          </a:p>
        </p:txBody>
      </p:sp>
      <p:sp>
        <p:nvSpPr>
          <p:cNvPr id="7" name="">
            <a:extLst xmlns:a="http://schemas.openxmlformats.org/drawingml/2006/main">
              <a:ext uri="{FF2B5EF4-FFF2-40B4-BE49-F238E27FC236}">
                <a16:creationId xmlns:a16="http://schemas.microsoft.com/office/drawing/2014/main" id="{68DD9086-1A69-4C77-A86E-B1F2C2A9D655}"/>
              </a:ext>
            </a:extLst>
          </p:cNvPr>
          <p:cNvSpPr>
            <a:spLocks xmlns:a="http://schemas.openxmlformats.org/drawingml/2006/main" noGrp="1"/>
          </p:cNvSpPr>
          <p:nvPr/>
        </p:nvSpPr>
        <p:spPr>
          <a:xfrm xmlns:a="http://schemas.openxmlformats.org/drawingml/2006/main">
            <a:off x="10744200" y="65722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F6B74"/>
                </a:solidFill>
                <a:latin typeface="Arial"/>
                <a:ea typeface="Arial"/>
                <a:cs typeface="Arial"/>
              </a:defRPr>
            </a:pPr>
            <a:r>
              <a:rPr sz="750" b="1">
                <a:solidFill>
                  <a:srgbClr val="6F6B74"/>
                </a:solidFill>
                <a:latin typeface="Arial"/>
                <a:ea typeface="Arial"/>
                <a:cs typeface="Arial"/>
              </a:rPr>
              <a:t>07</a:t>
            </a:r>
          </a:p>
        </p:txBody>
      </p:sp>
      <p:sp>
        <p:nvSpPr>
          <p:cNvPr id="8" name="">
            <a:extLst xmlns:a="http://schemas.openxmlformats.org/drawingml/2006/main">
              <a:ext uri="{FF2B5EF4-FFF2-40B4-BE49-F238E27FC236}">
                <a16:creationId xmlns:a16="http://schemas.microsoft.com/office/drawing/2014/main" id="{9389D891-CE08-428D-8799-4E5F2182CA83}"/>
              </a:ext>
            </a:extLst>
          </p:cNvPr>
          <p:cNvSpPr>
            <a:spLocks xmlns:a="http://schemas.openxmlformats.org/drawingml/2006/main" noGrp="1"/>
          </p:cNvSpPr>
          <p:nvPr/>
        </p:nvSpPr>
        <p:spPr>
          <a:xfrm xmlns:a="http://schemas.openxmlformats.org/drawingml/2006/main">
            <a:off x="590550" y="1600200"/>
            <a:ext cx="2857500" cy="1428750"/>
          </a:xfrm>
          <a:prstGeom xmlns:a="http://schemas.openxmlformats.org/drawingml/2006/main" prst="rect">
            <a:avLst/>
          </a:prstGeom>
          <a:solidFill xmlns:a="http://schemas.openxmlformats.org/drawingml/2006/main">
            <a:srgbClr val="FFF8EF"/>
          </a:solidFill>
          <a:ln xmlns:a="http://schemas.openxmlformats.org/drawingml/2006/main" w="20955">
            <a:solidFill>
              <a:srgbClr val="28253D"/>
            </a:solidFill>
            <a:prstDash val="solid"/>
          </a:ln>
        </p:spPr>
      </p:sp>
      <p:sp>
        <p:nvSpPr>
          <p:cNvPr id="9" name="">
            <a:extLst xmlns:a="http://schemas.openxmlformats.org/drawingml/2006/main">
              <a:ext uri="{FF2B5EF4-FFF2-40B4-BE49-F238E27FC236}">
                <a16:creationId xmlns:a16="http://schemas.microsoft.com/office/drawing/2014/main" id="{7F1A0DE4-C4FC-4BC3-97D6-F428953658D9}"/>
              </a:ext>
            </a:extLst>
          </p:cNvPr>
          <p:cNvSpPr>
            <a:spLocks xmlns:a="http://schemas.openxmlformats.org/drawingml/2006/main" noGrp="1"/>
          </p:cNvSpPr>
          <p:nvPr/>
        </p:nvSpPr>
        <p:spPr>
          <a:xfrm xmlns:a="http://schemas.openxmlformats.org/drawingml/2006/main">
            <a:off x="590550" y="1600200"/>
            <a:ext cx="114300" cy="14287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30951A2C-1727-4EC4-AC61-16F20CFB691E}"/>
              </a:ext>
            </a:extLst>
          </p:cNvPr>
          <p:cNvSpPr>
            <a:spLocks xmlns:a="http://schemas.openxmlformats.org/drawingml/2006/main" noGrp="1"/>
          </p:cNvSpPr>
          <p:nvPr/>
        </p:nvSpPr>
        <p:spPr>
          <a:xfrm xmlns:a="http://schemas.openxmlformats.org/drawingml/2006/main">
            <a:off x="1276350" y="1790700"/>
            <a:ext cx="1981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Authored sources</a:t>
            </a:r>
          </a:p>
        </p:txBody>
      </p:sp>
      <p:sp>
        <p:nvSpPr>
          <p:cNvPr id="11" name="">
            <a:extLst xmlns:a="http://schemas.openxmlformats.org/drawingml/2006/main">
              <a:ext uri="{FF2B5EF4-FFF2-40B4-BE49-F238E27FC236}">
                <a16:creationId xmlns:a16="http://schemas.microsoft.com/office/drawing/2014/main" id="{9919BC08-A10D-4B3D-9329-27347A6A725F}"/>
              </a:ext>
            </a:extLst>
          </p:cNvPr>
          <p:cNvSpPr>
            <a:spLocks xmlns:a="http://schemas.openxmlformats.org/drawingml/2006/main" noGrp="1"/>
          </p:cNvSpPr>
          <p:nvPr/>
        </p:nvSpPr>
        <p:spPr>
          <a:xfrm xmlns:a="http://schemas.openxmlformats.org/drawingml/2006/main">
            <a:off x="857250" y="2247900"/>
            <a:ext cx="23812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Markdown decisions, procedures, outcomes, and evidence pointers</a:t>
            </a:r>
          </a:p>
        </p:txBody>
      </p:sp>
      <p:sp>
        <p:nvSpPr>
          <p:cNvPr id="12" name="">
            <a:extLst xmlns:a="http://schemas.openxmlformats.org/drawingml/2006/main">
              <a:ext uri="{FF2B5EF4-FFF2-40B4-BE49-F238E27FC236}">
                <a16:creationId xmlns:a16="http://schemas.microsoft.com/office/drawing/2014/main" id="{8C84993A-5231-4C28-9EF4-E1BAADD2BF2F}"/>
              </a:ext>
            </a:extLst>
          </p:cNvPr>
          <p:cNvSpPr>
            <a:spLocks xmlns:a="http://schemas.openxmlformats.org/drawingml/2006/main" noGrp="1"/>
          </p:cNvSpPr>
          <p:nvPr/>
        </p:nvSpPr>
        <p:spPr>
          <a:xfrm xmlns:a="http://schemas.openxmlformats.org/drawingml/2006/main">
            <a:off x="590550" y="3581400"/>
            <a:ext cx="2857500" cy="1428750"/>
          </a:xfrm>
          <a:prstGeom xmlns:a="http://schemas.openxmlformats.org/drawingml/2006/main" prst="rect">
            <a:avLst/>
          </a:prstGeom>
          <a:solidFill xmlns:a="http://schemas.openxmlformats.org/drawingml/2006/main">
            <a:srgbClr val="DDE8D3"/>
          </a:solidFill>
          <a:ln xmlns:a="http://schemas.openxmlformats.org/drawingml/2006/main" w="20955">
            <a:solidFill>
              <a:srgbClr val="28253D"/>
            </a:solidFill>
            <a:prstDash val="solid"/>
          </a:ln>
        </p:spPr>
      </p:sp>
      <p:sp>
        <p:nvSpPr>
          <p:cNvPr id="13" name="">
            <a:extLst xmlns:a="http://schemas.openxmlformats.org/drawingml/2006/main">
              <a:ext uri="{FF2B5EF4-FFF2-40B4-BE49-F238E27FC236}">
                <a16:creationId xmlns:a16="http://schemas.microsoft.com/office/drawing/2014/main" id="{7BAA9116-998B-4BE8-BAD5-D2315C250218}"/>
              </a:ext>
            </a:extLst>
          </p:cNvPr>
          <p:cNvSpPr>
            <a:spLocks xmlns:a="http://schemas.openxmlformats.org/drawingml/2006/main" noGrp="1"/>
          </p:cNvSpPr>
          <p:nvPr/>
        </p:nvSpPr>
        <p:spPr>
          <a:xfrm xmlns:a="http://schemas.openxmlformats.org/drawingml/2006/main">
            <a:off x="590550" y="3581400"/>
            <a:ext cx="114300" cy="14287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15528BA-A222-4CF4-BD1E-9EEC1B41F3C5}"/>
              </a:ext>
            </a:extLst>
          </p:cNvPr>
          <p:cNvSpPr>
            <a:spLocks xmlns:a="http://schemas.openxmlformats.org/drawingml/2006/main" noGrp="1"/>
          </p:cNvSpPr>
          <p:nvPr/>
        </p:nvSpPr>
        <p:spPr>
          <a:xfrm xmlns:a="http://schemas.openxmlformats.org/drawingml/2006/main">
            <a:off x="1276350" y="3771900"/>
            <a:ext cx="1981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Derived index</a:t>
            </a:r>
          </a:p>
        </p:txBody>
      </p:sp>
      <p:sp>
        <p:nvSpPr>
          <p:cNvPr id="15" name="">
            <a:extLst xmlns:a="http://schemas.openxmlformats.org/drawingml/2006/main">
              <a:ext uri="{FF2B5EF4-FFF2-40B4-BE49-F238E27FC236}">
                <a16:creationId xmlns:a16="http://schemas.microsoft.com/office/drawing/2014/main" id="{4BCB290B-8CA5-4763-ADB4-AF96618FFE41}"/>
              </a:ext>
            </a:extLst>
          </p:cNvPr>
          <p:cNvSpPr>
            <a:spLocks xmlns:a="http://schemas.openxmlformats.org/drawingml/2006/main" noGrp="1"/>
          </p:cNvSpPr>
          <p:nvPr/>
        </p:nvSpPr>
        <p:spPr>
          <a:xfrm xmlns:a="http://schemas.openxmlformats.org/drawingml/2006/main">
            <a:off x="857250" y="4229100"/>
            <a:ext cx="23812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Search indexes and embeddings rebuilt from the authored source</a:t>
            </a:r>
          </a:p>
        </p:txBody>
      </p:sp>
      <p:sp>
        <p:nvSpPr>
          <p:cNvPr id="16" name="">
            <a:extLst xmlns:a="http://schemas.openxmlformats.org/drawingml/2006/main">
              <a:ext uri="{FF2B5EF4-FFF2-40B4-BE49-F238E27FC236}">
                <a16:creationId xmlns:a16="http://schemas.microsoft.com/office/drawing/2014/main" id="{F16E1271-51CF-4250-9D2B-575A28DB2C7C}"/>
              </a:ext>
            </a:extLst>
          </p:cNvPr>
          <p:cNvSpPr>
            <a:spLocks xmlns:a="http://schemas.openxmlformats.org/drawingml/2006/main" noGrp="1"/>
          </p:cNvSpPr>
          <p:nvPr/>
        </p:nvSpPr>
        <p:spPr>
          <a:xfrm xmlns:a="http://schemas.openxmlformats.org/drawingml/2006/main">
            <a:off x="2000250" y="3028950"/>
            <a:ext cx="47625" cy="5524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A46EEEF-66A4-4F36-A6AE-B5032E09F514}"/>
              </a:ext>
            </a:extLst>
          </p:cNvPr>
          <p:cNvSpPr>
            <a:spLocks xmlns:a="http://schemas.openxmlformats.org/drawingml/2006/main" noGrp="1"/>
          </p:cNvSpPr>
          <p:nvPr/>
        </p:nvSpPr>
        <p:spPr>
          <a:xfrm xmlns:a="http://schemas.openxmlformats.org/drawingml/2006/main">
            <a:off x="723900" y="5467350"/>
            <a:ext cx="2590800" cy="457200"/>
          </a:xfrm>
          <a:prstGeom xmlns:a="http://schemas.openxmlformats.org/drawingml/2006/main" prst="rect">
            <a:avLst/>
          </a:prstGeom>
          <a:solidFill xmlns:a="http://schemas.openxmlformats.org/drawingml/2006/main">
            <a:srgbClr val="F7E9B6"/>
          </a:solidFill>
          <a:ln xmlns:a="http://schemas.openxmlformats.org/drawingml/2006/main" w="17145">
            <a:solidFill>
              <a:srgbClr val="28253D"/>
            </a:solidFill>
            <a:prstDash val="solid"/>
          </a:ln>
        </p:spPr>
        <p:txBody>
          <a:bodyPr xmlns:a="http://schemas.openxmlformats.org/drawingml/2006/main" lIns="76200" tIns="28575" rIns="76200" bIns="28575" anchor="ctr"/>
          <a:lstStyle xmlns:a="http://schemas.openxmlformats.org/drawingml/2006/main"/>
          <a:p xmlns:a="http://schemas.openxmlformats.org/drawingml/2006/main">
            <a:pPr algn="ctr">
              <a:defRPr sz="975" b="1">
                <a:solidFill>
                  <a:srgbClr val="28253D"/>
                </a:solidFill>
                <a:latin typeface="Arial"/>
                <a:ea typeface="Arial"/>
                <a:cs typeface="Arial"/>
              </a:defRPr>
            </a:pPr>
            <a:r>
              <a:rPr sz="975" b="1">
                <a:solidFill>
                  <a:srgbClr val="28253D"/>
                </a:solidFill>
                <a:latin typeface="Arial"/>
                <a:ea typeface="Arial"/>
                <a:cs typeface="Arial"/>
              </a:rPr>
              <a:t>PRIVATE GIT = RECOVERY FOR AUTHORED SOURCE</a:t>
            </a:r>
          </a:p>
        </p:txBody>
      </p:sp>
      <p:sp>
        <p:nvSpPr>
          <p:cNvPr id="18" name="">
            <a:extLst xmlns:a="http://schemas.openxmlformats.org/drawingml/2006/main">
              <a:ext uri="{FF2B5EF4-FFF2-40B4-BE49-F238E27FC236}">
                <a16:creationId xmlns:a16="http://schemas.microsoft.com/office/drawing/2014/main" id="{79E5D666-406C-4F00-9B9F-B424627B8AF7}"/>
              </a:ext>
            </a:extLst>
          </p:cNvPr>
          <p:cNvSpPr>
            <a:spLocks xmlns:a="http://schemas.openxmlformats.org/drawingml/2006/main" noGrp="1"/>
          </p:cNvSpPr>
          <p:nvPr/>
        </p:nvSpPr>
        <p:spPr>
          <a:xfrm xmlns:a="http://schemas.openxmlformats.org/drawingml/2006/main">
            <a:off x="4000500" y="1600200"/>
            <a:ext cx="3524250" cy="3905250"/>
          </a:xfrm>
          <a:prstGeom xmlns:a="http://schemas.openxmlformats.org/drawingml/2006/main" prst="rect">
            <a:avLst/>
          </a:prstGeom>
          <a:solidFill xmlns:a="http://schemas.openxmlformats.org/drawingml/2006/main">
            <a:srgbClr val="FFF8EF"/>
          </a:solidFill>
          <a:ln xmlns:a="http://schemas.openxmlformats.org/drawingml/2006/main" w="20955">
            <a:solidFill>
              <a:srgbClr val="28253D"/>
            </a:solidFill>
            <a:prstDash val="solid"/>
          </a:ln>
        </p:spPr>
      </p:sp>
      <p:sp>
        <p:nvSpPr>
          <p:cNvPr id="19" name="">
            <a:extLst xmlns:a="http://schemas.openxmlformats.org/drawingml/2006/main">
              <a:ext uri="{FF2B5EF4-FFF2-40B4-BE49-F238E27FC236}">
                <a16:creationId xmlns:a16="http://schemas.microsoft.com/office/drawing/2014/main" id="{6DE5DABC-4A31-484D-8288-EA97D81EBCF4}"/>
              </a:ext>
            </a:extLst>
          </p:cNvPr>
          <p:cNvSpPr>
            <a:spLocks xmlns:a="http://schemas.openxmlformats.org/drawingml/2006/main" noGrp="1"/>
          </p:cNvSpPr>
          <p:nvPr/>
        </p:nvSpPr>
        <p:spPr>
          <a:xfrm xmlns:a="http://schemas.openxmlformats.org/drawingml/2006/main">
            <a:off x="4000500" y="1600200"/>
            <a:ext cx="114300" cy="390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A7FF8F8-DA52-4498-B236-14537FCE4B17}"/>
              </a:ext>
            </a:extLst>
          </p:cNvPr>
          <p:cNvSpPr>
            <a:spLocks xmlns:a="http://schemas.openxmlformats.org/drawingml/2006/main" noGrp="1"/>
          </p:cNvSpPr>
          <p:nvPr/>
        </p:nvSpPr>
        <p:spPr>
          <a:xfrm xmlns:a="http://schemas.openxmlformats.org/drawingml/2006/main">
            <a:off x="4686300" y="1790700"/>
            <a:ext cx="2647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Belongs in GBrain</a:t>
            </a:r>
          </a:p>
        </p:txBody>
      </p:sp>
      <p:sp>
        <p:nvSpPr>
          <p:cNvPr id="21" name="">
            <a:extLst xmlns:a="http://schemas.openxmlformats.org/drawingml/2006/main">
              <a:ext uri="{FF2B5EF4-FFF2-40B4-BE49-F238E27FC236}">
                <a16:creationId xmlns:a16="http://schemas.microsoft.com/office/drawing/2014/main" id="{B2DEB4ED-1F78-4EA7-BDFC-A38E7B80B35A}"/>
              </a:ext>
            </a:extLst>
          </p:cNvPr>
          <p:cNvSpPr>
            <a:spLocks xmlns:a="http://schemas.openxmlformats.org/drawingml/2006/main" noGrp="1"/>
          </p:cNvSpPr>
          <p:nvPr/>
        </p:nvSpPr>
        <p:spPr>
          <a:xfrm xmlns:a="http://schemas.openxmlformats.org/drawingml/2006/main">
            <a:off x="4286250" y="25527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C065153A-8F22-4ADE-ABFF-20DEC95F1E00}"/>
              </a:ext>
            </a:extLst>
          </p:cNvPr>
          <p:cNvSpPr>
            <a:spLocks xmlns:a="http://schemas.openxmlformats.org/drawingml/2006/main" noGrp="1"/>
          </p:cNvSpPr>
          <p:nvPr/>
        </p:nvSpPr>
        <p:spPr>
          <a:xfrm xmlns:a="http://schemas.openxmlformats.org/drawingml/2006/main">
            <a:off x="4524375" y="2476500"/>
            <a:ext cx="2714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28253D"/>
                </a:solidFill>
                <a:latin typeface="Arial"/>
                <a:ea typeface="Arial"/>
                <a:cs typeface="Arial"/>
              </a:defRPr>
            </a:pPr>
            <a:r>
              <a:rPr sz="1275" b="0">
                <a:solidFill>
                  <a:srgbClr val="28253D"/>
                </a:solidFill>
                <a:latin typeface="Arial"/>
                <a:ea typeface="Arial"/>
                <a:cs typeface="Arial"/>
              </a:rPr>
              <a:t>Goals and evaluation gates</a:t>
            </a:r>
          </a:p>
        </p:txBody>
      </p:sp>
      <p:sp>
        <p:nvSpPr>
          <p:cNvPr id="23" name="">
            <a:extLst xmlns:a="http://schemas.openxmlformats.org/drawingml/2006/main">
              <a:ext uri="{FF2B5EF4-FFF2-40B4-BE49-F238E27FC236}">
                <a16:creationId xmlns:a16="http://schemas.microsoft.com/office/drawing/2014/main" id="{A48E18AD-080D-43EA-970A-A665AF3E5F38}"/>
              </a:ext>
            </a:extLst>
          </p:cNvPr>
          <p:cNvSpPr>
            <a:spLocks xmlns:a="http://schemas.openxmlformats.org/drawingml/2006/main" noGrp="1"/>
          </p:cNvSpPr>
          <p:nvPr/>
        </p:nvSpPr>
        <p:spPr>
          <a:xfrm xmlns:a="http://schemas.openxmlformats.org/drawingml/2006/main">
            <a:off x="4286250" y="30861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ACB7A7C1-161B-4B29-8732-78959A4166EF}"/>
              </a:ext>
            </a:extLst>
          </p:cNvPr>
          <p:cNvSpPr>
            <a:spLocks xmlns:a="http://schemas.openxmlformats.org/drawingml/2006/main" noGrp="1"/>
          </p:cNvSpPr>
          <p:nvPr/>
        </p:nvSpPr>
        <p:spPr>
          <a:xfrm xmlns:a="http://schemas.openxmlformats.org/drawingml/2006/main">
            <a:off x="4524375" y="3009900"/>
            <a:ext cx="2714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28253D"/>
                </a:solidFill>
                <a:latin typeface="Arial"/>
                <a:ea typeface="Arial"/>
                <a:cs typeface="Arial"/>
              </a:defRPr>
            </a:pPr>
            <a:r>
              <a:rPr sz="1275" b="0">
                <a:solidFill>
                  <a:srgbClr val="28253D"/>
                </a:solidFill>
                <a:latin typeface="Arial"/>
                <a:ea typeface="Arial"/>
                <a:cs typeface="Arial"/>
              </a:rPr>
              <a:t>Dataset and model identifiers</a:t>
            </a:r>
          </a:p>
        </p:txBody>
      </p:sp>
      <p:sp>
        <p:nvSpPr>
          <p:cNvPr id="25" name="">
            <a:extLst xmlns:a="http://schemas.openxmlformats.org/drawingml/2006/main">
              <a:ext uri="{FF2B5EF4-FFF2-40B4-BE49-F238E27FC236}">
                <a16:creationId xmlns:a16="http://schemas.microsoft.com/office/drawing/2014/main" id="{8EF535F0-84F3-46AC-884B-F1420BC52DBD}"/>
              </a:ext>
            </a:extLst>
          </p:cNvPr>
          <p:cNvSpPr>
            <a:spLocks xmlns:a="http://schemas.openxmlformats.org/drawingml/2006/main" noGrp="1"/>
          </p:cNvSpPr>
          <p:nvPr/>
        </p:nvSpPr>
        <p:spPr>
          <a:xfrm xmlns:a="http://schemas.openxmlformats.org/drawingml/2006/main">
            <a:off x="4286250" y="36195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7292307-A19B-4A8D-88F8-36FA5B1805CE}"/>
              </a:ext>
            </a:extLst>
          </p:cNvPr>
          <p:cNvSpPr>
            <a:spLocks xmlns:a="http://schemas.openxmlformats.org/drawingml/2006/main" noGrp="1"/>
          </p:cNvSpPr>
          <p:nvPr/>
        </p:nvSpPr>
        <p:spPr>
          <a:xfrm xmlns:a="http://schemas.openxmlformats.org/drawingml/2006/main">
            <a:off x="4524375" y="3543300"/>
            <a:ext cx="2714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28253D"/>
                </a:solidFill>
                <a:latin typeface="Arial"/>
                <a:ea typeface="Arial"/>
                <a:cs typeface="Arial"/>
              </a:defRPr>
            </a:pPr>
            <a:r>
              <a:rPr sz="1275" b="0">
                <a:solidFill>
                  <a:srgbClr val="28253D"/>
                </a:solidFill>
                <a:latin typeface="Arial"/>
                <a:ea typeface="Arial"/>
                <a:cs typeface="Arial"/>
              </a:rPr>
              <a:t>Final metric snapshots</a:t>
            </a:r>
          </a:p>
        </p:txBody>
      </p:sp>
      <p:sp>
        <p:nvSpPr>
          <p:cNvPr id="27" name="">
            <a:extLst xmlns:a="http://schemas.openxmlformats.org/drawingml/2006/main">
              <a:ext uri="{FF2B5EF4-FFF2-40B4-BE49-F238E27FC236}">
                <a16:creationId xmlns:a16="http://schemas.microsoft.com/office/drawing/2014/main" id="{8039774D-2E86-4A85-9F42-F5E8153ECD31}"/>
              </a:ext>
            </a:extLst>
          </p:cNvPr>
          <p:cNvSpPr>
            <a:spLocks xmlns:a="http://schemas.openxmlformats.org/drawingml/2006/main" noGrp="1"/>
          </p:cNvSpPr>
          <p:nvPr/>
        </p:nvSpPr>
        <p:spPr>
          <a:xfrm xmlns:a="http://schemas.openxmlformats.org/drawingml/2006/main">
            <a:off x="4286250" y="41529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E8EC26A-60A3-450B-820B-66B6ECA5DDE6}"/>
              </a:ext>
            </a:extLst>
          </p:cNvPr>
          <p:cNvSpPr>
            <a:spLocks xmlns:a="http://schemas.openxmlformats.org/drawingml/2006/main" noGrp="1"/>
          </p:cNvSpPr>
          <p:nvPr/>
        </p:nvSpPr>
        <p:spPr>
          <a:xfrm xmlns:a="http://schemas.openxmlformats.org/drawingml/2006/main">
            <a:off x="4524375" y="4076700"/>
            <a:ext cx="2714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28253D"/>
                </a:solidFill>
                <a:latin typeface="Arial"/>
                <a:ea typeface="Arial"/>
                <a:cs typeface="Arial"/>
              </a:defRPr>
            </a:pPr>
            <a:r>
              <a:rPr sz="1275" b="0">
                <a:solidFill>
                  <a:srgbClr val="28253D"/>
                </a:solidFill>
                <a:latin typeface="Arial"/>
                <a:ea typeface="Arial"/>
                <a:cs typeface="Arial"/>
              </a:rPr>
              <a:t>Decisions, failures, and lessons</a:t>
            </a:r>
          </a:p>
        </p:txBody>
      </p:sp>
      <p:sp>
        <p:nvSpPr>
          <p:cNvPr id="29" name="">
            <a:extLst xmlns:a="http://schemas.openxmlformats.org/drawingml/2006/main">
              <a:ext uri="{FF2B5EF4-FFF2-40B4-BE49-F238E27FC236}">
                <a16:creationId xmlns:a16="http://schemas.microsoft.com/office/drawing/2014/main" id="{591EE067-2CD7-4205-98C1-227125A87C0E}"/>
              </a:ext>
            </a:extLst>
          </p:cNvPr>
          <p:cNvSpPr>
            <a:spLocks xmlns:a="http://schemas.openxmlformats.org/drawingml/2006/main" noGrp="1"/>
          </p:cNvSpPr>
          <p:nvPr/>
        </p:nvSpPr>
        <p:spPr>
          <a:xfrm xmlns:a="http://schemas.openxmlformats.org/drawingml/2006/main">
            <a:off x="4286250" y="46863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7AC2AA98-C750-4B33-9DC2-D0282DAAEF81}"/>
              </a:ext>
            </a:extLst>
          </p:cNvPr>
          <p:cNvSpPr>
            <a:spLocks xmlns:a="http://schemas.openxmlformats.org/drawingml/2006/main" noGrp="1"/>
          </p:cNvSpPr>
          <p:nvPr/>
        </p:nvSpPr>
        <p:spPr>
          <a:xfrm xmlns:a="http://schemas.openxmlformats.org/drawingml/2006/main">
            <a:off x="4524375" y="4610100"/>
            <a:ext cx="2714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28253D"/>
                </a:solidFill>
                <a:latin typeface="Arial"/>
                <a:ea typeface="Arial"/>
                <a:cs typeface="Arial"/>
              </a:defRPr>
            </a:pPr>
            <a:r>
              <a:rPr sz="1275" b="0">
                <a:solidFill>
                  <a:srgbClr val="28253D"/>
                </a:solidFill>
                <a:latin typeface="Arial"/>
                <a:ea typeface="Arial"/>
                <a:cs typeface="Arial"/>
              </a:rPr>
              <a:t>Stable report and artifact references</a:t>
            </a:r>
          </a:p>
        </p:txBody>
      </p:sp>
      <p:sp>
        <p:nvSpPr>
          <p:cNvPr id="31" name="">
            <a:extLst xmlns:a="http://schemas.openxmlformats.org/drawingml/2006/main">
              <a:ext uri="{FF2B5EF4-FFF2-40B4-BE49-F238E27FC236}">
                <a16:creationId xmlns:a16="http://schemas.microsoft.com/office/drawing/2014/main" id="{D8CA0C69-8C9B-435A-9B5D-3692C9986B88}"/>
              </a:ext>
            </a:extLst>
          </p:cNvPr>
          <p:cNvSpPr>
            <a:spLocks xmlns:a="http://schemas.openxmlformats.org/drawingml/2006/main" noGrp="1"/>
          </p:cNvSpPr>
          <p:nvPr/>
        </p:nvSpPr>
        <p:spPr>
          <a:xfrm xmlns:a="http://schemas.openxmlformats.org/drawingml/2006/main">
            <a:off x="7981950" y="1600200"/>
            <a:ext cx="3619500" cy="3905250"/>
          </a:xfrm>
          <a:prstGeom xmlns:a="http://schemas.openxmlformats.org/drawingml/2006/main" prst="rect">
            <a:avLst/>
          </a:prstGeom>
          <a:solidFill xmlns:a="http://schemas.openxmlformats.org/drawingml/2006/main">
            <a:srgbClr val="F7E9B6"/>
          </a:solidFill>
          <a:ln xmlns:a="http://schemas.openxmlformats.org/drawingml/2006/main" w="20955">
            <a:solidFill>
              <a:srgbClr val="28253D"/>
            </a:solidFill>
            <a:prstDash val="solid"/>
          </a:ln>
        </p:spPr>
      </p:sp>
      <p:sp>
        <p:nvSpPr>
          <p:cNvPr id="32" name="">
            <a:extLst xmlns:a="http://schemas.openxmlformats.org/drawingml/2006/main">
              <a:ext uri="{FF2B5EF4-FFF2-40B4-BE49-F238E27FC236}">
                <a16:creationId xmlns:a16="http://schemas.microsoft.com/office/drawing/2014/main" id="{5843DF7B-12E1-49E8-8ADD-53FA00321D76}"/>
              </a:ext>
            </a:extLst>
          </p:cNvPr>
          <p:cNvSpPr>
            <a:spLocks xmlns:a="http://schemas.openxmlformats.org/drawingml/2006/main" noGrp="1"/>
          </p:cNvSpPr>
          <p:nvPr/>
        </p:nvSpPr>
        <p:spPr>
          <a:xfrm xmlns:a="http://schemas.openxmlformats.org/drawingml/2006/main">
            <a:off x="7981950" y="1600200"/>
            <a:ext cx="114300" cy="39052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B5685B75-7379-480E-8123-E32D20C90162}"/>
              </a:ext>
            </a:extLst>
          </p:cNvPr>
          <p:cNvSpPr>
            <a:spLocks xmlns:a="http://schemas.openxmlformats.org/drawingml/2006/main" noGrp="1"/>
          </p:cNvSpPr>
          <p:nvPr/>
        </p:nvSpPr>
        <p:spPr>
          <a:xfrm xmlns:a="http://schemas.openxmlformats.org/drawingml/2006/main">
            <a:off x="8667750" y="1790700"/>
            <a:ext cx="2743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Stays outside</a:t>
            </a:r>
          </a:p>
        </p:txBody>
      </p:sp>
      <p:sp>
        <p:nvSpPr>
          <p:cNvPr id="34" name="">
            <a:extLst xmlns:a="http://schemas.openxmlformats.org/drawingml/2006/main">
              <a:ext uri="{FF2B5EF4-FFF2-40B4-BE49-F238E27FC236}">
                <a16:creationId xmlns:a16="http://schemas.microsoft.com/office/drawing/2014/main" id="{1FFA62CD-7B5F-4FE2-8845-618798BA6BC0}"/>
              </a:ext>
            </a:extLst>
          </p:cNvPr>
          <p:cNvSpPr>
            <a:spLocks xmlns:a="http://schemas.openxmlformats.org/drawingml/2006/main" noGrp="1"/>
          </p:cNvSpPr>
          <p:nvPr/>
        </p:nvSpPr>
        <p:spPr>
          <a:xfrm xmlns:a="http://schemas.openxmlformats.org/drawingml/2006/main">
            <a:off x="8267700" y="25527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13B861B6-3C87-4F51-893F-CCBB295CAB3C}"/>
              </a:ext>
            </a:extLst>
          </p:cNvPr>
          <p:cNvSpPr>
            <a:spLocks xmlns:a="http://schemas.openxmlformats.org/drawingml/2006/main" noGrp="1"/>
          </p:cNvSpPr>
          <p:nvPr/>
        </p:nvSpPr>
        <p:spPr>
          <a:xfrm xmlns:a="http://schemas.openxmlformats.org/drawingml/2006/main">
            <a:off x="8505825" y="2476500"/>
            <a:ext cx="280987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28253D"/>
                </a:solidFill>
                <a:latin typeface="Arial"/>
                <a:ea typeface="Arial"/>
                <a:cs typeface="Arial"/>
              </a:defRPr>
            </a:pPr>
            <a:r>
              <a:rPr sz="1275" b="0">
                <a:solidFill>
                  <a:srgbClr val="28253D"/>
                </a:solidFill>
                <a:latin typeface="Arial"/>
                <a:ea typeface="Arial"/>
                <a:cs typeface="Arial"/>
              </a:rPr>
              <a:t>Raw training logs</a:t>
            </a:r>
          </a:p>
        </p:txBody>
      </p:sp>
      <p:sp>
        <p:nvSpPr>
          <p:cNvPr id="36" name="">
            <a:extLst xmlns:a="http://schemas.openxmlformats.org/drawingml/2006/main">
              <a:ext uri="{FF2B5EF4-FFF2-40B4-BE49-F238E27FC236}">
                <a16:creationId xmlns:a16="http://schemas.microsoft.com/office/drawing/2014/main" id="{5CF8D4C4-ECB4-4747-8D66-302F10A9FB28}"/>
              </a:ext>
            </a:extLst>
          </p:cNvPr>
          <p:cNvSpPr>
            <a:spLocks xmlns:a="http://schemas.openxmlformats.org/drawingml/2006/main" noGrp="1"/>
          </p:cNvSpPr>
          <p:nvPr/>
        </p:nvSpPr>
        <p:spPr>
          <a:xfrm xmlns:a="http://schemas.openxmlformats.org/drawingml/2006/main">
            <a:off x="8267700" y="30861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7946F1A2-51FA-468B-A385-A09CD20BB8B0}"/>
              </a:ext>
            </a:extLst>
          </p:cNvPr>
          <p:cNvSpPr>
            <a:spLocks xmlns:a="http://schemas.openxmlformats.org/drawingml/2006/main" noGrp="1"/>
          </p:cNvSpPr>
          <p:nvPr/>
        </p:nvSpPr>
        <p:spPr>
          <a:xfrm xmlns:a="http://schemas.openxmlformats.org/drawingml/2006/main">
            <a:off x="8505825" y="3009900"/>
            <a:ext cx="280987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28253D"/>
                </a:solidFill>
                <a:latin typeface="Arial"/>
                <a:ea typeface="Arial"/>
                <a:cs typeface="Arial"/>
              </a:defRPr>
            </a:pPr>
            <a:r>
              <a:rPr sz="1275" b="0">
                <a:solidFill>
                  <a:srgbClr val="28253D"/>
                </a:solidFill>
                <a:latin typeface="Arial"/>
                <a:ea typeface="Arial"/>
                <a:cs typeface="Arial"/>
              </a:rPr>
              <a:t>Checkpoints and large datasets</a:t>
            </a:r>
          </a:p>
        </p:txBody>
      </p:sp>
      <p:sp>
        <p:nvSpPr>
          <p:cNvPr id="38" name="">
            <a:extLst xmlns:a="http://schemas.openxmlformats.org/drawingml/2006/main">
              <a:ext uri="{FF2B5EF4-FFF2-40B4-BE49-F238E27FC236}">
                <a16:creationId xmlns:a16="http://schemas.microsoft.com/office/drawing/2014/main" id="{4D379464-53DA-46B8-B6E1-9160C84EC9D0}"/>
              </a:ext>
            </a:extLst>
          </p:cNvPr>
          <p:cNvSpPr>
            <a:spLocks xmlns:a="http://schemas.openxmlformats.org/drawingml/2006/main" noGrp="1"/>
          </p:cNvSpPr>
          <p:nvPr/>
        </p:nvSpPr>
        <p:spPr>
          <a:xfrm xmlns:a="http://schemas.openxmlformats.org/drawingml/2006/main">
            <a:off x="8267700" y="36195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94E1151F-59FE-47B1-96A8-39174A07290A}"/>
              </a:ext>
            </a:extLst>
          </p:cNvPr>
          <p:cNvSpPr>
            <a:spLocks xmlns:a="http://schemas.openxmlformats.org/drawingml/2006/main" noGrp="1"/>
          </p:cNvSpPr>
          <p:nvPr/>
        </p:nvSpPr>
        <p:spPr>
          <a:xfrm xmlns:a="http://schemas.openxmlformats.org/drawingml/2006/main">
            <a:off x="8505825" y="3543300"/>
            <a:ext cx="280987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28253D"/>
                </a:solidFill>
                <a:latin typeface="Arial"/>
                <a:ea typeface="Arial"/>
                <a:cs typeface="Arial"/>
              </a:defRPr>
            </a:pPr>
            <a:r>
              <a:rPr sz="1275" b="0">
                <a:solidFill>
                  <a:srgbClr val="28253D"/>
                </a:solidFill>
                <a:latin typeface="Arial"/>
                <a:ea typeface="Arial"/>
                <a:cs typeface="Arial"/>
              </a:rPr>
              <a:t>Credentials and private transcripts</a:t>
            </a:r>
          </a:p>
        </p:txBody>
      </p:sp>
      <p:sp>
        <p:nvSpPr>
          <p:cNvPr id="40" name="">
            <a:extLst xmlns:a="http://schemas.openxmlformats.org/drawingml/2006/main">
              <a:ext uri="{FF2B5EF4-FFF2-40B4-BE49-F238E27FC236}">
                <a16:creationId xmlns:a16="http://schemas.microsoft.com/office/drawing/2014/main" id="{5CB9E629-F42C-4F12-8E8D-B5EBF0C57584}"/>
              </a:ext>
            </a:extLst>
          </p:cNvPr>
          <p:cNvSpPr>
            <a:spLocks xmlns:a="http://schemas.openxmlformats.org/drawingml/2006/main" noGrp="1"/>
          </p:cNvSpPr>
          <p:nvPr/>
        </p:nvSpPr>
        <p:spPr>
          <a:xfrm xmlns:a="http://schemas.openxmlformats.org/drawingml/2006/main">
            <a:off x="8267700" y="41529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D4122B07-1313-40E5-9C8F-B053B6EC952A}"/>
              </a:ext>
            </a:extLst>
          </p:cNvPr>
          <p:cNvSpPr>
            <a:spLocks xmlns:a="http://schemas.openxmlformats.org/drawingml/2006/main" noGrp="1"/>
          </p:cNvSpPr>
          <p:nvPr/>
        </p:nvSpPr>
        <p:spPr>
          <a:xfrm xmlns:a="http://schemas.openxmlformats.org/drawingml/2006/main">
            <a:off x="8505825" y="4076700"/>
            <a:ext cx="280987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28253D"/>
                </a:solidFill>
                <a:latin typeface="Arial"/>
                <a:ea typeface="Arial"/>
                <a:cs typeface="Arial"/>
              </a:defRPr>
            </a:pPr>
            <a:r>
              <a:rPr sz="1275" b="0">
                <a:solidFill>
                  <a:srgbClr val="28253D"/>
                </a:solidFill>
                <a:latin typeface="Arial"/>
                <a:ea typeface="Arial"/>
                <a:cs typeface="Arial"/>
              </a:rPr>
              <a:t>Unrestricted home-directory content</a:t>
            </a:r>
          </a:p>
        </p:txBody>
      </p:sp>
      <p:sp>
        <p:nvSpPr>
          <p:cNvPr id="42" name="">
            <a:extLst xmlns:a="http://schemas.openxmlformats.org/drawingml/2006/main">
              <a:ext uri="{FF2B5EF4-FFF2-40B4-BE49-F238E27FC236}">
                <a16:creationId xmlns:a16="http://schemas.microsoft.com/office/drawing/2014/main" id="{8904F79A-D6EC-4949-83A9-B38E6661C7AD}"/>
              </a:ext>
            </a:extLst>
          </p:cNvPr>
          <p:cNvSpPr>
            <a:spLocks xmlns:a="http://schemas.openxmlformats.org/drawingml/2006/main" noGrp="1"/>
          </p:cNvSpPr>
          <p:nvPr/>
        </p:nvSpPr>
        <p:spPr>
          <a:xfrm xmlns:a="http://schemas.openxmlformats.org/drawingml/2006/main">
            <a:off x="8267700" y="46863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BB3C570C-F43A-4484-B6B6-5FFE0C00D4A5}"/>
              </a:ext>
            </a:extLst>
          </p:cNvPr>
          <p:cNvSpPr>
            <a:spLocks xmlns:a="http://schemas.openxmlformats.org/drawingml/2006/main" noGrp="1"/>
          </p:cNvSpPr>
          <p:nvPr/>
        </p:nvSpPr>
        <p:spPr>
          <a:xfrm xmlns:a="http://schemas.openxmlformats.org/drawingml/2006/main">
            <a:off x="8505825" y="4610100"/>
            <a:ext cx="280987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28253D"/>
                </a:solidFill>
                <a:latin typeface="Arial"/>
                <a:ea typeface="Arial"/>
                <a:cs typeface="Arial"/>
              </a:defRPr>
            </a:pPr>
            <a:r>
              <a:rPr sz="1275" b="0">
                <a:solidFill>
                  <a:srgbClr val="28253D"/>
                </a:solidFill>
                <a:latin typeface="Arial"/>
                <a:ea typeface="Arial"/>
                <a:cs typeface="Arial"/>
              </a:rPr>
              <a:t>Ephemeral process state</a:t>
            </a:r>
          </a:p>
        </p:txBody>
      </p:sp>
      <p:sp>
        <p:nvSpPr>
          <p:cNvPr id="44" name="">
            <a:extLst xmlns:a="http://schemas.openxmlformats.org/drawingml/2006/main">
              <a:ext uri="{FF2B5EF4-FFF2-40B4-BE49-F238E27FC236}">
                <a16:creationId xmlns:a16="http://schemas.microsoft.com/office/drawing/2014/main" id="{CAEB41B0-756D-48F8-A8D9-8F8F083A886D}"/>
              </a:ext>
            </a:extLst>
          </p:cNvPr>
          <p:cNvSpPr>
            <a:spLocks xmlns:a="http://schemas.openxmlformats.org/drawingml/2006/main" noGrp="1"/>
          </p:cNvSpPr>
          <p:nvPr/>
        </p:nvSpPr>
        <p:spPr>
          <a:xfrm xmlns:a="http://schemas.openxmlformats.org/drawingml/2006/main">
            <a:off x="4000500" y="5810250"/>
            <a:ext cx="7600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6F6B74"/>
                </a:solidFill>
                <a:latin typeface="Arial"/>
                <a:ea typeface="Arial"/>
                <a:cs typeface="Arial"/>
              </a:defRPr>
            </a:pPr>
            <a:r>
              <a:rPr sz="1050" b="1">
                <a:solidFill>
                  <a:srgbClr val="6F6B74"/>
                </a:solidFill>
                <a:latin typeface="Arial"/>
                <a:ea typeface="Arial"/>
                <a:cs typeface="Arial"/>
              </a:rPr>
              <a:t>Audit note: verify durability per source. The primary source was aligned; isolated sources can differ.</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d5b911fc83eb4503">
            <a:extLst>
              <a:ext uri="{96DAC541-7B7A-43D3-8B79-37D633B846F1}">
                <asvg:svgBlip xmlns:asvg="http://schemas.microsoft.com/office/drawing/2016/SVG/main" r:embed="Rd1842bcee0274149"/>
              </a:ext>
            </a:extLst>
          </a:blip>
          <a:stretch xmlns:a="http://schemas.openxmlformats.org/drawingml/2006/main"/>
        </p:blipFill>
        <p:spPr>
          <a:xfrm xmlns:a="http://schemas.openxmlformats.org/drawingml/2006/main">
            <a:off x="838200" y="1828800"/>
            <a:ext cx="323850" cy="32385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d7d7e6fb3a874ef2">
            <a:extLst>
              <a:ext uri="{96DAC541-7B7A-43D3-8B79-37D633B846F1}">
                <asvg:svgBlip xmlns:asvg="http://schemas.microsoft.com/office/drawing/2016/SVG/main" r:embed="R428021b913d642a4"/>
              </a:ext>
            </a:extLst>
          </a:blip>
          <a:stretch xmlns:a="http://schemas.openxmlformats.org/drawingml/2006/main"/>
        </p:blipFill>
        <p:spPr>
          <a:xfrm xmlns:a="http://schemas.openxmlformats.org/drawingml/2006/main">
            <a:off x="838200" y="3810000"/>
            <a:ext cx="323850" cy="323850"/>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e686598e9b244a07">
            <a:extLst>
              <a:ext uri="{96DAC541-7B7A-43D3-8B79-37D633B846F1}">
                <asvg:svgBlip xmlns:asvg="http://schemas.microsoft.com/office/drawing/2016/SVG/main" r:embed="R3137eff71cb54077"/>
              </a:ext>
            </a:extLst>
          </a:blip>
          <a:stretch xmlns:a="http://schemas.openxmlformats.org/drawingml/2006/main"/>
        </p:blipFill>
        <p:spPr>
          <a:xfrm xmlns:a="http://schemas.openxmlformats.org/drawingml/2006/main">
            <a:off x="4248150" y="1828800"/>
            <a:ext cx="323850" cy="32385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d711ec9e7c0c4e10">
            <a:extLst>
              <a:ext uri="{96DAC541-7B7A-43D3-8B79-37D633B846F1}">
                <asvg:svgBlip xmlns:asvg="http://schemas.microsoft.com/office/drawing/2016/SVG/main" r:embed="R4565fd91f8e74cbd"/>
              </a:ext>
            </a:extLst>
          </a:blip>
          <a:stretch xmlns:a="http://schemas.openxmlformats.org/drawingml/2006/main"/>
        </p:blipFill>
        <p:spPr>
          <a:xfrm xmlns:a="http://schemas.openxmlformats.org/drawingml/2006/main">
            <a:off x="8229600" y="1828800"/>
            <a:ext cx="323850" cy="323850"/>
          </a:xfrm>
          <a:prstGeom xmlns:a="http://schemas.openxmlformats.org/drawingml/2006/main" prst="rect">
            <a:avLst/>
          </a:prstGeom>
        </p:spPr>
      </p:pic>
    </p:spTree>
    <p:extLst>
      <p:ext uri="{BB962C8B-B14F-4D97-AF65-F5344CB8AC3E}">
        <p14:creationId xmlns:p14="http://schemas.microsoft.com/office/powerpoint/2010/main" val="11455572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41E3FE-4B36-4D6F-BC03-97BFBB2263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1E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BCE54B5-3A3F-4C8E-A4CA-15041298317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D13E11B-EB8C-4CF0-96C3-E9A0BA36478A}"/>
              </a:ext>
            </a:extLst>
          </p:cNvPr>
          <p:cNvSpPr>
            <a:spLocks xmlns:a="http://schemas.openxmlformats.org/drawingml/2006/main" noGrp="1"/>
          </p:cNvSpPr>
          <p:nvPr/>
        </p:nvSpPr>
        <p:spPr>
          <a:xfrm xmlns:a="http://schemas.openxmlformats.org/drawingml/2006/main">
            <a:off x="590550" y="3810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E9878C"/>
                </a:solidFill>
                <a:latin typeface="Arial"/>
                <a:ea typeface="Arial"/>
                <a:cs typeface="Arial"/>
              </a:defRPr>
            </a:pPr>
            <a:r>
              <a:rPr sz="1050" b="1">
                <a:solidFill>
                  <a:srgbClr val="E9878C"/>
                </a:solidFill>
                <a:latin typeface="Arial"/>
                <a:ea typeface="Arial"/>
                <a:cs typeface="Arial"/>
              </a:rPr>
              <a:t>TRAINING AND EVALUATION</a:t>
            </a:r>
          </a:p>
        </p:txBody>
      </p:sp>
      <p:sp>
        <p:nvSpPr>
          <p:cNvPr id="4" name="">
            <a:extLst xmlns:a="http://schemas.openxmlformats.org/drawingml/2006/main">
              <a:ext uri="{FF2B5EF4-FFF2-40B4-BE49-F238E27FC236}">
                <a16:creationId xmlns:a16="http://schemas.microsoft.com/office/drawing/2014/main" id="{79F6085C-38CC-4443-BB2E-FE67D045ECEE}"/>
              </a:ext>
            </a:extLst>
          </p:cNvPr>
          <p:cNvSpPr>
            <a:spLocks xmlns:a="http://schemas.openxmlformats.org/drawingml/2006/main" noGrp="1"/>
          </p:cNvSpPr>
          <p:nvPr/>
        </p:nvSpPr>
        <p:spPr>
          <a:xfrm xmlns:a="http://schemas.openxmlformats.org/drawingml/2006/main">
            <a:off x="590550" y="685800"/>
            <a:ext cx="10763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8253D"/>
                </a:solidFill>
                <a:latin typeface="Georgia"/>
                <a:ea typeface="Georgia"/>
                <a:cs typeface="Georgia"/>
              </a:defRPr>
            </a:pPr>
            <a:r>
              <a:rPr sz="2700" b="1">
                <a:solidFill>
                  <a:srgbClr val="28253D"/>
                </a:solidFill>
                <a:latin typeface="Georgia"/>
                <a:ea typeface="Georgia"/>
                <a:cs typeface="Georgia"/>
              </a:rPr>
              <a:t>The agent operates a task-general training loop</a:t>
            </a:r>
          </a:p>
        </p:txBody>
      </p:sp>
      <p:sp>
        <p:nvSpPr>
          <p:cNvPr id="5" name="">
            <a:extLst xmlns:a="http://schemas.openxmlformats.org/drawingml/2006/main">
              <a:ext uri="{FF2B5EF4-FFF2-40B4-BE49-F238E27FC236}">
                <a16:creationId xmlns:a16="http://schemas.microsoft.com/office/drawing/2014/main" id="{A43A22BA-840B-420A-9362-EB883E56B596}"/>
              </a:ext>
            </a:extLst>
          </p:cNvPr>
          <p:cNvSpPr>
            <a:spLocks xmlns:a="http://schemas.openxmlformats.org/drawingml/2006/main" noGrp="1"/>
          </p:cNvSpPr>
          <p:nvPr/>
        </p:nvSpPr>
        <p:spPr>
          <a:xfrm xmlns:a="http://schemas.openxmlformats.org/drawingml/2006/main">
            <a:off x="590550" y="6496050"/>
            <a:ext cx="11010900" cy="190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5C698EA1-79CC-4A5B-902A-D62B3F4A18E1}"/>
              </a:ext>
            </a:extLst>
          </p:cNvPr>
          <p:cNvSpPr>
            <a:spLocks xmlns:a="http://schemas.openxmlformats.org/drawingml/2006/main" noGrp="1"/>
          </p:cNvSpPr>
          <p:nvPr/>
        </p:nvSpPr>
        <p:spPr>
          <a:xfrm xmlns:a="http://schemas.openxmlformats.org/drawingml/2006/main">
            <a:off x="590550" y="657225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F6B74"/>
                </a:solidFill>
                <a:latin typeface="Arial"/>
                <a:ea typeface="Arial"/>
                <a:cs typeface="Arial"/>
              </a:defRPr>
            </a:pPr>
            <a:r>
              <a:rPr sz="750" b="1">
                <a:solidFill>
                  <a:srgbClr val="6F6B74"/>
                </a:solidFill>
                <a:latin typeface="Arial"/>
                <a:ea typeface="Arial"/>
                <a:cs typeface="Arial"/>
              </a:rPr>
              <a:t>ANONYMIZED LOCAL AI/ML ARCHITECTURE</a:t>
            </a:r>
          </a:p>
        </p:txBody>
      </p:sp>
      <p:sp>
        <p:nvSpPr>
          <p:cNvPr id="7" name="">
            <a:extLst xmlns:a="http://schemas.openxmlformats.org/drawingml/2006/main">
              <a:ext uri="{FF2B5EF4-FFF2-40B4-BE49-F238E27FC236}">
                <a16:creationId xmlns:a16="http://schemas.microsoft.com/office/drawing/2014/main" id="{61671FE7-1460-407D-875F-F7ADE2712F1F}"/>
              </a:ext>
            </a:extLst>
          </p:cNvPr>
          <p:cNvSpPr>
            <a:spLocks xmlns:a="http://schemas.openxmlformats.org/drawingml/2006/main" noGrp="1"/>
          </p:cNvSpPr>
          <p:nvPr/>
        </p:nvSpPr>
        <p:spPr>
          <a:xfrm xmlns:a="http://schemas.openxmlformats.org/drawingml/2006/main">
            <a:off x="10744200" y="65722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F6B74"/>
                </a:solidFill>
                <a:latin typeface="Arial"/>
                <a:ea typeface="Arial"/>
                <a:cs typeface="Arial"/>
              </a:defRPr>
            </a:pPr>
            <a:r>
              <a:rPr sz="750" b="1">
                <a:solidFill>
                  <a:srgbClr val="6F6B74"/>
                </a:solidFill>
                <a:latin typeface="Arial"/>
                <a:ea typeface="Arial"/>
                <a:cs typeface="Arial"/>
              </a:rPr>
              <a:t>08</a:t>
            </a:r>
          </a:p>
        </p:txBody>
      </p:sp>
      <p:sp>
        <p:nvSpPr>
          <p:cNvPr id="8" name="training-step-1">
            <a:extLst xmlns:a="http://schemas.openxmlformats.org/drawingml/2006/main">
              <a:ext uri="{FF2B5EF4-FFF2-40B4-BE49-F238E27FC236}">
                <a16:creationId xmlns:a16="http://schemas.microsoft.com/office/drawing/2014/main" id="{559F4080-C7E7-4627-A268-76ED70F44BB1}"/>
              </a:ext>
            </a:extLst>
          </p:cNvPr>
          <p:cNvSpPr>
            <a:spLocks xmlns:a="http://schemas.openxmlformats.org/drawingml/2006/main" noGrp="1"/>
          </p:cNvSpPr>
          <p:nvPr/>
        </p:nvSpPr>
        <p:spPr>
          <a:xfrm xmlns:a="http://schemas.openxmlformats.org/drawingml/2006/main">
            <a:off x="666750" y="1714500"/>
            <a:ext cx="2286000" cy="1009650"/>
          </a:xfrm>
          <a:prstGeom xmlns:a="http://schemas.openxmlformats.org/drawingml/2006/main" prst="rect">
            <a:avLst/>
          </a:prstGeom>
          <a:solidFill xmlns:a="http://schemas.openxmlformats.org/drawingml/2006/main">
            <a:srgbClr val="FFF8EF"/>
          </a:solidFill>
          <a:ln xmlns:a="http://schemas.openxmlformats.org/drawingml/2006/main" w="19050">
            <a:solidFill>
              <a:srgbClr val="28253D"/>
            </a:solidFill>
            <a:prstDash val="solid"/>
          </a:ln>
        </p:spPr>
      </p:sp>
      <p:sp>
        <p:nvSpPr>
          <p:cNvPr id="9" name="">
            <a:extLst xmlns:a="http://schemas.openxmlformats.org/drawingml/2006/main">
              <a:ext uri="{FF2B5EF4-FFF2-40B4-BE49-F238E27FC236}">
                <a16:creationId xmlns:a16="http://schemas.microsoft.com/office/drawing/2014/main" id="{AD6EFC1D-C28E-403D-9189-88C28D13CD5B}"/>
              </a:ext>
            </a:extLst>
          </p:cNvPr>
          <p:cNvSpPr>
            <a:spLocks xmlns:a="http://schemas.openxmlformats.org/drawingml/2006/main" noGrp="1"/>
          </p:cNvSpPr>
          <p:nvPr/>
        </p:nvSpPr>
        <p:spPr>
          <a:xfrm xmlns:a="http://schemas.openxmlformats.org/drawingml/2006/main">
            <a:off x="781050" y="182880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1</a:t>
            </a:r>
          </a:p>
        </p:txBody>
      </p:sp>
      <p:sp>
        <p:nvSpPr>
          <p:cNvPr id="10" name="">
            <a:extLst xmlns:a="http://schemas.openxmlformats.org/drawingml/2006/main">
              <a:ext uri="{FF2B5EF4-FFF2-40B4-BE49-F238E27FC236}">
                <a16:creationId xmlns:a16="http://schemas.microsoft.com/office/drawing/2014/main" id="{E3C528D3-1AF2-4D95-9F77-5E7AF207825F}"/>
              </a:ext>
            </a:extLst>
          </p:cNvPr>
          <p:cNvSpPr>
            <a:spLocks xmlns:a="http://schemas.openxmlformats.org/drawingml/2006/main" noGrp="1"/>
          </p:cNvSpPr>
          <p:nvPr/>
        </p:nvSpPr>
        <p:spPr>
          <a:xfrm xmlns:a="http://schemas.openxmlformats.org/drawingml/2006/main">
            <a:off x="1295400" y="1876425"/>
            <a:ext cx="1524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Preflight</a:t>
            </a:r>
          </a:p>
        </p:txBody>
      </p:sp>
      <p:sp>
        <p:nvSpPr>
          <p:cNvPr id="11" name="training-step-2">
            <a:extLst xmlns:a="http://schemas.openxmlformats.org/drawingml/2006/main">
              <a:ext uri="{FF2B5EF4-FFF2-40B4-BE49-F238E27FC236}">
                <a16:creationId xmlns:a16="http://schemas.microsoft.com/office/drawing/2014/main" id="{D8FFD3BD-7843-4E64-AC02-9675A3F298C2}"/>
              </a:ext>
            </a:extLst>
          </p:cNvPr>
          <p:cNvSpPr>
            <a:spLocks xmlns:a="http://schemas.openxmlformats.org/drawingml/2006/main" noGrp="1"/>
          </p:cNvSpPr>
          <p:nvPr/>
        </p:nvSpPr>
        <p:spPr>
          <a:xfrm xmlns:a="http://schemas.openxmlformats.org/drawingml/2006/main">
            <a:off x="3524250" y="1714500"/>
            <a:ext cx="2286000" cy="1009650"/>
          </a:xfrm>
          <a:prstGeom xmlns:a="http://schemas.openxmlformats.org/drawingml/2006/main" prst="rect">
            <a:avLst/>
          </a:prstGeom>
          <a:solidFill xmlns:a="http://schemas.openxmlformats.org/drawingml/2006/main">
            <a:srgbClr val="FFF8EF"/>
          </a:solidFill>
          <a:ln xmlns:a="http://schemas.openxmlformats.org/drawingml/2006/main" w="19050">
            <a:solidFill>
              <a:srgbClr val="28253D"/>
            </a:solidFill>
            <a:prstDash val="solid"/>
          </a:ln>
        </p:spPr>
      </p:sp>
      <p:sp>
        <p:nvSpPr>
          <p:cNvPr id="12" name="">
            <a:extLst xmlns:a="http://schemas.openxmlformats.org/drawingml/2006/main">
              <a:ext uri="{FF2B5EF4-FFF2-40B4-BE49-F238E27FC236}">
                <a16:creationId xmlns:a16="http://schemas.microsoft.com/office/drawing/2014/main" id="{7ECC96C3-7EF5-4FCF-BA6D-32CA9AD301EC}"/>
              </a:ext>
            </a:extLst>
          </p:cNvPr>
          <p:cNvSpPr>
            <a:spLocks xmlns:a="http://schemas.openxmlformats.org/drawingml/2006/main" noGrp="1"/>
          </p:cNvSpPr>
          <p:nvPr/>
        </p:nvSpPr>
        <p:spPr>
          <a:xfrm xmlns:a="http://schemas.openxmlformats.org/drawingml/2006/main">
            <a:off x="3638550" y="182880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2</a:t>
            </a:r>
          </a:p>
        </p:txBody>
      </p:sp>
      <p:sp>
        <p:nvSpPr>
          <p:cNvPr id="13" name="">
            <a:extLst xmlns:a="http://schemas.openxmlformats.org/drawingml/2006/main">
              <a:ext uri="{FF2B5EF4-FFF2-40B4-BE49-F238E27FC236}">
                <a16:creationId xmlns:a16="http://schemas.microsoft.com/office/drawing/2014/main" id="{B0B7B342-4F1F-46DA-A84F-F3694FCF98C1}"/>
              </a:ext>
            </a:extLst>
          </p:cNvPr>
          <p:cNvSpPr>
            <a:spLocks xmlns:a="http://schemas.openxmlformats.org/drawingml/2006/main" noGrp="1"/>
          </p:cNvSpPr>
          <p:nvPr/>
        </p:nvSpPr>
        <p:spPr>
          <a:xfrm xmlns:a="http://schemas.openxmlformats.org/drawingml/2006/main">
            <a:off x="4152900" y="1876425"/>
            <a:ext cx="1524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Launch</a:t>
            </a:r>
          </a:p>
        </p:txBody>
      </p:sp>
      <p:sp>
        <p:nvSpPr>
          <p:cNvPr id="14" name="training-step-3">
            <a:extLst xmlns:a="http://schemas.openxmlformats.org/drawingml/2006/main">
              <a:ext uri="{FF2B5EF4-FFF2-40B4-BE49-F238E27FC236}">
                <a16:creationId xmlns:a16="http://schemas.microsoft.com/office/drawing/2014/main" id="{C04E1598-5CA4-4BC6-8319-2847A7E28B2D}"/>
              </a:ext>
            </a:extLst>
          </p:cNvPr>
          <p:cNvSpPr>
            <a:spLocks xmlns:a="http://schemas.openxmlformats.org/drawingml/2006/main" noGrp="1"/>
          </p:cNvSpPr>
          <p:nvPr/>
        </p:nvSpPr>
        <p:spPr>
          <a:xfrm xmlns:a="http://schemas.openxmlformats.org/drawingml/2006/main">
            <a:off x="6381750" y="1714500"/>
            <a:ext cx="2286000" cy="1009650"/>
          </a:xfrm>
          <a:prstGeom xmlns:a="http://schemas.openxmlformats.org/drawingml/2006/main" prst="rect">
            <a:avLst/>
          </a:prstGeom>
          <a:solidFill xmlns:a="http://schemas.openxmlformats.org/drawingml/2006/main">
            <a:srgbClr val="FFF8EF"/>
          </a:solidFill>
          <a:ln xmlns:a="http://schemas.openxmlformats.org/drawingml/2006/main" w="19050">
            <a:solidFill>
              <a:srgbClr val="28253D"/>
            </a:solidFill>
            <a:prstDash val="solid"/>
          </a:ln>
        </p:spPr>
      </p:sp>
      <p:sp>
        <p:nvSpPr>
          <p:cNvPr id="15" name="">
            <a:extLst xmlns:a="http://schemas.openxmlformats.org/drawingml/2006/main">
              <a:ext uri="{FF2B5EF4-FFF2-40B4-BE49-F238E27FC236}">
                <a16:creationId xmlns:a16="http://schemas.microsoft.com/office/drawing/2014/main" id="{8ECC240A-9440-48AE-8E5C-31DF00055FF3}"/>
              </a:ext>
            </a:extLst>
          </p:cNvPr>
          <p:cNvSpPr>
            <a:spLocks xmlns:a="http://schemas.openxmlformats.org/drawingml/2006/main" noGrp="1"/>
          </p:cNvSpPr>
          <p:nvPr/>
        </p:nvSpPr>
        <p:spPr>
          <a:xfrm xmlns:a="http://schemas.openxmlformats.org/drawingml/2006/main">
            <a:off x="6496050" y="182880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3</a:t>
            </a:r>
          </a:p>
        </p:txBody>
      </p:sp>
      <p:sp>
        <p:nvSpPr>
          <p:cNvPr id="16" name="">
            <a:extLst xmlns:a="http://schemas.openxmlformats.org/drawingml/2006/main">
              <a:ext uri="{FF2B5EF4-FFF2-40B4-BE49-F238E27FC236}">
                <a16:creationId xmlns:a16="http://schemas.microsoft.com/office/drawing/2014/main" id="{F194C1FC-3703-4760-98A8-57919586287D}"/>
              </a:ext>
            </a:extLst>
          </p:cNvPr>
          <p:cNvSpPr>
            <a:spLocks xmlns:a="http://schemas.openxmlformats.org/drawingml/2006/main" noGrp="1"/>
          </p:cNvSpPr>
          <p:nvPr/>
        </p:nvSpPr>
        <p:spPr>
          <a:xfrm xmlns:a="http://schemas.openxmlformats.org/drawingml/2006/main">
            <a:off x="7010400" y="1876425"/>
            <a:ext cx="1524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Observe</a:t>
            </a:r>
          </a:p>
        </p:txBody>
      </p:sp>
      <p:sp>
        <p:nvSpPr>
          <p:cNvPr id="17" name="training-step-4">
            <a:extLst xmlns:a="http://schemas.openxmlformats.org/drawingml/2006/main">
              <a:ext uri="{FF2B5EF4-FFF2-40B4-BE49-F238E27FC236}">
                <a16:creationId xmlns:a16="http://schemas.microsoft.com/office/drawing/2014/main" id="{758BDA2C-C3AE-41C9-9096-D4AA32F6C994}"/>
              </a:ext>
            </a:extLst>
          </p:cNvPr>
          <p:cNvSpPr>
            <a:spLocks xmlns:a="http://schemas.openxmlformats.org/drawingml/2006/main" noGrp="1"/>
          </p:cNvSpPr>
          <p:nvPr/>
        </p:nvSpPr>
        <p:spPr>
          <a:xfrm xmlns:a="http://schemas.openxmlformats.org/drawingml/2006/main">
            <a:off x="9239250" y="1714500"/>
            <a:ext cx="2286000" cy="1009650"/>
          </a:xfrm>
          <a:prstGeom xmlns:a="http://schemas.openxmlformats.org/drawingml/2006/main" prst="rect">
            <a:avLst/>
          </a:prstGeom>
          <a:solidFill xmlns:a="http://schemas.openxmlformats.org/drawingml/2006/main">
            <a:srgbClr val="FFF8EF"/>
          </a:solidFill>
          <a:ln xmlns:a="http://schemas.openxmlformats.org/drawingml/2006/main" w="19050">
            <a:solidFill>
              <a:srgbClr val="28253D"/>
            </a:solidFill>
            <a:prstDash val="solid"/>
          </a:ln>
        </p:spPr>
      </p:sp>
      <p:sp>
        <p:nvSpPr>
          <p:cNvPr id="18" name="">
            <a:extLst xmlns:a="http://schemas.openxmlformats.org/drawingml/2006/main">
              <a:ext uri="{FF2B5EF4-FFF2-40B4-BE49-F238E27FC236}">
                <a16:creationId xmlns:a16="http://schemas.microsoft.com/office/drawing/2014/main" id="{5FDFBE00-AC2D-486D-A67C-EE2CE2074891}"/>
              </a:ext>
            </a:extLst>
          </p:cNvPr>
          <p:cNvSpPr>
            <a:spLocks xmlns:a="http://schemas.openxmlformats.org/drawingml/2006/main" noGrp="1"/>
          </p:cNvSpPr>
          <p:nvPr/>
        </p:nvSpPr>
        <p:spPr>
          <a:xfrm xmlns:a="http://schemas.openxmlformats.org/drawingml/2006/main">
            <a:off x="9353550" y="182880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4</a:t>
            </a:r>
          </a:p>
        </p:txBody>
      </p:sp>
      <p:sp>
        <p:nvSpPr>
          <p:cNvPr id="19" name="">
            <a:extLst xmlns:a="http://schemas.openxmlformats.org/drawingml/2006/main">
              <a:ext uri="{FF2B5EF4-FFF2-40B4-BE49-F238E27FC236}">
                <a16:creationId xmlns:a16="http://schemas.microsoft.com/office/drawing/2014/main" id="{E72136CB-EA27-49FE-A22D-611E4895C9EB}"/>
              </a:ext>
            </a:extLst>
          </p:cNvPr>
          <p:cNvSpPr>
            <a:spLocks xmlns:a="http://schemas.openxmlformats.org/drawingml/2006/main" noGrp="1"/>
          </p:cNvSpPr>
          <p:nvPr/>
        </p:nvSpPr>
        <p:spPr>
          <a:xfrm xmlns:a="http://schemas.openxmlformats.org/drawingml/2006/main">
            <a:off x="9867900" y="1876425"/>
            <a:ext cx="1524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Evaluate</a:t>
            </a:r>
          </a:p>
        </p:txBody>
      </p:sp>
      <p:sp>
        <p:nvSpPr>
          <p:cNvPr id="20" name="training-step-5">
            <a:extLst xmlns:a="http://schemas.openxmlformats.org/drawingml/2006/main">
              <a:ext uri="{FF2B5EF4-FFF2-40B4-BE49-F238E27FC236}">
                <a16:creationId xmlns:a16="http://schemas.microsoft.com/office/drawing/2014/main" id="{7D7E5AD8-7B77-4198-972C-1BE527EB1D6C}"/>
              </a:ext>
            </a:extLst>
          </p:cNvPr>
          <p:cNvSpPr>
            <a:spLocks xmlns:a="http://schemas.openxmlformats.org/drawingml/2006/main" noGrp="1"/>
          </p:cNvSpPr>
          <p:nvPr/>
        </p:nvSpPr>
        <p:spPr>
          <a:xfrm xmlns:a="http://schemas.openxmlformats.org/drawingml/2006/main">
            <a:off x="2095500" y="3714750"/>
            <a:ext cx="2286000" cy="1009650"/>
          </a:xfrm>
          <a:prstGeom xmlns:a="http://schemas.openxmlformats.org/drawingml/2006/main" prst="rect">
            <a:avLst/>
          </a:prstGeom>
          <a:solidFill xmlns:a="http://schemas.openxmlformats.org/drawingml/2006/main">
            <a:srgbClr val="F7E9B6"/>
          </a:solidFill>
          <a:ln xmlns:a="http://schemas.openxmlformats.org/drawingml/2006/main" w="19050">
            <a:solidFill>
              <a:srgbClr val="28253D"/>
            </a:solidFill>
            <a:prstDash val="solid"/>
          </a:ln>
        </p:spPr>
      </p:sp>
      <p:sp>
        <p:nvSpPr>
          <p:cNvPr id="21" name="">
            <a:extLst xmlns:a="http://schemas.openxmlformats.org/drawingml/2006/main">
              <a:ext uri="{FF2B5EF4-FFF2-40B4-BE49-F238E27FC236}">
                <a16:creationId xmlns:a16="http://schemas.microsoft.com/office/drawing/2014/main" id="{7BFF777F-85B4-491F-A299-BEE3D892BC0D}"/>
              </a:ext>
            </a:extLst>
          </p:cNvPr>
          <p:cNvSpPr>
            <a:spLocks xmlns:a="http://schemas.openxmlformats.org/drawingml/2006/main" noGrp="1"/>
          </p:cNvSpPr>
          <p:nvPr/>
        </p:nvSpPr>
        <p:spPr>
          <a:xfrm xmlns:a="http://schemas.openxmlformats.org/drawingml/2006/main">
            <a:off x="2209800" y="382905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5</a:t>
            </a:r>
          </a:p>
        </p:txBody>
      </p:sp>
      <p:sp>
        <p:nvSpPr>
          <p:cNvPr id="22" name="">
            <a:extLst xmlns:a="http://schemas.openxmlformats.org/drawingml/2006/main">
              <a:ext uri="{FF2B5EF4-FFF2-40B4-BE49-F238E27FC236}">
                <a16:creationId xmlns:a16="http://schemas.microsoft.com/office/drawing/2014/main" id="{5DF4980A-191D-45C6-8795-4D6AC4BF2D65}"/>
              </a:ext>
            </a:extLst>
          </p:cNvPr>
          <p:cNvSpPr>
            <a:spLocks xmlns:a="http://schemas.openxmlformats.org/drawingml/2006/main" noGrp="1"/>
          </p:cNvSpPr>
          <p:nvPr/>
        </p:nvSpPr>
        <p:spPr>
          <a:xfrm xmlns:a="http://schemas.openxmlformats.org/drawingml/2006/main">
            <a:off x="2724150" y="3876675"/>
            <a:ext cx="1524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Decide</a:t>
            </a:r>
          </a:p>
        </p:txBody>
      </p:sp>
      <p:sp>
        <p:nvSpPr>
          <p:cNvPr id="23" name="training-step-6">
            <a:extLst xmlns:a="http://schemas.openxmlformats.org/drawingml/2006/main">
              <a:ext uri="{FF2B5EF4-FFF2-40B4-BE49-F238E27FC236}">
                <a16:creationId xmlns:a16="http://schemas.microsoft.com/office/drawing/2014/main" id="{D3B9C9A3-755F-4C89-B3F4-92BF46D22B4D}"/>
              </a:ext>
            </a:extLst>
          </p:cNvPr>
          <p:cNvSpPr>
            <a:spLocks xmlns:a="http://schemas.openxmlformats.org/drawingml/2006/main" noGrp="1"/>
          </p:cNvSpPr>
          <p:nvPr/>
        </p:nvSpPr>
        <p:spPr>
          <a:xfrm xmlns:a="http://schemas.openxmlformats.org/drawingml/2006/main">
            <a:off x="4953000" y="3714750"/>
            <a:ext cx="2286000" cy="1009650"/>
          </a:xfrm>
          <a:prstGeom xmlns:a="http://schemas.openxmlformats.org/drawingml/2006/main" prst="rect">
            <a:avLst/>
          </a:prstGeom>
          <a:solidFill xmlns:a="http://schemas.openxmlformats.org/drawingml/2006/main">
            <a:srgbClr val="FFF8EF"/>
          </a:solidFill>
          <a:ln xmlns:a="http://schemas.openxmlformats.org/drawingml/2006/main" w="19050">
            <a:solidFill>
              <a:srgbClr val="28253D"/>
            </a:solidFill>
            <a:prstDash val="solid"/>
          </a:ln>
        </p:spPr>
      </p:sp>
      <p:sp>
        <p:nvSpPr>
          <p:cNvPr id="24" name="">
            <a:extLst xmlns:a="http://schemas.openxmlformats.org/drawingml/2006/main">
              <a:ext uri="{FF2B5EF4-FFF2-40B4-BE49-F238E27FC236}">
                <a16:creationId xmlns:a16="http://schemas.microsoft.com/office/drawing/2014/main" id="{255CB692-731F-4A91-9444-9BC0D5EA1EAF}"/>
              </a:ext>
            </a:extLst>
          </p:cNvPr>
          <p:cNvSpPr>
            <a:spLocks xmlns:a="http://schemas.openxmlformats.org/drawingml/2006/main" noGrp="1"/>
          </p:cNvSpPr>
          <p:nvPr/>
        </p:nvSpPr>
        <p:spPr>
          <a:xfrm xmlns:a="http://schemas.openxmlformats.org/drawingml/2006/main">
            <a:off x="5067300" y="382905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6</a:t>
            </a:r>
          </a:p>
        </p:txBody>
      </p:sp>
      <p:sp>
        <p:nvSpPr>
          <p:cNvPr id="25" name="">
            <a:extLst xmlns:a="http://schemas.openxmlformats.org/drawingml/2006/main">
              <a:ext uri="{FF2B5EF4-FFF2-40B4-BE49-F238E27FC236}">
                <a16:creationId xmlns:a16="http://schemas.microsoft.com/office/drawing/2014/main" id="{D28B4931-9CEE-4A02-9058-028FC890CD40}"/>
              </a:ext>
            </a:extLst>
          </p:cNvPr>
          <p:cNvSpPr>
            <a:spLocks xmlns:a="http://schemas.openxmlformats.org/drawingml/2006/main" noGrp="1"/>
          </p:cNvSpPr>
          <p:nvPr/>
        </p:nvSpPr>
        <p:spPr>
          <a:xfrm xmlns:a="http://schemas.openxmlformats.org/drawingml/2006/main">
            <a:off x="5581650" y="3876675"/>
            <a:ext cx="1524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Report</a:t>
            </a:r>
          </a:p>
        </p:txBody>
      </p:sp>
      <p:sp>
        <p:nvSpPr>
          <p:cNvPr id="26" name="training-step-7">
            <a:extLst xmlns:a="http://schemas.openxmlformats.org/drawingml/2006/main">
              <a:ext uri="{FF2B5EF4-FFF2-40B4-BE49-F238E27FC236}">
                <a16:creationId xmlns:a16="http://schemas.microsoft.com/office/drawing/2014/main" id="{485F5803-48F5-4804-BAA6-20089ACD07C7}"/>
              </a:ext>
            </a:extLst>
          </p:cNvPr>
          <p:cNvSpPr>
            <a:spLocks xmlns:a="http://schemas.openxmlformats.org/drawingml/2006/main" noGrp="1"/>
          </p:cNvSpPr>
          <p:nvPr/>
        </p:nvSpPr>
        <p:spPr>
          <a:xfrm xmlns:a="http://schemas.openxmlformats.org/drawingml/2006/main">
            <a:off x="7810500" y="3714750"/>
            <a:ext cx="2286000" cy="1009650"/>
          </a:xfrm>
          <a:prstGeom xmlns:a="http://schemas.openxmlformats.org/drawingml/2006/main" prst="rect">
            <a:avLst/>
          </a:prstGeom>
          <a:solidFill xmlns:a="http://schemas.openxmlformats.org/drawingml/2006/main">
            <a:srgbClr val="DDE8D3"/>
          </a:solidFill>
          <a:ln xmlns:a="http://schemas.openxmlformats.org/drawingml/2006/main" w="19050">
            <a:solidFill>
              <a:srgbClr val="28253D"/>
            </a:solidFill>
            <a:prstDash val="solid"/>
          </a:ln>
        </p:spPr>
      </p:sp>
      <p:sp>
        <p:nvSpPr>
          <p:cNvPr id="27" name="">
            <a:extLst xmlns:a="http://schemas.openxmlformats.org/drawingml/2006/main">
              <a:ext uri="{FF2B5EF4-FFF2-40B4-BE49-F238E27FC236}">
                <a16:creationId xmlns:a16="http://schemas.microsoft.com/office/drawing/2014/main" id="{070F23A1-A78E-4A58-8DD8-8D65EAF428EA}"/>
              </a:ext>
            </a:extLst>
          </p:cNvPr>
          <p:cNvSpPr>
            <a:spLocks xmlns:a="http://schemas.openxmlformats.org/drawingml/2006/main" noGrp="1"/>
          </p:cNvSpPr>
          <p:nvPr/>
        </p:nvSpPr>
        <p:spPr>
          <a:xfrm xmlns:a="http://schemas.openxmlformats.org/drawingml/2006/main">
            <a:off x="7924800" y="3829050"/>
            <a:ext cx="400050" cy="400050"/>
          </a:xfrm>
          <a:prstGeom xmlns:a="http://schemas.openxmlformats.org/drawingml/2006/main" prst="rect">
            <a:avLst/>
          </a:prstGeom>
          <a:solidFill xmlns:a="http://schemas.openxmlformats.org/drawingml/2006/main">
            <a:srgbClr val="E9878C"/>
          </a:solidFill>
          <a:ln xmlns:a="http://schemas.openxmlformats.org/drawingml/2006/main" w="14288">
            <a:solidFill>
              <a:srgbClr val="28253D"/>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28253D"/>
                </a:solidFill>
                <a:latin typeface="Georgia"/>
                <a:ea typeface="Georgia"/>
                <a:cs typeface="Georgia"/>
              </a:defRPr>
            </a:pPr>
            <a:r>
              <a:rPr sz="1650" b="1">
                <a:solidFill>
                  <a:srgbClr val="28253D"/>
                </a:solidFill>
                <a:latin typeface="Georgia"/>
                <a:ea typeface="Georgia"/>
                <a:cs typeface="Georgia"/>
              </a:rPr>
              <a:t>7</a:t>
            </a:r>
          </a:p>
        </p:txBody>
      </p:sp>
      <p:sp>
        <p:nvSpPr>
          <p:cNvPr id="28" name="">
            <a:extLst xmlns:a="http://schemas.openxmlformats.org/drawingml/2006/main">
              <a:ext uri="{FF2B5EF4-FFF2-40B4-BE49-F238E27FC236}">
                <a16:creationId xmlns:a16="http://schemas.microsoft.com/office/drawing/2014/main" id="{FB956A56-25E2-4572-92C0-5CD908E43261}"/>
              </a:ext>
            </a:extLst>
          </p:cNvPr>
          <p:cNvSpPr>
            <a:spLocks xmlns:a="http://schemas.openxmlformats.org/drawingml/2006/main" noGrp="1"/>
          </p:cNvSpPr>
          <p:nvPr/>
        </p:nvSpPr>
        <p:spPr>
          <a:xfrm xmlns:a="http://schemas.openxmlformats.org/drawingml/2006/main">
            <a:off x="8439150" y="3876675"/>
            <a:ext cx="1524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28253D"/>
                </a:solidFill>
                <a:latin typeface="Arial"/>
                <a:ea typeface="Arial"/>
                <a:cs typeface="Arial"/>
              </a:defRPr>
            </a:pPr>
            <a:r>
              <a:rPr sz="1200" b="1">
                <a:solidFill>
                  <a:srgbClr val="28253D"/>
                </a:solidFill>
                <a:latin typeface="Arial"/>
                <a:ea typeface="Arial"/>
                <a:cs typeface="Arial"/>
              </a:rPr>
              <a:t>Curate</a:t>
            </a:r>
          </a:p>
        </p:txBody>
      </p:sp>
      <p:sp>
        <p:nvSpPr>
          <p:cNvPr id="29" name="">
            <a:extLst xmlns:a="http://schemas.openxmlformats.org/drawingml/2006/main">
              <a:ext uri="{FF2B5EF4-FFF2-40B4-BE49-F238E27FC236}">
                <a16:creationId xmlns:a16="http://schemas.microsoft.com/office/drawing/2014/main" id="{50EEBB26-1237-4DA2-8B0C-1F6F8E5F66FD}"/>
              </a:ext>
            </a:extLst>
          </p:cNvPr>
          <p:cNvSpPr>
            <a:spLocks xmlns:a="http://schemas.openxmlformats.org/drawingml/2006/main" noGrp="1"/>
          </p:cNvSpPr>
          <p:nvPr/>
        </p:nvSpPr>
        <p:spPr>
          <a:xfrm xmlns:a="http://schemas.openxmlformats.org/drawingml/2006/main">
            <a:off x="2952750" y="2190750"/>
            <a:ext cx="571500" cy="47625"/>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F799D292-94DD-48A2-A24A-713DB68F4061}"/>
              </a:ext>
            </a:extLst>
          </p:cNvPr>
          <p:cNvSpPr>
            <a:spLocks xmlns:a="http://schemas.openxmlformats.org/drawingml/2006/main" noGrp="1"/>
          </p:cNvSpPr>
          <p:nvPr/>
        </p:nvSpPr>
        <p:spPr>
          <a:xfrm xmlns:a="http://schemas.openxmlformats.org/drawingml/2006/main">
            <a:off x="5810250" y="2190750"/>
            <a:ext cx="571500" cy="47625"/>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A817001A-3E98-480F-8852-95971917279E}"/>
              </a:ext>
            </a:extLst>
          </p:cNvPr>
          <p:cNvSpPr>
            <a:spLocks xmlns:a="http://schemas.openxmlformats.org/drawingml/2006/main" noGrp="1"/>
          </p:cNvSpPr>
          <p:nvPr/>
        </p:nvSpPr>
        <p:spPr>
          <a:xfrm xmlns:a="http://schemas.openxmlformats.org/drawingml/2006/main">
            <a:off x="8667750" y="2190750"/>
            <a:ext cx="571500" cy="47625"/>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5F8BA559-8E73-4A78-AC33-3355BF2401AD}"/>
              </a:ext>
            </a:extLst>
          </p:cNvPr>
          <p:cNvSpPr>
            <a:spLocks xmlns:a="http://schemas.openxmlformats.org/drawingml/2006/main" noGrp="1"/>
          </p:cNvSpPr>
          <p:nvPr/>
        </p:nvSpPr>
        <p:spPr>
          <a:xfrm xmlns:a="http://schemas.openxmlformats.org/drawingml/2006/main">
            <a:off x="10382250" y="2724150"/>
            <a:ext cx="47625" cy="5524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4E801D8A-2553-4632-A148-D11025D3E2A3}"/>
              </a:ext>
            </a:extLst>
          </p:cNvPr>
          <p:cNvSpPr>
            <a:spLocks xmlns:a="http://schemas.openxmlformats.org/drawingml/2006/main" noGrp="1"/>
          </p:cNvSpPr>
          <p:nvPr/>
        </p:nvSpPr>
        <p:spPr>
          <a:xfrm xmlns:a="http://schemas.openxmlformats.org/drawingml/2006/main">
            <a:off x="3238500" y="3276600"/>
            <a:ext cx="7191375" cy="47625"/>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F5367F89-F6AB-47F6-98B9-12C0AE5F88E9}"/>
              </a:ext>
            </a:extLst>
          </p:cNvPr>
          <p:cNvSpPr>
            <a:spLocks xmlns:a="http://schemas.openxmlformats.org/drawingml/2006/main" noGrp="1"/>
          </p:cNvSpPr>
          <p:nvPr/>
        </p:nvSpPr>
        <p:spPr>
          <a:xfrm xmlns:a="http://schemas.openxmlformats.org/drawingml/2006/main">
            <a:off x="3238500" y="3276600"/>
            <a:ext cx="47625" cy="4381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ACC92B31-D74F-4AA8-B0D7-9E5967E1E983}"/>
              </a:ext>
            </a:extLst>
          </p:cNvPr>
          <p:cNvSpPr>
            <a:spLocks xmlns:a="http://schemas.openxmlformats.org/drawingml/2006/main" noGrp="1"/>
          </p:cNvSpPr>
          <p:nvPr/>
        </p:nvSpPr>
        <p:spPr>
          <a:xfrm xmlns:a="http://schemas.openxmlformats.org/drawingml/2006/main">
            <a:off x="4381500" y="4191000"/>
            <a:ext cx="571500" cy="47625"/>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5E224D43-B686-4871-BFCF-27BCF8D2802D}"/>
              </a:ext>
            </a:extLst>
          </p:cNvPr>
          <p:cNvSpPr>
            <a:spLocks xmlns:a="http://schemas.openxmlformats.org/drawingml/2006/main" noGrp="1"/>
          </p:cNvSpPr>
          <p:nvPr/>
        </p:nvSpPr>
        <p:spPr>
          <a:xfrm xmlns:a="http://schemas.openxmlformats.org/drawingml/2006/main">
            <a:off x="7239000" y="4191000"/>
            <a:ext cx="571500" cy="47625"/>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BE493E8D-3825-47C3-966B-9DC69DE266CF}"/>
              </a:ext>
            </a:extLst>
          </p:cNvPr>
          <p:cNvSpPr>
            <a:spLocks xmlns:a="http://schemas.openxmlformats.org/drawingml/2006/main" noGrp="1"/>
          </p:cNvSpPr>
          <p:nvPr/>
        </p:nvSpPr>
        <p:spPr>
          <a:xfrm xmlns:a="http://schemas.openxmlformats.org/drawingml/2006/main">
            <a:off x="1333500" y="5314950"/>
            <a:ext cx="9525000" cy="476250"/>
          </a:xfrm>
          <a:prstGeom xmlns:a="http://schemas.openxmlformats.org/drawingml/2006/main" prst="rect">
            <a:avLst/>
          </a:prstGeom>
          <a:solidFill xmlns:a="http://schemas.openxmlformats.org/drawingml/2006/main">
            <a:srgbClr val="E9878C"/>
          </a:solidFill>
          <a:ln xmlns:a="http://schemas.openxmlformats.org/drawingml/2006/main" w="17145">
            <a:solidFill>
              <a:srgbClr val="28253D"/>
            </a:solidFill>
            <a:prstDash val="solid"/>
          </a:ln>
        </p:spPr>
        <p:txBody>
          <a:bodyPr xmlns:a="http://schemas.openxmlformats.org/drawingml/2006/main" lIns="76200" tIns="28575" rIns="76200" bIns="28575" anchor="ctr"/>
          <a:lstStyle xmlns:a="http://schemas.openxmlformats.org/drawingml/2006/main"/>
          <a:p xmlns:a="http://schemas.openxmlformats.org/drawingml/2006/main">
            <a:pPr algn="ctr">
              <a:defRPr sz="1500" b="1">
                <a:solidFill>
                  <a:srgbClr val="28253D"/>
                </a:solidFill>
                <a:latin typeface="Arial"/>
                <a:ea typeface="Arial"/>
                <a:cs typeface="Arial"/>
              </a:defRPr>
            </a:pPr>
            <a:r>
              <a:rPr sz="1500" b="1">
                <a:solidFill>
                  <a:srgbClr val="28253D"/>
                </a:solidFill>
                <a:latin typeface="Arial"/>
                <a:ea typeface="Arial"/>
                <a:cs typeface="Arial"/>
              </a:rPr>
              <a:t>Embedding fine-tuning is one profile—not the identity of the platform.</a:t>
            </a:r>
          </a:p>
        </p:txBody>
      </p:sp>
      <p:sp>
        <p:nvSpPr>
          <p:cNvPr id="38" name="">
            <a:extLst xmlns:a="http://schemas.openxmlformats.org/drawingml/2006/main">
              <a:ext uri="{FF2B5EF4-FFF2-40B4-BE49-F238E27FC236}">
                <a16:creationId xmlns:a16="http://schemas.microsoft.com/office/drawing/2014/main" id="{49D91C54-EA64-4594-AE50-212A1878F48C}"/>
              </a:ext>
            </a:extLst>
          </p:cNvPr>
          <p:cNvSpPr>
            <a:spLocks xmlns:a="http://schemas.openxmlformats.org/drawingml/2006/main" noGrp="1"/>
          </p:cNvSpPr>
          <p:nvPr/>
        </p:nvSpPr>
        <p:spPr>
          <a:xfrm xmlns:a="http://schemas.openxmlformats.org/drawingml/2006/main">
            <a:off x="1562100" y="5943600"/>
            <a:ext cx="90678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28253D"/>
                </a:solidFill>
                <a:latin typeface="Arial"/>
                <a:ea typeface="Arial"/>
                <a:cs typeface="Arial"/>
              </a:defRPr>
            </a:pPr>
            <a:r>
              <a:rPr sz="1125" b="0">
                <a:solidFill>
                  <a:srgbClr val="28253D"/>
                </a:solidFill>
                <a:latin typeface="Arial"/>
                <a:ea typeface="Arial"/>
                <a:cs typeface="Arial"/>
              </a:rPr>
              <a:t>The same operator pattern can support SFT, preference optimization, RL workflows, distillation, adapters, and future full-model training.</a:t>
            </a:r>
          </a:p>
        </p:txBody>
      </p:sp>
    </p:spTree>
    <p:extLst>
      <p:ext uri="{BB962C8B-B14F-4D97-AF65-F5344CB8AC3E}">
        <p14:creationId xmlns:p14="http://schemas.microsoft.com/office/powerpoint/2010/main" val="149319448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4E28BB-632F-44A2-B955-FCBBDE35ED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1E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B7AFFDC-76B0-429E-8A07-13DE6F66059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F33F9FC-5E01-4CDC-9EF8-EA61A89F59FC}"/>
              </a:ext>
            </a:extLst>
          </p:cNvPr>
          <p:cNvSpPr>
            <a:spLocks xmlns:a="http://schemas.openxmlformats.org/drawingml/2006/main" noGrp="1"/>
          </p:cNvSpPr>
          <p:nvPr/>
        </p:nvSpPr>
        <p:spPr>
          <a:xfrm xmlns:a="http://schemas.openxmlformats.org/drawingml/2006/main">
            <a:off x="590550" y="3810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E9878C"/>
                </a:solidFill>
                <a:latin typeface="Arial"/>
                <a:ea typeface="Arial"/>
                <a:cs typeface="Arial"/>
              </a:defRPr>
            </a:pPr>
            <a:r>
              <a:rPr sz="1050" b="1">
                <a:solidFill>
                  <a:srgbClr val="E9878C"/>
                </a:solidFill>
                <a:latin typeface="Arial"/>
                <a:ea typeface="Arial"/>
                <a:cs typeface="Arial"/>
              </a:rPr>
              <a:t>VOICE PATH</a:t>
            </a:r>
          </a:p>
        </p:txBody>
      </p:sp>
      <p:sp>
        <p:nvSpPr>
          <p:cNvPr id="4" name="">
            <a:extLst xmlns:a="http://schemas.openxmlformats.org/drawingml/2006/main">
              <a:ext uri="{FF2B5EF4-FFF2-40B4-BE49-F238E27FC236}">
                <a16:creationId xmlns:a16="http://schemas.microsoft.com/office/drawing/2014/main" id="{C8D0C78D-BB3A-46FC-ADC1-6C499CFE07C2}"/>
              </a:ext>
            </a:extLst>
          </p:cNvPr>
          <p:cNvSpPr>
            <a:spLocks xmlns:a="http://schemas.openxmlformats.org/drawingml/2006/main" noGrp="1"/>
          </p:cNvSpPr>
          <p:nvPr/>
        </p:nvSpPr>
        <p:spPr>
          <a:xfrm xmlns:a="http://schemas.openxmlformats.org/drawingml/2006/main">
            <a:off x="590550" y="685800"/>
            <a:ext cx="10763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8253D"/>
                </a:solidFill>
                <a:latin typeface="Georgia"/>
                <a:ea typeface="Georgia"/>
                <a:cs typeface="Georgia"/>
              </a:defRPr>
            </a:pPr>
            <a:r>
              <a:rPr sz="2700" b="1">
                <a:solidFill>
                  <a:srgbClr val="28253D"/>
                </a:solidFill>
                <a:latin typeface="Georgia"/>
                <a:ea typeface="Georgia"/>
                <a:cs typeface="Georgia"/>
              </a:rPr>
              <a:t>TARS is the voice/persona layer around the same agent</a:t>
            </a:r>
          </a:p>
        </p:txBody>
      </p:sp>
      <p:sp>
        <p:nvSpPr>
          <p:cNvPr id="5" name="">
            <a:extLst xmlns:a="http://schemas.openxmlformats.org/drawingml/2006/main">
              <a:ext uri="{FF2B5EF4-FFF2-40B4-BE49-F238E27FC236}">
                <a16:creationId xmlns:a16="http://schemas.microsoft.com/office/drawing/2014/main" id="{8CC359B6-CC73-4C9C-8EC9-6D08CAFDB0CE}"/>
              </a:ext>
            </a:extLst>
          </p:cNvPr>
          <p:cNvSpPr>
            <a:spLocks xmlns:a="http://schemas.openxmlformats.org/drawingml/2006/main" noGrp="1"/>
          </p:cNvSpPr>
          <p:nvPr/>
        </p:nvSpPr>
        <p:spPr>
          <a:xfrm xmlns:a="http://schemas.openxmlformats.org/drawingml/2006/main">
            <a:off x="590550" y="6496050"/>
            <a:ext cx="11010900" cy="190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7F4706A6-54F7-44CC-94BD-81FB6E1A19B0}"/>
              </a:ext>
            </a:extLst>
          </p:cNvPr>
          <p:cNvSpPr>
            <a:spLocks xmlns:a="http://schemas.openxmlformats.org/drawingml/2006/main" noGrp="1"/>
          </p:cNvSpPr>
          <p:nvPr/>
        </p:nvSpPr>
        <p:spPr>
          <a:xfrm xmlns:a="http://schemas.openxmlformats.org/drawingml/2006/main">
            <a:off x="590550" y="657225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F6B74"/>
                </a:solidFill>
                <a:latin typeface="Arial"/>
                <a:ea typeface="Arial"/>
                <a:cs typeface="Arial"/>
              </a:defRPr>
            </a:pPr>
            <a:r>
              <a:rPr sz="750" b="1">
                <a:solidFill>
                  <a:srgbClr val="6F6B74"/>
                </a:solidFill>
                <a:latin typeface="Arial"/>
                <a:ea typeface="Arial"/>
                <a:cs typeface="Arial"/>
              </a:rPr>
              <a:t>ANONYMIZED LOCAL AI/ML ARCHITECTURE</a:t>
            </a:r>
          </a:p>
        </p:txBody>
      </p:sp>
      <p:sp>
        <p:nvSpPr>
          <p:cNvPr id="7" name="">
            <a:extLst xmlns:a="http://schemas.openxmlformats.org/drawingml/2006/main">
              <a:ext uri="{FF2B5EF4-FFF2-40B4-BE49-F238E27FC236}">
                <a16:creationId xmlns:a16="http://schemas.microsoft.com/office/drawing/2014/main" id="{149A72CF-9250-405A-B806-32A943523BCD}"/>
              </a:ext>
            </a:extLst>
          </p:cNvPr>
          <p:cNvSpPr>
            <a:spLocks xmlns:a="http://schemas.openxmlformats.org/drawingml/2006/main" noGrp="1"/>
          </p:cNvSpPr>
          <p:nvPr/>
        </p:nvSpPr>
        <p:spPr>
          <a:xfrm xmlns:a="http://schemas.openxmlformats.org/drawingml/2006/main">
            <a:off x="10744200" y="65722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F6B74"/>
                </a:solidFill>
                <a:latin typeface="Arial"/>
                <a:ea typeface="Arial"/>
                <a:cs typeface="Arial"/>
              </a:defRPr>
            </a:pPr>
            <a:r>
              <a:rPr sz="750" b="1">
                <a:solidFill>
                  <a:srgbClr val="6F6B74"/>
                </a:solidFill>
                <a:latin typeface="Arial"/>
                <a:ea typeface="Arial"/>
                <a:cs typeface="Arial"/>
              </a:rPr>
              <a:t>09</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6ad2ee74da84104"/>
          <a:stretch xmlns:a="http://schemas.openxmlformats.org/drawingml/2006/main"/>
        </p:blipFill>
        <p:spPr>
          <a:xfrm xmlns:a="http://schemas.openxmlformats.org/drawingml/2006/main">
            <a:off x="495300" y="1578190"/>
            <a:ext cx="11201400" cy="265387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4D9007E-57BF-4BA7-BB19-2C46E62D32C8}"/>
              </a:ext>
            </a:extLst>
          </p:cNvPr>
          <p:cNvSpPr>
            <a:spLocks xmlns:a="http://schemas.openxmlformats.org/drawingml/2006/main" noGrp="1"/>
          </p:cNvSpPr>
          <p:nvPr/>
        </p:nvSpPr>
        <p:spPr>
          <a:xfrm xmlns:a="http://schemas.openxmlformats.org/drawingml/2006/main">
            <a:off x="609600" y="4705350"/>
            <a:ext cx="3333750" cy="1333500"/>
          </a:xfrm>
          <a:prstGeom xmlns:a="http://schemas.openxmlformats.org/drawingml/2006/main" prst="rect">
            <a:avLst/>
          </a:prstGeom>
          <a:solidFill xmlns:a="http://schemas.openxmlformats.org/drawingml/2006/main">
            <a:srgbClr val="FFF8EF"/>
          </a:solidFill>
          <a:ln xmlns:a="http://schemas.openxmlformats.org/drawingml/2006/main" w="20955">
            <a:solidFill>
              <a:srgbClr val="28253D"/>
            </a:solidFill>
            <a:prstDash val="solid"/>
          </a:ln>
        </p:spPr>
      </p:sp>
      <p:sp>
        <p:nvSpPr>
          <p:cNvPr id="10" name="">
            <a:extLst xmlns:a="http://schemas.openxmlformats.org/drawingml/2006/main">
              <a:ext uri="{FF2B5EF4-FFF2-40B4-BE49-F238E27FC236}">
                <a16:creationId xmlns:a16="http://schemas.microsoft.com/office/drawing/2014/main" id="{F2DCE788-58E1-4211-919C-51C7B611CB79}"/>
              </a:ext>
            </a:extLst>
          </p:cNvPr>
          <p:cNvSpPr>
            <a:spLocks xmlns:a="http://schemas.openxmlformats.org/drawingml/2006/main" noGrp="1"/>
          </p:cNvSpPr>
          <p:nvPr/>
        </p:nvSpPr>
        <p:spPr>
          <a:xfrm xmlns:a="http://schemas.openxmlformats.org/drawingml/2006/main">
            <a:off x="609600" y="4705350"/>
            <a:ext cx="114300" cy="133350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BCD1E6F5-8A52-4F2E-A448-336D8DB0A5D6}"/>
              </a:ext>
            </a:extLst>
          </p:cNvPr>
          <p:cNvSpPr>
            <a:spLocks xmlns:a="http://schemas.openxmlformats.org/drawingml/2006/main" noGrp="1"/>
          </p:cNvSpPr>
          <p:nvPr/>
        </p:nvSpPr>
        <p:spPr>
          <a:xfrm xmlns:a="http://schemas.openxmlformats.org/drawingml/2006/main">
            <a:off x="1295400" y="4895850"/>
            <a:ext cx="2457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Local audio</a:t>
            </a:r>
          </a:p>
        </p:txBody>
      </p:sp>
      <p:sp>
        <p:nvSpPr>
          <p:cNvPr id="12" name="">
            <a:extLst xmlns:a="http://schemas.openxmlformats.org/drawingml/2006/main">
              <a:ext uri="{FF2B5EF4-FFF2-40B4-BE49-F238E27FC236}">
                <a16:creationId xmlns:a16="http://schemas.microsoft.com/office/drawing/2014/main" id="{05F388A8-58E1-49C6-813E-F4EC28D05160}"/>
              </a:ext>
            </a:extLst>
          </p:cNvPr>
          <p:cNvSpPr>
            <a:spLocks xmlns:a="http://schemas.openxmlformats.org/drawingml/2006/main" noGrp="1"/>
          </p:cNvSpPr>
          <p:nvPr/>
        </p:nvSpPr>
        <p:spPr>
          <a:xfrm xmlns:a="http://schemas.openxmlformats.org/drawingml/2006/main">
            <a:off x="876300" y="535305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Wake word • endpointing • speech-to-text • text-to-speech</a:t>
            </a:r>
          </a:p>
        </p:txBody>
      </p:sp>
      <p:sp>
        <p:nvSpPr>
          <p:cNvPr id="13" name="">
            <a:extLst xmlns:a="http://schemas.openxmlformats.org/drawingml/2006/main">
              <a:ext uri="{FF2B5EF4-FFF2-40B4-BE49-F238E27FC236}">
                <a16:creationId xmlns:a16="http://schemas.microsoft.com/office/drawing/2014/main" id="{30F3097E-5D16-4794-B262-A85A78D0B140}"/>
              </a:ext>
            </a:extLst>
          </p:cNvPr>
          <p:cNvSpPr>
            <a:spLocks xmlns:a="http://schemas.openxmlformats.org/drawingml/2006/main" noGrp="1"/>
          </p:cNvSpPr>
          <p:nvPr/>
        </p:nvSpPr>
        <p:spPr>
          <a:xfrm xmlns:a="http://schemas.openxmlformats.org/drawingml/2006/main">
            <a:off x="4438650" y="4705350"/>
            <a:ext cx="3333750" cy="1333500"/>
          </a:xfrm>
          <a:prstGeom xmlns:a="http://schemas.openxmlformats.org/drawingml/2006/main" prst="rect">
            <a:avLst/>
          </a:prstGeom>
          <a:solidFill xmlns:a="http://schemas.openxmlformats.org/drawingml/2006/main">
            <a:srgbClr val="DDE8D3"/>
          </a:solidFill>
          <a:ln xmlns:a="http://schemas.openxmlformats.org/drawingml/2006/main" w="20955">
            <a:solidFill>
              <a:srgbClr val="28253D"/>
            </a:solidFill>
            <a:prstDash val="solid"/>
          </a:ln>
        </p:spPr>
      </p:sp>
      <p:sp>
        <p:nvSpPr>
          <p:cNvPr id="14" name="">
            <a:extLst xmlns:a="http://schemas.openxmlformats.org/drawingml/2006/main">
              <a:ext uri="{FF2B5EF4-FFF2-40B4-BE49-F238E27FC236}">
                <a16:creationId xmlns:a16="http://schemas.microsoft.com/office/drawing/2014/main" id="{FF3A1BC3-C96A-42F6-B967-C0DFB688DE4E}"/>
              </a:ext>
            </a:extLst>
          </p:cNvPr>
          <p:cNvSpPr>
            <a:spLocks xmlns:a="http://schemas.openxmlformats.org/drawingml/2006/main" noGrp="1"/>
          </p:cNvSpPr>
          <p:nvPr/>
        </p:nvSpPr>
        <p:spPr>
          <a:xfrm xmlns:a="http://schemas.openxmlformats.org/drawingml/2006/main">
            <a:off x="4438650" y="4705350"/>
            <a:ext cx="114300" cy="133350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906E0A8-1097-4A32-8E32-A2193578334F}"/>
              </a:ext>
            </a:extLst>
          </p:cNvPr>
          <p:cNvSpPr>
            <a:spLocks xmlns:a="http://schemas.openxmlformats.org/drawingml/2006/main" noGrp="1"/>
          </p:cNvSpPr>
          <p:nvPr/>
        </p:nvSpPr>
        <p:spPr>
          <a:xfrm xmlns:a="http://schemas.openxmlformats.org/drawingml/2006/main">
            <a:off x="5124450" y="4895850"/>
            <a:ext cx="2457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Same agent runtime</a:t>
            </a:r>
          </a:p>
        </p:txBody>
      </p:sp>
      <p:sp>
        <p:nvSpPr>
          <p:cNvPr id="16" name="">
            <a:extLst xmlns:a="http://schemas.openxmlformats.org/drawingml/2006/main">
              <a:ext uri="{FF2B5EF4-FFF2-40B4-BE49-F238E27FC236}">
                <a16:creationId xmlns:a16="http://schemas.microsoft.com/office/drawing/2014/main" id="{40BCC501-03E1-4998-8773-D3B4D577E10B}"/>
              </a:ext>
            </a:extLst>
          </p:cNvPr>
          <p:cNvSpPr>
            <a:spLocks xmlns:a="http://schemas.openxmlformats.org/drawingml/2006/main" noGrp="1"/>
          </p:cNvSpPr>
          <p:nvPr/>
        </p:nvSpPr>
        <p:spPr>
          <a:xfrm xmlns:a="http://schemas.openxmlformats.org/drawingml/2006/main">
            <a:off x="4705350" y="535305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Source-scoped Hermes session with optional tools and GBrain</a:t>
            </a:r>
          </a:p>
        </p:txBody>
      </p:sp>
      <p:sp>
        <p:nvSpPr>
          <p:cNvPr id="17" name="">
            <a:extLst xmlns:a="http://schemas.openxmlformats.org/drawingml/2006/main">
              <a:ext uri="{FF2B5EF4-FFF2-40B4-BE49-F238E27FC236}">
                <a16:creationId xmlns:a16="http://schemas.microsoft.com/office/drawing/2014/main" id="{1D23CA1E-3BD4-4C58-B9CA-4FF8774C7D8E}"/>
              </a:ext>
            </a:extLst>
          </p:cNvPr>
          <p:cNvSpPr>
            <a:spLocks xmlns:a="http://schemas.openxmlformats.org/drawingml/2006/main" noGrp="1"/>
          </p:cNvSpPr>
          <p:nvPr/>
        </p:nvSpPr>
        <p:spPr>
          <a:xfrm xmlns:a="http://schemas.openxmlformats.org/drawingml/2006/main">
            <a:off x="8267700" y="4705350"/>
            <a:ext cx="3333750" cy="1333500"/>
          </a:xfrm>
          <a:prstGeom xmlns:a="http://schemas.openxmlformats.org/drawingml/2006/main" prst="rect">
            <a:avLst/>
          </a:prstGeom>
          <a:solidFill xmlns:a="http://schemas.openxmlformats.org/drawingml/2006/main">
            <a:srgbClr val="F7E9B6"/>
          </a:solidFill>
          <a:ln xmlns:a="http://schemas.openxmlformats.org/drawingml/2006/main" w="20955">
            <a:solidFill>
              <a:srgbClr val="28253D"/>
            </a:solidFill>
            <a:prstDash val="solid"/>
          </a:ln>
        </p:spPr>
      </p:sp>
      <p:sp>
        <p:nvSpPr>
          <p:cNvPr id="18" name="">
            <a:extLst xmlns:a="http://schemas.openxmlformats.org/drawingml/2006/main">
              <a:ext uri="{FF2B5EF4-FFF2-40B4-BE49-F238E27FC236}">
                <a16:creationId xmlns:a16="http://schemas.microsoft.com/office/drawing/2014/main" id="{5899A7BC-18D9-4627-84A3-E65E055E566F}"/>
              </a:ext>
            </a:extLst>
          </p:cNvPr>
          <p:cNvSpPr>
            <a:spLocks xmlns:a="http://schemas.openxmlformats.org/drawingml/2006/main" noGrp="1"/>
          </p:cNvSpPr>
          <p:nvPr/>
        </p:nvSpPr>
        <p:spPr>
          <a:xfrm xmlns:a="http://schemas.openxmlformats.org/drawingml/2006/main">
            <a:off x="8267700" y="4705350"/>
            <a:ext cx="114300" cy="133350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12A4A359-B515-4094-9A9B-D43EA2775037}"/>
              </a:ext>
            </a:extLst>
          </p:cNvPr>
          <p:cNvSpPr>
            <a:spLocks xmlns:a="http://schemas.openxmlformats.org/drawingml/2006/main" noGrp="1"/>
          </p:cNvSpPr>
          <p:nvPr/>
        </p:nvSpPr>
        <p:spPr>
          <a:xfrm xmlns:a="http://schemas.openxmlformats.org/drawingml/2006/main">
            <a:off x="8953500" y="4895850"/>
            <a:ext cx="2457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Deterministic lane</a:t>
            </a:r>
          </a:p>
        </p:txBody>
      </p:sp>
      <p:sp>
        <p:nvSpPr>
          <p:cNvPr id="20" name="">
            <a:extLst xmlns:a="http://schemas.openxmlformats.org/drawingml/2006/main">
              <a:ext uri="{FF2B5EF4-FFF2-40B4-BE49-F238E27FC236}">
                <a16:creationId xmlns:a16="http://schemas.microsoft.com/office/drawing/2014/main" id="{CCC2D5E2-D902-4A3E-81EB-D19094501B32}"/>
              </a:ext>
            </a:extLst>
          </p:cNvPr>
          <p:cNvSpPr>
            <a:spLocks xmlns:a="http://schemas.openxmlformats.org/drawingml/2006/main" noGrp="1"/>
          </p:cNvSpPr>
          <p:nvPr/>
        </p:nvSpPr>
        <p:spPr>
          <a:xfrm xmlns:a="http://schemas.openxmlformats.org/drawingml/2006/main">
            <a:off x="8534400" y="535305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Planned path for known home commands that should stay fast and predictable</a:t>
            </a:r>
          </a:p>
        </p:txBody>
      </p:sp>
      <p:sp>
        <p:nvSpPr>
          <p:cNvPr id="21" name="">
            <a:extLst xmlns:a="http://schemas.openxmlformats.org/drawingml/2006/main">
              <a:ext uri="{FF2B5EF4-FFF2-40B4-BE49-F238E27FC236}">
                <a16:creationId xmlns:a16="http://schemas.microsoft.com/office/drawing/2014/main" id="{8749FC05-AB6F-4D5B-AE02-292CA31ACEEC}"/>
              </a:ext>
            </a:extLst>
          </p:cNvPr>
          <p:cNvSpPr>
            <a:spLocks xmlns:a="http://schemas.openxmlformats.org/drawingml/2006/main" noGrp="1"/>
          </p:cNvSpPr>
          <p:nvPr/>
        </p:nvSpPr>
        <p:spPr>
          <a:xfrm xmlns:a="http://schemas.openxmlformats.org/drawingml/2006/main">
            <a:off x="8439150" y="4448175"/>
            <a:ext cx="3124200" cy="219075"/>
          </a:xfrm>
          <a:prstGeom xmlns:a="http://schemas.openxmlformats.org/drawingml/2006/main" prst="rect">
            <a:avLst/>
          </a:prstGeom>
          <a:solidFill xmlns:a="http://schemas.openxmlformats.org/drawingml/2006/main">
            <a:srgbClr val="F8F1E5"/>
          </a:solidFill>
          <a:ln xmlns:a="http://schemas.openxmlformats.org/drawingml/2006/main" w="17145">
            <a:solidFill>
              <a:srgbClr val="28253D"/>
            </a:solidFill>
            <a:prstDash val="solid"/>
          </a:ln>
        </p:spPr>
        <p:txBody>
          <a:bodyPr xmlns:a="http://schemas.openxmlformats.org/drawingml/2006/main" lIns="76200" tIns="28575" rIns="76200" bIns="28575" anchor="ctr"/>
          <a:lstStyle xmlns:a="http://schemas.openxmlformats.org/drawingml/2006/main"/>
          <a:p xmlns:a="http://schemas.openxmlformats.org/drawingml/2006/main">
            <a:pPr algn="ctr">
              <a:defRPr sz="825" b="1">
                <a:solidFill>
                  <a:srgbClr val="28253D"/>
                </a:solidFill>
                <a:latin typeface="Arial"/>
                <a:ea typeface="Arial"/>
                <a:cs typeface="Arial"/>
              </a:defRPr>
            </a:pPr>
            <a:r>
              <a:rPr sz="825" b="1">
                <a:solidFill>
                  <a:srgbClr val="28253D"/>
                </a:solidFill>
                <a:latin typeface="Arial"/>
                <a:ea typeface="Arial"/>
                <a:cs typeface="Arial"/>
              </a:rPr>
              <a:t>VOICE ≠ A SECOND BRAIN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fb07d2c58e143d6">
            <a:extLst>
              <a:ext uri="{96DAC541-7B7A-43D3-8B79-37D633B846F1}">
                <asvg:svgBlip xmlns:asvg="http://schemas.microsoft.com/office/drawing/2016/SVG/main" r:embed="R3ae633dbf90445ec"/>
              </a:ext>
            </a:extLst>
          </a:blip>
          <a:stretch xmlns:a="http://schemas.openxmlformats.org/drawingml/2006/main"/>
        </p:blipFill>
        <p:spPr>
          <a:xfrm xmlns:a="http://schemas.openxmlformats.org/drawingml/2006/main">
            <a:off x="857250" y="4933950"/>
            <a:ext cx="323850" cy="32385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4f22e20c47a4795">
            <a:extLst>
              <a:ext uri="{96DAC541-7B7A-43D3-8B79-37D633B846F1}">
                <asvg:svgBlip xmlns:asvg="http://schemas.microsoft.com/office/drawing/2016/SVG/main" r:embed="R7a6f227c8b8b4aa2"/>
              </a:ext>
            </a:extLst>
          </a:blip>
          <a:stretch xmlns:a="http://schemas.openxmlformats.org/drawingml/2006/main"/>
        </p:blipFill>
        <p:spPr>
          <a:xfrm xmlns:a="http://schemas.openxmlformats.org/drawingml/2006/main">
            <a:off x="4686300" y="4933950"/>
            <a:ext cx="323850" cy="32385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207601bba124f71">
            <a:extLst>
              <a:ext uri="{96DAC541-7B7A-43D3-8B79-37D633B846F1}">
                <asvg:svgBlip xmlns:asvg="http://schemas.microsoft.com/office/drawing/2016/SVG/main" r:embed="Rf1ce0a540f0e4fd9"/>
              </a:ext>
            </a:extLst>
          </a:blip>
          <a:stretch xmlns:a="http://schemas.openxmlformats.org/drawingml/2006/main"/>
        </p:blipFill>
        <p:spPr>
          <a:xfrm xmlns:a="http://schemas.openxmlformats.org/drawingml/2006/main">
            <a:off x="8515350" y="4933950"/>
            <a:ext cx="323850" cy="323850"/>
          </a:xfrm>
          <a:prstGeom xmlns:a="http://schemas.openxmlformats.org/drawingml/2006/main" prst="rect">
            <a:avLst/>
          </a:prstGeom>
        </p:spPr>
      </p:pic>
    </p:spTree>
    <p:extLst>
      <p:ext uri="{BB962C8B-B14F-4D97-AF65-F5344CB8AC3E}">
        <p14:creationId xmlns:p14="http://schemas.microsoft.com/office/powerpoint/2010/main" val="20519502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B86957-908A-42DF-8950-8CA01D24AB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1E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77F56B5-C8E2-4C26-9E7A-8A7395048DD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45AE38A-E3B4-4CC1-B5E0-DBB004212DC6}"/>
              </a:ext>
            </a:extLst>
          </p:cNvPr>
          <p:cNvSpPr>
            <a:spLocks xmlns:a="http://schemas.openxmlformats.org/drawingml/2006/main" noGrp="1"/>
          </p:cNvSpPr>
          <p:nvPr/>
        </p:nvSpPr>
        <p:spPr>
          <a:xfrm xmlns:a="http://schemas.openxmlformats.org/drawingml/2006/main">
            <a:off x="590550" y="3810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E9878C"/>
                </a:solidFill>
                <a:latin typeface="Arial"/>
                <a:ea typeface="Arial"/>
                <a:cs typeface="Arial"/>
              </a:defRPr>
            </a:pPr>
            <a:r>
              <a:rPr sz="1050" b="1">
                <a:solidFill>
                  <a:srgbClr val="E9878C"/>
                </a:solidFill>
                <a:latin typeface="Arial"/>
                <a:ea typeface="Arial"/>
                <a:cs typeface="Arial"/>
              </a:rPr>
              <a:t>IMPLEMENTATION SNAPSHOT</a:t>
            </a:r>
          </a:p>
        </p:txBody>
      </p:sp>
      <p:sp>
        <p:nvSpPr>
          <p:cNvPr id="4" name="">
            <a:extLst xmlns:a="http://schemas.openxmlformats.org/drawingml/2006/main">
              <a:ext uri="{FF2B5EF4-FFF2-40B4-BE49-F238E27FC236}">
                <a16:creationId xmlns:a16="http://schemas.microsoft.com/office/drawing/2014/main" id="{AAA283FB-EF95-4329-89C0-7BAE9B04E76B}"/>
              </a:ext>
            </a:extLst>
          </p:cNvPr>
          <p:cNvSpPr>
            <a:spLocks xmlns:a="http://schemas.openxmlformats.org/drawingml/2006/main" noGrp="1"/>
          </p:cNvSpPr>
          <p:nvPr/>
        </p:nvSpPr>
        <p:spPr>
          <a:xfrm xmlns:a="http://schemas.openxmlformats.org/drawingml/2006/main">
            <a:off x="590550" y="685800"/>
            <a:ext cx="10763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8253D"/>
                </a:solidFill>
                <a:latin typeface="Georgia"/>
                <a:ea typeface="Georgia"/>
                <a:cs typeface="Georgia"/>
              </a:defRPr>
            </a:pPr>
            <a:r>
              <a:rPr sz="2700" b="1">
                <a:solidFill>
                  <a:srgbClr val="28253D"/>
                </a:solidFill>
                <a:latin typeface="Georgia"/>
                <a:ea typeface="Georgia"/>
                <a:cs typeface="Georgia"/>
              </a:rPr>
              <a:t>Working now, limited now, and planned next</a:t>
            </a:r>
          </a:p>
        </p:txBody>
      </p:sp>
      <p:sp>
        <p:nvSpPr>
          <p:cNvPr id="5" name="">
            <a:extLst xmlns:a="http://schemas.openxmlformats.org/drawingml/2006/main">
              <a:ext uri="{FF2B5EF4-FFF2-40B4-BE49-F238E27FC236}">
                <a16:creationId xmlns:a16="http://schemas.microsoft.com/office/drawing/2014/main" id="{5EDCE8FD-B6A1-462E-83F4-4908494932DF}"/>
              </a:ext>
            </a:extLst>
          </p:cNvPr>
          <p:cNvSpPr>
            <a:spLocks xmlns:a="http://schemas.openxmlformats.org/drawingml/2006/main" noGrp="1"/>
          </p:cNvSpPr>
          <p:nvPr/>
        </p:nvSpPr>
        <p:spPr>
          <a:xfrm xmlns:a="http://schemas.openxmlformats.org/drawingml/2006/main">
            <a:off x="590550" y="6496050"/>
            <a:ext cx="11010900" cy="190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47DAFF2-A303-41ED-9DE3-EBE7F28E52DF}"/>
              </a:ext>
            </a:extLst>
          </p:cNvPr>
          <p:cNvSpPr>
            <a:spLocks xmlns:a="http://schemas.openxmlformats.org/drawingml/2006/main" noGrp="1"/>
          </p:cNvSpPr>
          <p:nvPr/>
        </p:nvSpPr>
        <p:spPr>
          <a:xfrm xmlns:a="http://schemas.openxmlformats.org/drawingml/2006/main">
            <a:off x="590550" y="657225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F6B74"/>
                </a:solidFill>
                <a:latin typeface="Arial"/>
                <a:ea typeface="Arial"/>
                <a:cs typeface="Arial"/>
              </a:defRPr>
            </a:pPr>
            <a:r>
              <a:rPr sz="750" b="1">
                <a:solidFill>
                  <a:srgbClr val="6F6B74"/>
                </a:solidFill>
                <a:latin typeface="Arial"/>
                <a:ea typeface="Arial"/>
                <a:cs typeface="Arial"/>
              </a:rPr>
              <a:t>ANONYMIZED LOCAL AI/ML ARCHITECTURE</a:t>
            </a:r>
          </a:p>
        </p:txBody>
      </p:sp>
      <p:sp>
        <p:nvSpPr>
          <p:cNvPr id="7" name="">
            <a:extLst xmlns:a="http://schemas.openxmlformats.org/drawingml/2006/main">
              <a:ext uri="{FF2B5EF4-FFF2-40B4-BE49-F238E27FC236}">
                <a16:creationId xmlns:a16="http://schemas.microsoft.com/office/drawing/2014/main" id="{3B48AFEC-63EF-4D68-A104-DBB7A392EF98}"/>
              </a:ext>
            </a:extLst>
          </p:cNvPr>
          <p:cNvSpPr>
            <a:spLocks xmlns:a="http://schemas.openxmlformats.org/drawingml/2006/main" noGrp="1"/>
          </p:cNvSpPr>
          <p:nvPr/>
        </p:nvSpPr>
        <p:spPr>
          <a:xfrm xmlns:a="http://schemas.openxmlformats.org/drawingml/2006/main">
            <a:off x="10744200" y="65722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F6B74"/>
                </a:solidFill>
                <a:latin typeface="Arial"/>
                <a:ea typeface="Arial"/>
                <a:cs typeface="Arial"/>
              </a:defRPr>
            </a:pPr>
            <a:r>
              <a:rPr sz="750" b="1">
                <a:solidFill>
                  <a:srgbClr val="6F6B74"/>
                </a:solidFill>
                <a:latin typeface="Arial"/>
                <a:ea typeface="Arial"/>
                <a:cs typeface="Arial"/>
              </a:rPr>
              <a:t>10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49711714f794c72"/>
          <a:stretch xmlns:a="http://schemas.openxmlformats.org/drawingml/2006/main"/>
        </p:blipFill>
        <p:spPr>
          <a:xfrm xmlns:a="http://schemas.openxmlformats.org/drawingml/2006/main">
            <a:off x="495300" y="1467591"/>
            <a:ext cx="7696200" cy="4446693"/>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f2f098538e54966"/>
          <a:stretch xmlns:a="http://schemas.openxmlformats.org/drawingml/2006/main"/>
        </p:blipFill>
        <p:spPr>
          <a:xfrm xmlns:a="http://schemas.openxmlformats.org/drawingml/2006/main">
            <a:off x="8620125" y="1627654"/>
            <a:ext cx="2667000" cy="207869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AFEF681-2715-4A3B-B9D3-DE1ECB01FF19}"/>
              </a:ext>
            </a:extLst>
          </p:cNvPr>
          <p:cNvSpPr>
            <a:spLocks xmlns:a="http://schemas.openxmlformats.org/drawingml/2006/main" noGrp="1"/>
          </p:cNvSpPr>
          <p:nvPr/>
        </p:nvSpPr>
        <p:spPr>
          <a:xfrm xmlns:a="http://schemas.openxmlformats.org/drawingml/2006/main">
            <a:off x="8524875" y="3943350"/>
            <a:ext cx="2876550" cy="323850"/>
          </a:xfrm>
          <a:prstGeom xmlns:a="http://schemas.openxmlformats.org/drawingml/2006/main" prst="rect">
            <a:avLst/>
          </a:prstGeom>
          <a:solidFill xmlns:a="http://schemas.openxmlformats.org/drawingml/2006/main">
            <a:srgbClr val="E9878C"/>
          </a:solidFill>
          <a:ln xmlns:a="http://schemas.openxmlformats.org/drawingml/2006/main" w="17145">
            <a:solidFill>
              <a:srgbClr val="28253D"/>
            </a:solidFill>
            <a:prstDash val="solid"/>
          </a:ln>
        </p:spPr>
        <p:txBody>
          <a:bodyPr xmlns:a="http://schemas.openxmlformats.org/drawingml/2006/main" lIns="76200" tIns="28575" rIns="76200" bIns="28575" anchor="ctr"/>
          <a:lstStyle xmlns:a="http://schemas.openxmlformats.org/drawingml/2006/main"/>
          <a:p xmlns:a="http://schemas.openxmlformats.org/drawingml/2006/main">
            <a:pPr algn="ctr">
              <a:defRPr sz="975" b="1">
                <a:solidFill>
                  <a:srgbClr val="28253D"/>
                </a:solidFill>
                <a:latin typeface="Arial"/>
                <a:ea typeface="Arial"/>
                <a:cs typeface="Arial"/>
              </a:defRPr>
            </a:pPr>
            <a:r>
              <a:rPr sz="975" b="1">
                <a:solidFill>
                  <a:srgbClr val="28253D"/>
                </a:solidFill>
                <a:latin typeface="Arial"/>
                <a:ea typeface="Arial"/>
                <a:cs typeface="Arial"/>
              </a:rPr>
              <a:t>VOICE HARDENING CHECKLIST</a:t>
            </a:r>
          </a:p>
        </p:txBody>
      </p:sp>
      <p:sp>
        <p:nvSpPr>
          <p:cNvPr id="11" name="">
            <a:extLst xmlns:a="http://schemas.openxmlformats.org/drawingml/2006/main">
              <a:ext uri="{FF2B5EF4-FFF2-40B4-BE49-F238E27FC236}">
                <a16:creationId xmlns:a16="http://schemas.microsoft.com/office/drawing/2014/main" id="{37A58C9F-3BA2-4BB3-9E1D-18C8EF9CFB4D}"/>
              </a:ext>
            </a:extLst>
          </p:cNvPr>
          <p:cNvSpPr>
            <a:spLocks xmlns:a="http://schemas.openxmlformats.org/drawingml/2006/main" noGrp="1"/>
          </p:cNvSpPr>
          <p:nvPr/>
        </p:nvSpPr>
        <p:spPr>
          <a:xfrm xmlns:a="http://schemas.openxmlformats.org/drawingml/2006/main">
            <a:off x="8620125" y="45339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79988CEB-7D51-4967-8385-B5CC20FEE20A}"/>
              </a:ext>
            </a:extLst>
          </p:cNvPr>
          <p:cNvSpPr>
            <a:spLocks xmlns:a="http://schemas.openxmlformats.org/drawingml/2006/main" noGrp="1"/>
          </p:cNvSpPr>
          <p:nvPr/>
        </p:nvSpPr>
        <p:spPr>
          <a:xfrm xmlns:a="http://schemas.openxmlformats.org/drawingml/2006/main">
            <a:off x="8858250" y="4457700"/>
            <a:ext cx="26384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28253D"/>
                </a:solidFill>
                <a:latin typeface="Arial"/>
                <a:ea typeface="Arial"/>
                <a:cs typeface="Arial"/>
              </a:defRPr>
            </a:pPr>
            <a:r>
              <a:rPr sz="1050" b="0">
                <a:solidFill>
                  <a:srgbClr val="28253D"/>
                </a:solidFill>
                <a:latin typeface="Arial"/>
                <a:ea typeface="Arial"/>
                <a:cs typeface="Arial"/>
              </a:rPr>
              <a:t>Restore and test warm persona service</a:t>
            </a:r>
          </a:p>
        </p:txBody>
      </p:sp>
      <p:sp>
        <p:nvSpPr>
          <p:cNvPr id="13" name="">
            <a:extLst xmlns:a="http://schemas.openxmlformats.org/drawingml/2006/main">
              <a:ext uri="{FF2B5EF4-FFF2-40B4-BE49-F238E27FC236}">
                <a16:creationId xmlns:a16="http://schemas.microsoft.com/office/drawing/2014/main" id="{E6208344-E5A0-4CF2-9D86-4D7CD99333D6}"/>
              </a:ext>
            </a:extLst>
          </p:cNvPr>
          <p:cNvSpPr>
            <a:spLocks xmlns:a="http://schemas.openxmlformats.org/drawingml/2006/main" noGrp="1"/>
          </p:cNvSpPr>
          <p:nvPr/>
        </p:nvSpPr>
        <p:spPr>
          <a:xfrm xmlns:a="http://schemas.openxmlformats.org/drawingml/2006/main">
            <a:off x="8620125" y="497205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940B878-BD02-44F1-93D9-600D2850790E}"/>
              </a:ext>
            </a:extLst>
          </p:cNvPr>
          <p:cNvSpPr>
            <a:spLocks xmlns:a="http://schemas.openxmlformats.org/drawingml/2006/main" noGrp="1"/>
          </p:cNvSpPr>
          <p:nvPr/>
        </p:nvSpPr>
        <p:spPr>
          <a:xfrm xmlns:a="http://schemas.openxmlformats.org/drawingml/2006/main">
            <a:off x="8858250" y="4895850"/>
            <a:ext cx="26384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28253D"/>
                </a:solidFill>
                <a:latin typeface="Arial"/>
                <a:ea typeface="Arial"/>
                <a:cs typeface="Arial"/>
              </a:defRPr>
            </a:pPr>
            <a:r>
              <a:rPr sz="1050" b="0">
                <a:solidFill>
                  <a:srgbClr val="28253D"/>
                </a:solidFill>
                <a:latin typeface="Arial"/>
                <a:ea typeface="Arial"/>
                <a:cs typeface="Arial"/>
              </a:rPr>
              <a:t>Install live-room media dependency</a:t>
            </a:r>
          </a:p>
        </p:txBody>
      </p:sp>
      <p:sp>
        <p:nvSpPr>
          <p:cNvPr id="15" name="">
            <a:extLst xmlns:a="http://schemas.openxmlformats.org/drawingml/2006/main">
              <a:ext uri="{FF2B5EF4-FFF2-40B4-BE49-F238E27FC236}">
                <a16:creationId xmlns:a16="http://schemas.microsoft.com/office/drawing/2014/main" id="{8D94490F-476B-4F95-BF28-6F5DCC71FC2E}"/>
              </a:ext>
            </a:extLst>
          </p:cNvPr>
          <p:cNvSpPr>
            <a:spLocks xmlns:a="http://schemas.openxmlformats.org/drawingml/2006/main" noGrp="1"/>
          </p:cNvSpPr>
          <p:nvPr/>
        </p:nvSpPr>
        <p:spPr>
          <a:xfrm xmlns:a="http://schemas.openxmlformats.org/drawingml/2006/main">
            <a:off x="8620125" y="54102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0892DFA-B33D-48BA-824C-6CA17EEFCED1}"/>
              </a:ext>
            </a:extLst>
          </p:cNvPr>
          <p:cNvSpPr>
            <a:spLocks xmlns:a="http://schemas.openxmlformats.org/drawingml/2006/main" noGrp="1"/>
          </p:cNvSpPr>
          <p:nvPr/>
        </p:nvSpPr>
        <p:spPr>
          <a:xfrm xmlns:a="http://schemas.openxmlformats.org/drawingml/2006/main">
            <a:off x="8858250" y="5334000"/>
            <a:ext cx="26384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28253D"/>
                </a:solidFill>
                <a:latin typeface="Arial"/>
                <a:ea typeface="Arial"/>
                <a:cs typeface="Arial"/>
              </a:defRPr>
            </a:pPr>
            <a:r>
              <a:rPr sz="1050" b="0">
                <a:solidFill>
                  <a:srgbClr val="28253D"/>
                </a:solidFill>
                <a:latin typeface="Arial"/>
                <a:ea typeface="Arial"/>
                <a:cs typeface="Arial"/>
              </a:rPr>
              <a:t>Run microphone-to-speaker trace</a:t>
            </a:r>
          </a:p>
        </p:txBody>
      </p:sp>
      <p:sp>
        <p:nvSpPr>
          <p:cNvPr id="17" name="">
            <a:extLst xmlns:a="http://schemas.openxmlformats.org/drawingml/2006/main">
              <a:ext uri="{FF2B5EF4-FFF2-40B4-BE49-F238E27FC236}">
                <a16:creationId xmlns:a16="http://schemas.microsoft.com/office/drawing/2014/main" id="{046170C4-46EC-4082-80C2-CD4385F42073}"/>
              </a:ext>
            </a:extLst>
          </p:cNvPr>
          <p:cNvSpPr>
            <a:spLocks xmlns:a="http://schemas.openxmlformats.org/drawingml/2006/main" noGrp="1"/>
          </p:cNvSpPr>
          <p:nvPr/>
        </p:nvSpPr>
        <p:spPr>
          <a:xfrm xmlns:a="http://schemas.openxmlformats.org/drawingml/2006/main">
            <a:off x="8620125" y="584835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086CC14B-438B-44A1-B4CD-23566C088BC2}"/>
              </a:ext>
            </a:extLst>
          </p:cNvPr>
          <p:cNvSpPr>
            <a:spLocks xmlns:a="http://schemas.openxmlformats.org/drawingml/2006/main" noGrp="1"/>
          </p:cNvSpPr>
          <p:nvPr/>
        </p:nvSpPr>
        <p:spPr>
          <a:xfrm xmlns:a="http://schemas.openxmlformats.org/drawingml/2006/main">
            <a:off x="8858250" y="5772150"/>
            <a:ext cx="26384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28253D"/>
                </a:solidFill>
                <a:latin typeface="Arial"/>
                <a:ea typeface="Arial"/>
                <a:cs typeface="Arial"/>
              </a:defRPr>
            </a:pPr>
            <a:r>
              <a:rPr sz="1050" b="0">
                <a:solidFill>
                  <a:srgbClr val="28253D"/>
                </a:solidFill>
                <a:latin typeface="Arial"/>
                <a:ea typeface="Arial"/>
                <a:cs typeface="Arial"/>
              </a:rPr>
              <a:t>Verify voice-user authorization</a:t>
            </a:r>
          </a:p>
        </p:txBody>
      </p:sp>
    </p:spTree>
    <p:extLst>
      <p:ext uri="{BB962C8B-B14F-4D97-AF65-F5344CB8AC3E}">
        <p14:creationId xmlns:p14="http://schemas.microsoft.com/office/powerpoint/2010/main" val="21447484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B4A279-4159-4294-91B0-E1DB1CEFFE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1E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C429B80-B93A-4EAB-8D01-FBEC70133F5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39C1705-84FE-4E2B-83F1-B7BC312CCAFF}"/>
              </a:ext>
            </a:extLst>
          </p:cNvPr>
          <p:cNvSpPr>
            <a:spLocks xmlns:a="http://schemas.openxmlformats.org/drawingml/2006/main" noGrp="1"/>
          </p:cNvSpPr>
          <p:nvPr/>
        </p:nvSpPr>
        <p:spPr>
          <a:xfrm xmlns:a="http://schemas.openxmlformats.org/drawingml/2006/main">
            <a:off x="590550" y="3810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E9878C"/>
                </a:solidFill>
                <a:latin typeface="Arial"/>
                <a:ea typeface="Arial"/>
                <a:cs typeface="Arial"/>
              </a:defRPr>
            </a:pPr>
            <a:r>
              <a:rPr sz="1050" b="1">
                <a:solidFill>
                  <a:srgbClr val="E9878C"/>
                </a:solidFill>
                <a:latin typeface="Arial"/>
                <a:ea typeface="Arial"/>
                <a:cs typeface="Arial"/>
              </a:rPr>
              <a:t>SECURITY AND RECOVERY</a:t>
            </a:r>
          </a:p>
        </p:txBody>
      </p:sp>
      <p:sp>
        <p:nvSpPr>
          <p:cNvPr id="4" name="">
            <a:extLst xmlns:a="http://schemas.openxmlformats.org/drawingml/2006/main">
              <a:ext uri="{FF2B5EF4-FFF2-40B4-BE49-F238E27FC236}">
                <a16:creationId xmlns:a16="http://schemas.microsoft.com/office/drawing/2014/main" id="{D365AC44-249A-44F7-9D01-98C23BB1D02E}"/>
              </a:ext>
            </a:extLst>
          </p:cNvPr>
          <p:cNvSpPr>
            <a:spLocks xmlns:a="http://schemas.openxmlformats.org/drawingml/2006/main" noGrp="1"/>
          </p:cNvSpPr>
          <p:nvPr/>
        </p:nvSpPr>
        <p:spPr>
          <a:xfrm xmlns:a="http://schemas.openxmlformats.org/drawingml/2006/main">
            <a:off x="590550" y="685800"/>
            <a:ext cx="10763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28253D"/>
                </a:solidFill>
                <a:latin typeface="Georgia"/>
                <a:ea typeface="Georgia"/>
                <a:cs typeface="Georgia"/>
              </a:defRPr>
            </a:pPr>
            <a:r>
              <a:rPr sz="2400" b="1">
                <a:solidFill>
                  <a:srgbClr val="28253D"/>
                </a:solidFill>
                <a:latin typeface="Georgia"/>
                <a:ea typeface="Georgia"/>
                <a:cs typeface="Georgia"/>
              </a:rPr>
              <a:t>Trust boundaries are part of the product</a:t>
            </a:r>
          </a:p>
        </p:txBody>
      </p:sp>
      <p:sp>
        <p:nvSpPr>
          <p:cNvPr id="5" name="">
            <a:extLst xmlns:a="http://schemas.openxmlformats.org/drawingml/2006/main">
              <a:ext uri="{FF2B5EF4-FFF2-40B4-BE49-F238E27FC236}">
                <a16:creationId xmlns:a16="http://schemas.microsoft.com/office/drawing/2014/main" id="{7FEABDB7-8009-48E1-BD0A-B3B65AD60C94}"/>
              </a:ext>
            </a:extLst>
          </p:cNvPr>
          <p:cNvSpPr>
            <a:spLocks xmlns:a="http://schemas.openxmlformats.org/drawingml/2006/main" noGrp="1"/>
          </p:cNvSpPr>
          <p:nvPr/>
        </p:nvSpPr>
        <p:spPr>
          <a:xfrm xmlns:a="http://schemas.openxmlformats.org/drawingml/2006/main">
            <a:off x="590550" y="6496050"/>
            <a:ext cx="11010900" cy="190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EA73480-7B6C-421F-B2BB-DE70A38B8572}"/>
              </a:ext>
            </a:extLst>
          </p:cNvPr>
          <p:cNvSpPr>
            <a:spLocks xmlns:a="http://schemas.openxmlformats.org/drawingml/2006/main" noGrp="1"/>
          </p:cNvSpPr>
          <p:nvPr/>
        </p:nvSpPr>
        <p:spPr>
          <a:xfrm xmlns:a="http://schemas.openxmlformats.org/drawingml/2006/main">
            <a:off x="590550" y="657225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F6B74"/>
                </a:solidFill>
                <a:latin typeface="Arial"/>
                <a:ea typeface="Arial"/>
                <a:cs typeface="Arial"/>
              </a:defRPr>
            </a:pPr>
            <a:r>
              <a:rPr sz="750" b="1">
                <a:solidFill>
                  <a:srgbClr val="6F6B74"/>
                </a:solidFill>
                <a:latin typeface="Arial"/>
                <a:ea typeface="Arial"/>
                <a:cs typeface="Arial"/>
              </a:rPr>
              <a:t>ANONYMIZED LOCAL AI/ML ARCHITECTURE</a:t>
            </a:r>
          </a:p>
        </p:txBody>
      </p:sp>
      <p:sp>
        <p:nvSpPr>
          <p:cNvPr id="7" name="">
            <a:extLst xmlns:a="http://schemas.openxmlformats.org/drawingml/2006/main">
              <a:ext uri="{FF2B5EF4-FFF2-40B4-BE49-F238E27FC236}">
                <a16:creationId xmlns:a16="http://schemas.microsoft.com/office/drawing/2014/main" id="{277ACE53-1826-484C-A88C-916F9D5DE65C}"/>
              </a:ext>
            </a:extLst>
          </p:cNvPr>
          <p:cNvSpPr>
            <a:spLocks xmlns:a="http://schemas.openxmlformats.org/drawingml/2006/main" noGrp="1"/>
          </p:cNvSpPr>
          <p:nvPr/>
        </p:nvSpPr>
        <p:spPr>
          <a:xfrm xmlns:a="http://schemas.openxmlformats.org/drawingml/2006/main">
            <a:off x="10744200" y="65722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F6B74"/>
                </a:solidFill>
                <a:latin typeface="Arial"/>
                <a:ea typeface="Arial"/>
                <a:cs typeface="Arial"/>
              </a:defRPr>
            </a:pPr>
            <a:r>
              <a:rPr sz="750" b="1">
                <a:solidFill>
                  <a:srgbClr val="6F6B74"/>
                </a:solidFill>
                <a:latin typeface="Arial"/>
                <a:ea typeface="Arial"/>
                <a:cs typeface="Arial"/>
              </a:rPr>
              <a:t>11</a:t>
            </a:r>
          </a:p>
        </p:txBody>
      </p:sp>
      <p:sp>
        <p:nvSpPr>
          <p:cNvPr id="8" name="">
            <a:extLst xmlns:a="http://schemas.openxmlformats.org/drawingml/2006/main">
              <a:ext uri="{FF2B5EF4-FFF2-40B4-BE49-F238E27FC236}">
                <a16:creationId xmlns:a16="http://schemas.microsoft.com/office/drawing/2014/main" id="{384E9FE6-E7EA-445F-842B-9A07AC5DA171}"/>
              </a:ext>
            </a:extLst>
          </p:cNvPr>
          <p:cNvSpPr>
            <a:spLocks xmlns:a="http://schemas.openxmlformats.org/drawingml/2006/main" noGrp="1"/>
          </p:cNvSpPr>
          <p:nvPr/>
        </p:nvSpPr>
        <p:spPr>
          <a:xfrm xmlns:a="http://schemas.openxmlformats.org/drawingml/2006/main">
            <a:off x="590550" y="1524000"/>
            <a:ext cx="5238750" cy="1809750"/>
          </a:xfrm>
          <a:prstGeom xmlns:a="http://schemas.openxmlformats.org/drawingml/2006/main" prst="rect">
            <a:avLst/>
          </a:prstGeom>
          <a:solidFill xmlns:a="http://schemas.openxmlformats.org/drawingml/2006/main">
            <a:srgbClr val="DDE8D3"/>
          </a:solidFill>
          <a:ln xmlns:a="http://schemas.openxmlformats.org/drawingml/2006/main" w="20955">
            <a:solidFill>
              <a:srgbClr val="28253D"/>
            </a:solidFill>
            <a:prstDash val="solid"/>
          </a:ln>
        </p:spPr>
      </p:sp>
      <p:sp>
        <p:nvSpPr>
          <p:cNvPr id="9" name="">
            <a:extLst xmlns:a="http://schemas.openxmlformats.org/drawingml/2006/main">
              <a:ext uri="{FF2B5EF4-FFF2-40B4-BE49-F238E27FC236}">
                <a16:creationId xmlns:a16="http://schemas.microsoft.com/office/drawing/2014/main" id="{74F7E9EF-F08F-4E56-B896-0A6DBCC288D4}"/>
              </a:ext>
            </a:extLst>
          </p:cNvPr>
          <p:cNvSpPr>
            <a:spLocks xmlns:a="http://schemas.openxmlformats.org/drawingml/2006/main" noGrp="1"/>
          </p:cNvSpPr>
          <p:nvPr/>
        </p:nvSpPr>
        <p:spPr>
          <a:xfrm xmlns:a="http://schemas.openxmlformats.org/drawingml/2006/main">
            <a:off x="590550" y="1524000"/>
            <a:ext cx="114300" cy="18097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2E9AC128-1021-4035-9C8F-CAB74AF2D76D}"/>
              </a:ext>
            </a:extLst>
          </p:cNvPr>
          <p:cNvSpPr>
            <a:spLocks xmlns:a="http://schemas.openxmlformats.org/drawingml/2006/main" noGrp="1"/>
          </p:cNvSpPr>
          <p:nvPr/>
        </p:nvSpPr>
        <p:spPr>
          <a:xfrm xmlns:a="http://schemas.openxmlformats.org/drawingml/2006/main">
            <a:off x="1276350" y="1714500"/>
            <a:ext cx="4362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Canvas → agent host</a:t>
            </a:r>
          </a:p>
        </p:txBody>
      </p:sp>
      <p:sp>
        <p:nvSpPr>
          <p:cNvPr id="11" name="">
            <a:extLst xmlns:a="http://schemas.openxmlformats.org/drawingml/2006/main">
              <a:ext uri="{FF2B5EF4-FFF2-40B4-BE49-F238E27FC236}">
                <a16:creationId xmlns:a16="http://schemas.microsoft.com/office/drawing/2014/main" id="{2A64F52B-85C7-4ACD-92DE-959CB7FA6D51}"/>
              </a:ext>
            </a:extLst>
          </p:cNvPr>
          <p:cNvSpPr>
            <a:spLocks xmlns:a="http://schemas.openxmlformats.org/drawingml/2006/main" noGrp="1"/>
          </p:cNvSpPr>
          <p:nvPr/>
        </p:nvSpPr>
        <p:spPr>
          <a:xfrm xmlns:a="http://schemas.openxmlformats.org/drawingml/2006/main">
            <a:off x="857250" y="2171700"/>
            <a:ext cx="4762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Current: authenticated API through a managed SSH port-forward.</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Harden: rotate credentials and preserve redaction tests.</a:t>
            </a:r>
          </a:p>
        </p:txBody>
      </p:sp>
      <p:sp>
        <p:nvSpPr>
          <p:cNvPr id="12" name="">
            <a:extLst xmlns:a="http://schemas.openxmlformats.org/drawingml/2006/main">
              <a:ext uri="{FF2B5EF4-FFF2-40B4-BE49-F238E27FC236}">
                <a16:creationId xmlns:a16="http://schemas.microsoft.com/office/drawing/2014/main" id="{79F32F57-AAD0-41F3-8287-F0B5626A6056}"/>
              </a:ext>
            </a:extLst>
          </p:cNvPr>
          <p:cNvSpPr>
            <a:spLocks xmlns:a="http://schemas.openxmlformats.org/drawingml/2006/main" noGrp="1"/>
          </p:cNvSpPr>
          <p:nvPr/>
        </p:nvSpPr>
        <p:spPr>
          <a:xfrm xmlns:a="http://schemas.openxmlformats.org/drawingml/2006/main">
            <a:off x="6362700" y="1524000"/>
            <a:ext cx="5238750" cy="1809750"/>
          </a:xfrm>
          <a:prstGeom xmlns:a="http://schemas.openxmlformats.org/drawingml/2006/main" prst="rect">
            <a:avLst/>
          </a:prstGeom>
          <a:solidFill xmlns:a="http://schemas.openxmlformats.org/drawingml/2006/main">
            <a:srgbClr val="FFF8EF"/>
          </a:solidFill>
          <a:ln xmlns:a="http://schemas.openxmlformats.org/drawingml/2006/main" w="20955">
            <a:solidFill>
              <a:srgbClr val="28253D"/>
            </a:solidFill>
            <a:prstDash val="solid"/>
          </a:ln>
        </p:spPr>
      </p:sp>
      <p:sp>
        <p:nvSpPr>
          <p:cNvPr id="13" name="">
            <a:extLst xmlns:a="http://schemas.openxmlformats.org/drawingml/2006/main">
              <a:ext uri="{FF2B5EF4-FFF2-40B4-BE49-F238E27FC236}">
                <a16:creationId xmlns:a16="http://schemas.microsoft.com/office/drawing/2014/main" id="{9916B7FB-C580-4414-9F56-A5AB9F429A7F}"/>
              </a:ext>
            </a:extLst>
          </p:cNvPr>
          <p:cNvSpPr>
            <a:spLocks xmlns:a="http://schemas.openxmlformats.org/drawingml/2006/main" noGrp="1"/>
          </p:cNvSpPr>
          <p:nvPr/>
        </p:nvSpPr>
        <p:spPr>
          <a:xfrm xmlns:a="http://schemas.openxmlformats.org/drawingml/2006/main">
            <a:off x="6362700" y="1524000"/>
            <a:ext cx="114300" cy="18097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E0D88AF-72AD-4671-BEB0-AF9C430C41F7}"/>
              </a:ext>
            </a:extLst>
          </p:cNvPr>
          <p:cNvSpPr>
            <a:spLocks xmlns:a="http://schemas.openxmlformats.org/drawingml/2006/main" noGrp="1"/>
          </p:cNvSpPr>
          <p:nvPr/>
        </p:nvSpPr>
        <p:spPr>
          <a:xfrm xmlns:a="http://schemas.openxmlformats.org/drawingml/2006/main">
            <a:off x="7048500" y="1714500"/>
            <a:ext cx="4362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Voice → text bridge</a:t>
            </a:r>
          </a:p>
        </p:txBody>
      </p:sp>
      <p:sp>
        <p:nvSpPr>
          <p:cNvPr id="15" name="">
            <a:extLst xmlns:a="http://schemas.openxmlformats.org/drawingml/2006/main">
              <a:ext uri="{FF2B5EF4-FFF2-40B4-BE49-F238E27FC236}">
                <a16:creationId xmlns:a16="http://schemas.microsoft.com/office/drawing/2014/main" id="{CB8A2DA5-12DF-4A32-B347-FA59A4CBEA57}"/>
              </a:ext>
            </a:extLst>
          </p:cNvPr>
          <p:cNvSpPr>
            <a:spLocks xmlns:a="http://schemas.openxmlformats.org/drawingml/2006/main" noGrp="1"/>
          </p:cNvSpPr>
          <p:nvPr/>
        </p:nvSpPr>
        <p:spPr>
          <a:xfrm xmlns:a="http://schemas.openxmlformats.org/drawingml/2006/main">
            <a:off x="6629400" y="2171700"/>
            <a:ext cx="4762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Current: trusted-LAN text request.</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Harden: explicit caller authorization or an authenticated tunnel.</a:t>
            </a:r>
          </a:p>
        </p:txBody>
      </p:sp>
      <p:sp>
        <p:nvSpPr>
          <p:cNvPr id="16" name="">
            <a:extLst xmlns:a="http://schemas.openxmlformats.org/drawingml/2006/main">
              <a:ext uri="{FF2B5EF4-FFF2-40B4-BE49-F238E27FC236}">
                <a16:creationId xmlns:a16="http://schemas.microsoft.com/office/drawing/2014/main" id="{CD195B5F-F8DB-48F9-8193-80EAB5E1DC1B}"/>
              </a:ext>
            </a:extLst>
          </p:cNvPr>
          <p:cNvSpPr>
            <a:spLocks xmlns:a="http://schemas.openxmlformats.org/drawingml/2006/main" noGrp="1"/>
          </p:cNvSpPr>
          <p:nvPr/>
        </p:nvSpPr>
        <p:spPr>
          <a:xfrm xmlns:a="http://schemas.openxmlformats.org/drawingml/2006/main">
            <a:off x="590550" y="3638550"/>
            <a:ext cx="5238750" cy="1809750"/>
          </a:xfrm>
          <a:prstGeom xmlns:a="http://schemas.openxmlformats.org/drawingml/2006/main" prst="rect">
            <a:avLst/>
          </a:prstGeom>
          <a:solidFill xmlns:a="http://schemas.openxmlformats.org/drawingml/2006/main">
            <a:srgbClr val="F7E9B6"/>
          </a:solidFill>
          <a:ln xmlns:a="http://schemas.openxmlformats.org/drawingml/2006/main" w="20955">
            <a:solidFill>
              <a:srgbClr val="28253D"/>
            </a:solidFill>
            <a:prstDash val="solid"/>
          </a:ln>
        </p:spPr>
      </p:sp>
      <p:sp>
        <p:nvSpPr>
          <p:cNvPr id="17" name="">
            <a:extLst xmlns:a="http://schemas.openxmlformats.org/drawingml/2006/main">
              <a:ext uri="{FF2B5EF4-FFF2-40B4-BE49-F238E27FC236}">
                <a16:creationId xmlns:a16="http://schemas.microsoft.com/office/drawing/2014/main" id="{8C266EAA-9EBC-46B5-9580-23C98A9EC7C1}"/>
              </a:ext>
            </a:extLst>
          </p:cNvPr>
          <p:cNvSpPr>
            <a:spLocks xmlns:a="http://schemas.openxmlformats.org/drawingml/2006/main" noGrp="1"/>
          </p:cNvSpPr>
          <p:nvPr/>
        </p:nvSpPr>
        <p:spPr>
          <a:xfrm xmlns:a="http://schemas.openxmlformats.org/drawingml/2006/main">
            <a:off x="590550" y="3638550"/>
            <a:ext cx="114300" cy="18097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59A2E0F2-9B72-49B5-AD58-80FB85E3707B}"/>
              </a:ext>
            </a:extLst>
          </p:cNvPr>
          <p:cNvSpPr>
            <a:spLocks xmlns:a="http://schemas.openxmlformats.org/drawingml/2006/main" noGrp="1"/>
          </p:cNvSpPr>
          <p:nvPr/>
        </p:nvSpPr>
        <p:spPr>
          <a:xfrm xmlns:a="http://schemas.openxmlformats.org/drawingml/2006/main">
            <a:off x="1276350" y="3829050"/>
            <a:ext cx="4362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Workstation journals</a:t>
            </a:r>
          </a:p>
        </p:txBody>
      </p:sp>
      <p:sp>
        <p:nvSpPr>
          <p:cNvPr id="19" name="">
            <a:extLst xmlns:a="http://schemas.openxmlformats.org/drawingml/2006/main">
              <a:ext uri="{FF2B5EF4-FFF2-40B4-BE49-F238E27FC236}">
                <a16:creationId xmlns:a16="http://schemas.microsoft.com/office/drawing/2014/main" id="{A1F1566F-5D25-43C7-9263-B52DF0277202}"/>
              </a:ext>
            </a:extLst>
          </p:cNvPr>
          <p:cNvSpPr>
            <a:spLocks xmlns:a="http://schemas.openxmlformats.org/drawingml/2006/main" noGrp="1"/>
          </p:cNvSpPr>
          <p:nvPr/>
        </p:nvSpPr>
        <p:spPr>
          <a:xfrm xmlns:a="http://schemas.openxmlformats.org/drawingml/2006/main">
            <a:off x="857250" y="4286250"/>
            <a:ext cx="4762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Current: separate filesystem bridge with explicit reads.</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Harden: narrow, read-only handoff folder instead of a broad writable mount.</a:t>
            </a:r>
          </a:p>
        </p:txBody>
      </p:sp>
      <p:sp>
        <p:nvSpPr>
          <p:cNvPr id="20" name="">
            <a:extLst xmlns:a="http://schemas.openxmlformats.org/drawingml/2006/main">
              <a:ext uri="{FF2B5EF4-FFF2-40B4-BE49-F238E27FC236}">
                <a16:creationId xmlns:a16="http://schemas.microsoft.com/office/drawing/2014/main" id="{80EC07FC-7C01-4219-A8A7-870FA759ADCE}"/>
              </a:ext>
            </a:extLst>
          </p:cNvPr>
          <p:cNvSpPr>
            <a:spLocks xmlns:a="http://schemas.openxmlformats.org/drawingml/2006/main" noGrp="1"/>
          </p:cNvSpPr>
          <p:nvPr/>
        </p:nvSpPr>
        <p:spPr>
          <a:xfrm xmlns:a="http://schemas.openxmlformats.org/drawingml/2006/main">
            <a:off x="6362700" y="3638550"/>
            <a:ext cx="5238750" cy="1809750"/>
          </a:xfrm>
          <a:prstGeom xmlns:a="http://schemas.openxmlformats.org/drawingml/2006/main" prst="rect">
            <a:avLst/>
          </a:prstGeom>
          <a:solidFill xmlns:a="http://schemas.openxmlformats.org/drawingml/2006/main">
            <a:srgbClr val="FFF8EF"/>
          </a:solidFill>
          <a:ln xmlns:a="http://schemas.openxmlformats.org/drawingml/2006/main" w="20955">
            <a:solidFill>
              <a:srgbClr val="28253D"/>
            </a:solidFill>
            <a:prstDash val="solid"/>
          </a:ln>
        </p:spPr>
      </p:sp>
      <p:sp>
        <p:nvSpPr>
          <p:cNvPr id="21" name="">
            <a:extLst xmlns:a="http://schemas.openxmlformats.org/drawingml/2006/main">
              <a:ext uri="{FF2B5EF4-FFF2-40B4-BE49-F238E27FC236}">
                <a16:creationId xmlns:a16="http://schemas.microsoft.com/office/drawing/2014/main" id="{ABFD6DD6-44E3-4AE1-A6FB-793AA731C614}"/>
              </a:ext>
            </a:extLst>
          </p:cNvPr>
          <p:cNvSpPr>
            <a:spLocks xmlns:a="http://schemas.openxmlformats.org/drawingml/2006/main" noGrp="1"/>
          </p:cNvSpPr>
          <p:nvPr/>
        </p:nvSpPr>
        <p:spPr>
          <a:xfrm xmlns:a="http://schemas.openxmlformats.org/drawingml/2006/main">
            <a:off x="6362700" y="3638550"/>
            <a:ext cx="114300" cy="18097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4781E73-A432-4D95-A6BE-463E20EC2EDD}"/>
              </a:ext>
            </a:extLst>
          </p:cNvPr>
          <p:cNvSpPr>
            <a:spLocks xmlns:a="http://schemas.openxmlformats.org/drawingml/2006/main" noGrp="1"/>
          </p:cNvSpPr>
          <p:nvPr/>
        </p:nvSpPr>
        <p:spPr>
          <a:xfrm xmlns:a="http://schemas.openxmlformats.org/drawingml/2006/main">
            <a:off x="7048500" y="3829050"/>
            <a:ext cx="4362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GBrain → private Git</a:t>
            </a:r>
          </a:p>
        </p:txBody>
      </p:sp>
      <p:sp>
        <p:nvSpPr>
          <p:cNvPr id="23" name="">
            <a:extLst xmlns:a="http://schemas.openxmlformats.org/drawingml/2006/main">
              <a:ext uri="{FF2B5EF4-FFF2-40B4-BE49-F238E27FC236}">
                <a16:creationId xmlns:a16="http://schemas.microsoft.com/office/drawing/2014/main" id="{D7FF5BBD-7B93-4153-9262-478626411BBD}"/>
              </a:ext>
            </a:extLst>
          </p:cNvPr>
          <p:cNvSpPr>
            <a:spLocks xmlns:a="http://schemas.openxmlformats.org/drawingml/2006/main" noGrp="1"/>
          </p:cNvSpPr>
          <p:nvPr/>
        </p:nvSpPr>
        <p:spPr>
          <a:xfrm xmlns:a="http://schemas.openxmlformats.org/drawingml/2006/main">
            <a:off x="6629400" y="4286250"/>
            <a:ext cx="4762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Current: authored-source backup and scheduled recovery.</a:t>
            </a:r>
          </a:p>
          <a:p xmlns:a="http://schemas.openxmlformats.org/drawingml/2006/main">
            <a:r>
              <a:t/>
            </a:r>
          </a:p>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Harden: monitor push failures and verify policy for every isolated source.</a:t>
            </a:r>
          </a:p>
        </p:txBody>
      </p:sp>
      <p:sp>
        <p:nvSpPr>
          <p:cNvPr id="24" name="">
            <a:extLst xmlns:a="http://schemas.openxmlformats.org/drawingml/2006/main">
              <a:ext uri="{FF2B5EF4-FFF2-40B4-BE49-F238E27FC236}">
                <a16:creationId xmlns:a16="http://schemas.microsoft.com/office/drawing/2014/main" id="{D7BAB852-439D-4060-8543-56EAC825D4A1}"/>
              </a:ext>
            </a:extLst>
          </p:cNvPr>
          <p:cNvSpPr>
            <a:spLocks xmlns:a="http://schemas.openxmlformats.org/drawingml/2006/main" noGrp="1"/>
          </p:cNvSpPr>
          <p:nvPr/>
        </p:nvSpPr>
        <p:spPr>
          <a:xfrm xmlns:a="http://schemas.openxmlformats.org/drawingml/2006/main">
            <a:off x="2152650" y="5810250"/>
            <a:ext cx="7886700" cy="400050"/>
          </a:xfrm>
          <a:prstGeom xmlns:a="http://schemas.openxmlformats.org/drawingml/2006/main" prst="rect">
            <a:avLst/>
          </a:prstGeom>
          <a:solidFill xmlns:a="http://schemas.openxmlformats.org/drawingml/2006/main">
            <a:srgbClr val="F8F1E5"/>
          </a:solidFill>
          <a:ln xmlns:a="http://schemas.openxmlformats.org/drawingml/2006/main" w="17145">
            <a:solidFill>
              <a:srgbClr val="28253D"/>
            </a:solidFill>
            <a:prstDash val="solid"/>
          </a:ln>
        </p:spPr>
        <p:txBody>
          <a:bodyPr xmlns:a="http://schemas.openxmlformats.org/drawingml/2006/main" lIns="76200" tIns="28575" rIns="76200" bIns="28575" anchor="ctr"/>
          <a:lstStyle xmlns:a="http://schemas.openxmlformats.org/drawingml/2006/main"/>
          <a:p xmlns:a="http://schemas.openxmlformats.org/drawingml/2006/main">
            <a:pPr algn="ctr">
              <a:defRPr sz="1200" b="1">
                <a:solidFill>
                  <a:srgbClr val="28253D"/>
                </a:solidFill>
                <a:latin typeface="Arial"/>
                <a:ea typeface="Arial"/>
                <a:cs typeface="Arial"/>
              </a:defRPr>
            </a:pPr>
            <a:r>
              <a:rPr sz="1200" b="1">
                <a:solidFill>
                  <a:srgbClr val="28253D"/>
                </a:solidFill>
                <a:latin typeface="Arial"/>
                <a:ea typeface="Arial"/>
                <a:cs typeface="Arial"/>
              </a:rPr>
              <a:t>A LAN listener is not automatically safe. A mounted folder is not automatically knowledge.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7014da7d1284bd4">
            <a:extLst>
              <a:ext uri="{96DAC541-7B7A-43D3-8B79-37D633B846F1}">
                <asvg:svgBlip xmlns:asvg="http://schemas.microsoft.com/office/drawing/2016/SVG/main" r:embed="R26751a8bcffb4cd5"/>
              </a:ext>
            </a:extLst>
          </a:blip>
          <a:stretch xmlns:a="http://schemas.openxmlformats.org/drawingml/2006/main"/>
        </p:blipFill>
        <p:spPr>
          <a:xfrm xmlns:a="http://schemas.openxmlformats.org/drawingml/2006/main">
            <a:off x="838200" y="1752600"/>
            <a:ext cx="323850" cy="32385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b283bd4ec5f4e96">
            <a:extLst>
              <a:ext uri="{96DAC541-7B7A-43D3-8B79-37D633B846F1}">
                <asvg:svgBlip xmlns:asvg="http://schemas.microsoft.com/office/drawing/2016/SVG/main" r:embed="R39546d83a8664a30"/>
              </a:ext>
            </a:extLst>
          </a:blip>
          <a:stretch xmlns:a="http://schemas.openxmlformats.org/drawingml/2006/main"/>
        </p:blipFill>
        <p:spPr>
          <a:xfrm xmlns:a="http://schemas.openxmlformats.org/drawingml/2006/main">
            <a:off x="6610350" y="1752600"/>
            <a:ext cx="323850" cy="3238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97629397e124354">
            <a:extLst>
              <a:ext uri="{96DAC541-7B7A-43D3-8B79-37D633B846F1}">
                <asvg:svgBlip xmlns:asvg="http://schemas.microsoft.com/office/drawing/2016/SVG/main" r:embed="R97ce469c3158480a"/>
              </a:ext>
            </a:extLst>
          </a:blip>
          <a:stretch xmlns:a="http://schemas.openxmlformats.org/drawingml/2006/main"/>
        </p:blipFill>
        <p:spPr>
          <a:xfrm xmlns:a="http://schemas.openxmlformats.org/drawingml/2006/main">
            <a:off x="838200" y="3867150"/>
            <a:ext cx="323850" cy="323850"/>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913b68dbfd04e47">
            <a:extLst>
              <a:ext uri="{96DAC541-7B7A-43D3-8B79-37D633B846F1}">
                <asvg:svgBlip xmlns:asvg="http://schemas.microsoft.com/office/drawing/2016/SVG/main" r:embed="R036904cfb90a49ff"/>
              </a:ext>
            </a:extLst>
          </a:blip>
          <a:stretch xmlns:a="http://schemas.openxmlformats.org/drawingml/2006/main"/>
        </p:blipFill>
        <p:spPr>
          <a:xfrm xmlns:a="http://schemas.openxmlformats.org/drawingml/2006/main">
            <a:off x="6610350" y="3867150"/>
            <a:ext cx="323850" cy="323850"/>
          </a:xfrm>
          <a:prstGeom xmlns:a="http://schemas.openxmlformats.org/drawingml/2006/main" prst="rect">
            <a:avLst/>
          </a:prstGeom>
        </p:spPr>
      </p:pic>
    </p:spTree>
    <p:extLst>
      <p:ext uri="{BB962C8B-B14F-4D97-AF65-F5344CB8AC3E}">
        <p14:creationId xmlns:p14="http://schemas.microsoft.com/office/powerpoint/2010/main" val="169419216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EA81BBA-7887-4DD4-A6CB-553DA6309F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1E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A5EF7AB-CFC7-4E13-857A-521DDBF995D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9F29233-1B2C-4045-8635-C2F2F865A841}"/>
              </a:ext>
            </a:extLst>
          </p:cNvPr>
          <p:cNvSpPr>
            <a:spLocks xmlns:a="http://schemas.openxmlformats.org/drawingml/2006/main" noGrp="1"/>
          </p:cNvSpPr>
          <p:nvPr/>
        </p:nvSpPr>
        <p:spPr>
          <a:xfrm xmlns:a="http://schemas.openxmlformats.org/drawingml/2006/main">
            <a:off x="590550" y="3810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E9878C"/>
                </a:solidFill>
                <a:latin typeface="Arial"/>
                <a:ea typeface="Arial"/>
                <a:cs typeface="Arial"/>
              </a:defRPr>
            </a:pPr>
            <a:r>
              <a:rPr sz="1050" b="1">
                <a:solidFill>
                  <a:srgbClr val="E9878C"/>
                </a:solidFill>
                <a:latin typeface="Arial"/>
                <a:ea typeface="Arial"/>
                <a:cs typeface="Arial"/>
              </a:rPr>
              <a:t>SPEAKER GUIDE</a:t>
            </a:r>
          </a:p>
        </p:txBody>
      </p:sp>
      <p:sp>
        <p:nvSpPr>
          <p:cNvPr id="4" name="">
            <a:extLst xmlns:a="http://schemas.openxmlformats.org/drawingml/2006/main">
              <a:ext uri="{FF2B5EF4-FFF2-40B4-BE49-F238E27FC236}">
                <a16:creationId xmlns:a16="http://schemas.microsoft.com/office/drawing/2014/main" id="{879A452F-695F-4D6F-8DBB-34698B663F26}"/>
              </a:ext>
            </a:extLst>
          </p:cNvPr>
          <p:cNvSpPr>
            <a:spLocks xmlns:a="http://schemas.openxmlformats.org/drawingml/2006/main" noGrp="1"/>
          </p:cNvSpPr>
          <p:nvPr/>
        </p:nvSpPr>
        <p:spPr>
          <a:xfrm xmlns:a="http://schemas.openxmlformats.org/drawingml/2006/main">
            <a:off x="590550" y="685800"/>
            <a:ext cx="10763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8253D"/>
                </a:solidFill>
                <a:latin typeface="Georgia"/>
                <a:ea typeface="Georgia"/>
                <a:cs typeface="Georgia"/>
              </a:defRPr>
            </a:pPr>
            <a:r>
              <a:rPr sz="2700" b="1">
                <a:solidFill>
                  <a:srgbClr val="28253D"/>
                </a:solidFill>
                <a:latin typeface="Georgia"/>
                <a:ea typeface="Georgia"/>
                <a:cs typeface="Georgia"/>
              </a:rPr>
              <a:t>How to describe the system</a:t>
            </a:r>
          </a:p>
        </p:txBody>
      </p:sp>
      <p:sp>
        <p:nvSpPr>
          <p:cNvPr id="5" name="">
            <a:extLst xmlns:a="http://schemas.openxmlformats.org/drawingml/2006/main">
              <a:ext uri="{FF2B5EF4-FFF2-40B4-BE49-F238E27FC236}">
                <a16:creationId xmlns:a16="http://schemas.microsoft.com/office/drawing/2014/main" id="{B497A210-F9E5-4F18-A24D-19E714DEC9C8}"/>
              </a:ext>
            </a:extLst>
          </p:cNvPr>
          <p:cNvSpPr>
            <a:spLocks xmlns:a="http://schemas.openxmlformats.org/drawingml/2006/main" noGrp="1"/>
          </p:cNvSpPr>
          <p:nvPr/>
        </p:nvSpPr>
        <p:spPr>
          <a:xfrm xmlns:a="http://schemas.openxmlformats.org/drawingml/2006/main">
            <a:off x="590550" y="6496050"/>
            <a:ext cx="11010900" cy="190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56102320-1B49-46DF-BD28-D5F0F960D605}"/>
              </a:ext>
            </a:extLst>
          </p:cNvPr>
          <p:cNvSpPr>
            <a:spLocks xmlns:a="http://schemas.openxmlformats.org/drawingml/2006/main" noGrp="1"/>
          </p:cNvSpPr>
          <p:nvPr/>
        </p:nvSpPr>
        <p:spPr>
          <a:xfrm xmlns:a="http://schemas.openxmlformats.org/drawingml/2006/main">
            <a:off x="590550" y="657225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F6B74"/>
                </a:solidFill>
                <a:latin typeface="Arial"/>
                <a:ea typeface="Arial"/>
                <a:cs typeface="Arial"/>
              </a:defRPr>
            </a:pPr>
            <a:r>
              <a:rPr sz="750" b="1">
                <a:solidFill>
                  <a:srgbClr val="6F6B74"/>
                </a:solidFill>
                <a:latin typeface="Arial"/>
                <a:ea typeface="Arial"/>
                <a:cs typeface="Arial"/>
              </a:rPr>
              <a:t>ANONYMIZED LOCAL AI/ML ARCHITECTURE</a:t>
            </a:r>
          </a:p>
        </p:txBody>
      </p:sp>
      <p:sp>
        <p:nvSpPr>
          <p:cNvPr id="7" name="">
            <a:extLst xmlns:a="http://schemas.openxmlformats.org/drawingml/2006/main">
              <a:ext uri="{FF2B5EF4-FFF2-40B4-BE49-F238E27FC236}">
                <a16:creationId xmlns:a16="http://schemas.microsoft.com/office/drawing/2014/main" id="{E3C495AC-D2A0-4002-B2EC-202E15972FDD}"/>
              </a:ext>
            </a:extLst>
          </p:cNvPr>
          <p:cNvSpPr>
            <a:spLocks xmlns:a="http://schemas.openxmlformats.org/drawingml/2006/main" noGrp="1"/>
          </p:cNvSpPr>
          <p:nvPr/>
        </p:nvSpPr>
        <p:spPr>
          <a:xfrm xmlns:a="http://schemas.openxmlformats.org/drawingml/2006/main">
            <a:off x="10744200" y="65722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F6B74"/>
                </a:solidFill>
                <a:latin typeface="Arial"/>
                <a:ea typeface="Arial"/>
                <a:cs typeface="Arial"/>
              </a:defRPr>
            </a:pPr>
            <a:r>
              <a:rPr sz="750" b="1">
                <a:solidFill>
                  <a:srgbClr val="6F6B74"/>
                </a:solidFill>
                <a:latin typeface="Arial"/>
                <a:ea typeface="Arial"/>
                <a:cs typeface="Arial"/>
              </a:rPr>
              <a:t>12</a:t>
            </a:r>
          </a:p>
        </p:txBody>
      </p:sp>
      <p:sp>
        <p:nvSpPr>
          <p:cNvPr id="8" name="">
            <a:extLst xmlns:a="http://schemas.openxmlformats.org/drawingml/2006/main">
              <a:ext uri="{FF2B5EF4-FFF2-40B4-BE49-F238E27FC236}">
                <a16:creationId xmlns:a16="http://schemas.microsoft.com/office/drawing/2014/main" id="{773B6B5E-3CEF-475E-9865-3BF0636D212A}"/>
              </a:ext>
            </a:extLst>
          </p:cNvPr>
          <p:cNvSpPr>
            <a:spLocks xmlns:a="http://schemas.openxmlformats.org/drawingml/2006/main" noGrp="1"/>
          </p:cNvSpPr>
          <p:nvPr/>
        </p:nvSpPr>
        <p:spPr>
          <a:xfrm xmlns:a="http://schemas.openxmlformats.org/drawingml/2006/main">
            <a:off x="590550" y="1524000"/>
            <a:ext cx="6572250" cy="4171950"/>
          </a:xfrm>
          <a:prstGeom xmlns:a="http://schemas.openxmlformats.org/drawingml/2006/main" prst="rect">
            <a:avLst/>
          </a:prstGeom>
          <a:solidFill xmlns:a="http://schemas.openxmlformats.org/drawingml/2006/main">
            <a:srgbClr val="FFF8EF"/>
          </a:solidFill>
          <a:ln xmlns:a="http://schemas.openxmlformats.org/drawingml/2006/main" w="20955">
            <a:solidFill>
              <a:srgbClr val="28253D"/>
            </a:solidFill>
            <a:prstDash val="solid"/>
          </a:ln>
        </p:spPr>
      </p:sp>
      <p:sp>
        <p:nvSpPr>
          <p:cNvPr id="9" name="">
            <a:extLst xmlns:a="http://schemas.openxmlformats.org/drawingml/2006/main">
              <a:ext uri="{FF2B5EF4-FFF2-40B4-BE49-F238E27FC236}">
                <a16:creationId xmlns:a16="http://schemas.microsoft.com/office/drawing/2014/main" id="{8A2C67A3-3AFB-461C-89CE-56116916B342}"/>
              </a:ext>
            </a:extLst>
          </p:cNvPr>
          <p:cNvSpPr>
            <a:spLocks xmlns:a="http://schemas.openxmlformats.org/drawingml/2006/main" noGrp="1"/>
          </p:cNvSpPr>
          <p:nvPr/>
        </p:nvSpPr>
        <p:spPr>
          <a:xfrm xmlns:a="http://schemas.openxmlformats.org/drawingml/2006/main">
            <a:off x="590550" y="1524000"/>
            <a:ext cx="114300" cy="41719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8841634-6E4B-48B2-AB6B-3F8586940685}"/>
              </a:ext>
            </a:extLst>
          </p:cNvPr>
          <p:cNvSpPr>
            <a:spLocks xmlns:a="http://schemas.openxmlformats.org/drawingml/2006/main" noGrp="1"/>
          </p:cNvSpPr>
          <p:nvPr/>
        </p:nvSpPr>
        <p:spPr>
          <a:xfrm xmlns:a="http://schemas.openxmlformats.org/drawingml/2006/main">
            <a:off x="1276350" y="1714500"/>
            <a:ext cx="5695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8253D"/>
                </a:solidFill>
                <a:latin typeface="Georgia"/>
                <a:ea typeface="Georgia"/>
                <a:cs typeface="Georgia"/>
              </a:defRPr>
            </a:pPr>
            <a:r>
              <a:rPr sz="1800" b="1">
                <a:solidFill>
                  <a:srgbClr val="28253D"/>
                </a:solidFill>
                <a:latin typeface="Georgia"/>
                <a:ea typeface="Georgia"/>
                <a:cs typeface="Georgia"/>
              </a:rPr>
              <a:t>30-second version</a:t>
            </a:r>
          </a:p>
        </p:txBody>
      </p:sp>
      <p:sp>
        <p:nvSpPr>
          <p:cNvPr id="11" name="">
            <a:extLst xmlns:a="http://schemas.openxmlformats.org/drawingml/2006/main">
              <a:ext uri="{FF2B5EF4-FFF2-40B4-BE49-F238E27FC236}">
                <a16:creationId xmlns:a16="http://schemas.microsoft.com/office/drawing/2014/main" id="{DAD21884-743E-4E52-84B2-32DB37AA39DE}"/>
              </a:ext>
            </a:extLst>
          </p:cNvPr>
          <p:cNvSpPr>
            <a:spLocks xmlns:a="http://schemas.openxmlformats.org/drawingml/2006/main" noGrp="1"/>
          </p:cNvSpPr>
          <p:nvPr/>
        </p:nvSpPr>
        <p:spPr>
          <a:xfrm xmlns:a="http://schemas.openxmlformats.org/drawingml/2006/main">
            <a:off x="857250" y="2171700"/>
            <a:ext cx="6096000" cy="3352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28253D"/>
                </a:solidFill>
                <a:latin typeface="Arial"/>
                <a:ea typeface="Arial"/>
                <a:cs typeface="Arial"/>
              </a:defRPr>
            </a:pPr>
            <a:r>
              <a:rPr sz="1500" b="0">
                <a:solidFill>
                  <a:srgbClr val="28253D"/>
                </a:solidFill>
                <a:latin typeface="Arial"/>
                <a:ea typeface="Arial"/>
                <a:cs typeface="Arial"/>
              </a:rPr>
              <a:t>“The interface lives on a normal workstation, while the agent, models, training tools, and durable knowledge run on a dedicated local host. Canvas, messaging, and voice connect through authenticated, source-scoped sessions. The agent uses current job evidence first and queries GBrain only when durable history is useful. GBrain stores curated outcomes backed by private Git. Voice is another input and output layer around the same agent—not a separate brain.”</a:t>
            </a:r>
          </a:p>
        </p:txBody>
      </p:sp>
      <p:sp>
        <p:nvSpPr>
          <p:cNvPr id="12" name="">
            <a:extLst xmlns:a="http://schemas.openxmlformats.org/drawingml/2006/main">
              <a:ext uri="{FF2B5EF4-FFF2-40B4-BE49-F238E27FC236}">
                <a16:creationId xmlns:a16="http://schemas.microsoft.com/office/drawing/2014/main" id="{358BC143-69F0-4661-A613-1C68BBE834AB}"/>
              </a:ext>
            </a:extLst>
          </p:cNvPr>
          <p:cNvSpPr>
            <a:spLocks xmlns:a="http://schemas.openxmlformats.org/drawingml/2006/main" noGrp="1"/>
          </p:cNvSpPr>
          <p:nvPr/>
        </p:nvSpPr>
        <p:spPr>
          <a:xfrm xmlns:a="http://schemas.openxmlformats.org/drawingml/2006/main">
            <a:off x="7581900" y="1524000"/>
            <a:ext cx="4019550" cy="4171950"/>
          </a:xfrm>
          <a:prstGeom xmlns:a="http://schemas.openxmlformats.org/drawingml/2006/main" prst="rect">
            <a:avLst/>
          </a:prstGeom>
          <a:solidFill xmlns:a="http://schemas.openxmlformats.org/drawingml/2006/main">
            <a:srgbClr val="DDE8D3"/>
          </a:solidFill>
          <a:ln xmlns:a="http://schemas.openxmlformats.org/drawingml/2006/main" w="20955">
            <a:solidFill>
              <a:srgbClr val="28253D"/>
            </a:solidFill>
            <a:prstDash val="solid"/>
          </a:ln>
        </p:spPr>
      </p:sp>
      <p:sp>
        <p:nvSpPr>
          <p:cNvPr id="13" name="">
            <a:extLst xmlns:a="http://schemas.openxmlformats.org/drawingml/2006/main">
              <a:ext uri="{FF2B5EF4-FFF2-40B4-BE49-F238E27FC236}">
                <a16:creationId xmlns:a16="http://schemas.microsoft.com/office/drawing/2014/main" id="{B13BD612-6B0F-4F98-B744-67F39FC576CB}"/>
              </a:ext>
            </a:extLst>
          </p:cNvPr>
          <p:cNvSpPr>
            <a:spLocks xmlns:a="http://schemas.openxmlformats.org/drawingml/2006/main" noGrp="1"/>
          </p:cNvSpPr>
          <p:nvPr/>
        </p:nvSpPr>
        <p:spPr>
          <a:xfrm xmlns:a="http://schemas.openxmlformats.org/drawingml/2006/main">
            <a:off x="7581900" y="1524000"/>
            <a:ext cx="114300" cy="4171950"/>
          </a:xfrm>
          <a:prstGeom xmlns:a="http://schemas.openxmlformats.org/drawingml/2006/main" prst="rect">
            <a:avLst/>
          </a:prstGeom>
          <a:solidFill xmlns:a="http://schemas.openxmlformats.org/drawingml/2006/main">
            <a:srgbClr val="28253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9256E9A-C803-4B30-AB06-DFB05607A76A}"/>
              </a:ext>
            </a:extLst>
          </p:cNvPr>
          <p:cNvSpPr>
            <a:spLocks xmlns:a="http://schemas.openxmlformats.org/drawingml/2006/main" noGrp="1"/>
          </p:cNvSpPr>
          <p:nvPr/>
        </p:nvSpPr>
        <p:spPr>
          <a:xfrm xmlns:a="http://schemas.openxmlformats.org/drawingml/2006/main">
            <a:off x="8267700" y="1714500"/>
            <a:ext cx="3143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253D"/>
                </a:solidFill>
                <a:latin typeface="Georgia"/>
                <a:ea typeface="Georgia"/>
                <a:cs typeface="Georgia"/>
              </a:defRPr>
            </a:pPr>
            <a:r>
              <a:rPr sz="1650" b="1">
                <a:solidFill>
                  <a:srgbClr val="28253D"/>
                </a:solidFill>
                <a:latin typeface="Georgia"/>
                <a:ea typeface="Georgia"/>
                <a:cs typeface="Georgia"/>
              </a:rPr>
              <a:t>Technical walkthrough</a:t>
            </a:r>
          </a:p>
        </p:txBody>
      </p:sp>
      <p:sp>
        <p:nvSpPr>
          <p:cNvPr id="15" name="">
            <a:extLst xmlns:a="http://schemas.openxmlformats.org/drawingml/2006/main">
              <a:ext uri="{FF2B5EF4-FFF2-40B4-BE49-F238E27FC236}">
                <a16:creationId xmlns:a16="http://schemas.microsoft.com/office/drawing/2014/main" id="{A96D969D-80F6-4D54-A38B-C3155953CCE7}"/>
              </a:ext>
            </a:extLst>
          </p:cNvPr>
          <p:cNvSpPr>
            <a:spLocks xmlns:a="http://schemas.openxmlformats.org/drawingml/2006/main" noGrp="1"/>
          </p:cNvSpPr>
          <p:nvPr/>
        </p:nvSpPr>
        <p:spPr>
          <a:xfrm xmlns:a="http://schemas.openxmlformats.org/drawingml/2006/main">
            <a:off x="7867650" y="24765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F2F5A6E-FFD7-40E2-A940-6A07E0D85D85}"/>
              </a:ext>
            </a:extLst>
          </p:cNvPr>
          <p:cNvSpPr>
            <a:spLocks xmlns:a="http://schemas.openxmlformats.org/drawingml/2006/main" noGrp="1"/>
          </p:cNvSpPr>
          <p:nvPr/>
        </p:nvSpPr>
        <p:spPr>
          <a:xfrm xmlns:a="http://schemas.openxmlformats.org/drawingml/2006/main">
            <a:off x="8105775" y="2400300"/>
            <a:ext cx="3190875"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Name the interaction surface and session scope</a:t>
            </a:r>
          </a:p>
        </p:txBody>
      </p:sp>
      <p:sp>
        <p:nvSpPr>
          <p:cNvPr id="17" name="">
            <a:extLst xmlns:a="http://schemas.openxmlformats.org/drawingml/2006/main">
              <a:ext uri="{FF2B5EF4-FFF2-40B4-BE49-F238E27FC236}">
                <a16:creationId xmlns:a16="http://schemas.microsoft.com/office/drawing/2014/main" id="{CE43CD14-920B-4B77-816B-1BFAD56A43F3}"/>
              </a:ext>
            </a:extLst>
          </p:cNvPr>
          <p:cNvSpPr>
            <a:spLocks xmlns:a="http://schemas.openxmlformats.org/drawingml/2006/main" noGrp="1"/>
          </p:cNvSpPr>
          <p:nvPr/>
        </p:nvSpPr>
        <p:spPr>
          <a:xfrm xmlns:a="http://schemas.openxmlformats.org/drawingml/2006/main">
            <a:off x="7867650" y="302895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BA190E74-51C0-4688-A191-854BAE249B85}"/>
              </a:ext>
            </a:extLst>
          </p:cNvPr>
          <p:cNvSpPr>
            <a:spLocks xmlns:a="http://schemas.openxmlformats.org/drawingml/2006/main" noGrp="1"/>
          </p:cNvSpPr>
          <p:nvPr/>
        </p:nvSpPr>
        <p:spPr>
          <a:xfrm xmlns:a="http://schemas.openxmlformats.org/drawingml/2006/main">
            <a:off x="8105775" y="2952750"/>
            <a:ext cx="3190875"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Explain the authenticated transport</a:t>
            </a:r>
          </a:p>
        </p:txBody>
      </p:sp>
      <p:sp>
        <p:nvSpPr>
          <p:cNvPr id="19" name="">
            <a:extLst xmlns:a="http://schemas.openxmlformats.org/drawingml/2006/main">
              <a:ext uri="{FF2B5EF4-FFF2-40B4-BE49-F238E27FC236}">
                <a16:creationId xmlns:a16="http://schemas.microsoft.com/office/drawing/2014/main" id="{2DCB4832-CF8E-44E2-9CF7-8B0DBDA1819C}"/>
              </a:ext>
            </a:extLst>
          </p:cNvPr>
          <p:cNvSpPr>
            <a:spLocks xmlns:a="http://schemas.openxmlformats.org/drawingml/2006/main" noGrp="1"/>
          </p:cNvSpPr>
          <p:nvPr/>
        </p:nvSpPr>
        <p:spPr>
          <a:xfrm xmlns:a="http://schemas.openxmlformats.org/drawingml/2006/main">
            <a:off x="7867650" y="35814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D6052DEA-D55C-4B20-AC4D-B4E7F381D41B}"/>
              </a:ext>
            </a:extLst>
          </p:cNvPr>
          <p:cNvSpPr>
            <a:spLocks xmlns:a="http://schemas.openxmlformats.org/drawingml/2006/main" noGrp="1"/>
          </p:cNvSpPr>
          <p:nvPr/>
        </p:nvSpPr>
        <p:spPr>
          <a:xfrm xmlns:a="http://schemas.openxmlformats.org/drawingml/2006/main">
            <a:off x="8105775" y="3505200"/>
            <a:ext cx="3190875"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Separate automatic context from explicit retrieval</a:t>
            </a:r>
          </a:p>
        </p:txBody>
      </p:sp>
      <p:sp>
        <p:nvSpPr>
          <p:cNvPr id="21" name="">
            <a:extLst xmlns:a="http://schemas.openxmlformats.org/drawingml/2006/main">
              <a:ext uri="{FF2B5EF4-FFF2-40B4-BE49-F238E27FC236}">
                <a16:creationId xmlns:a16="http://schemas.microsoft.com/office/drawing/2014/main" id="{36BD05F2-D219-4F80-9B95-89182D4545C6}"/>
              </a:ext>
            </a:extLst>
          </p:cNvPr>
          <p:cNvSpPr>
            <a:spLocks xmlns:a="http://schemas.openxmlformats.org/drawingml/2006/main" noGrp="1"/>
          </p:cNvSpPr>
          <p:nvPr/>
        </p:nvSpPr>
        <p:spPr>
          <a:xfrm xmlns:a="http://schemas.openxmlformats.org/drawingml/2006/main">
            <a:off x="7867650" y="413385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206BB3B3-5F5C-424D-98BA-72774D0B0924}"/>
              </a:ext>
            </a:extLst>
          </p:cNvPr>
          <p:cNvSpPr>
            <a:spLocks xmlns:a="http://schemas.openxmlformats.org/drawingml/2006/main" noGrp="1"/>
          </p:cNvSpPr>
          <p:nvPr/>
        </p:nvSpPr>
        <p:spPr>
          <a:xfrm xmlns:a="http://schemas.openxmlformats.org/drawingml/2006/main">
            <a:off x="8105775" y="4057650"/>
            <a:ext cx="3190875"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Identify the current source of truth</a:t>
            </a:r>
          </a:p>
        </p:txBody>
      </p:sp>
      <p:sp>
        <p:nvSpPr>
          <p:cNvPr id="23" name="">
            <a:extLst xmlns:a="http://schemas.openxmlformats.org/drawingml/2006/main">
              <a:ext uri="{FF2B5EF4-FFF2-40B4-BE49-F238E27FC236}">
                <a16:creationId xmlns:a16="http://schemas.microsoft.com/office/drawing/2014/main" id="{D91643D6-80B3-44E8-8653-38C603FA97A8}"/>
              </a:ext>
            </a:extLst>
          </p:cNvPr>
          <p:cNvSpPr>
            <a:spLocks xmlns:a="http://schemas.openxmlformats.org/drawingml/2006/main" noGrp="1"/>
          </p:cNvSpPr>
          <p:nvPr/>
        </p:nvSpPr>
        <p:spPr>
          <a:xfrm xmlns:a="http://schemas.openxmlformats.org/drawingml/2006/main">
            <a:off x="7867650" y="4686300"/>
            <a:ext cx="95250" cy="95250"/>
          </a:xfrm>
          <a:prstGeom xmlns:a="http://schemas.openxmlformats.org/drawingml/2006/main" prst="rect">
            <a:avLst/>
          </a:prstGeom>
          <a:solidFill xmlns:a="http://schemas.openxmlformats.org/drawingml/2006/main">
            <a:srgbClr val="E9878C"/>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31711B6E-3D3B-4D1C-946C-3A4C5495CE29}"/>
              </a:ext>
            </a:extLst>
          </p:cNvPr>
          <p:cNvSpPr>
            <a:spLocks xmlns:a="http://schemas.openxmlformats.org/drawingml/2006/main" noGrp="1"/>
          </p:cNvSpPr>
          <p:nvPr/>
        </p:nvSpPr>
        <p:spPr>
          <a:xfrm xmlns:a="http://schemas.openxmlformats.org/drawingml/2006/main">
            <a:off x="8105775" y="4610100"/>
            <a:ext cx="3190875"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8253D"/>
                </a:solidFill>
                <a:latin typeface="Arial"/>
                <a:ea typeface="Arial"/>
                <a:cs typeface="Arial"/>
              </a:defRPr>
            </a:pPr>
            <a:r>
              <a:rPr sz="1200" b="0">
                <a:solidFill>
                  <a:srgbClr val="28253D"/>
                </a:solidFill>
                <a:latin typeface="Arial"/>
                <a:ea typeface="Arial"/>
                <a:cs typeface="Arial"/>
              </a:rPr>
              <a:t>Show where reports, receipts, and recovery live</a:t>
            </a:r>
          </a:p>
        </p:txBody>
      </p:sp>
      <p:sp>
        <p:nvSpPr>
          <p:cNvPr id="25" name="">
            <a:extLst xmlns:a="http://schemas.openxmlformats.org/drawingml/2006/main">
              <a:ext uri="{FF2B5EF4-FFF2-40B4-BE49-F238E27FC236}">
                <a16:creationId xmlns:a16="http://schemas.microsoft.com/office/drawing/2014/main" id="{552699BF-042A-4BAE-8D46-740F7F33B3C3}"/>
              </a:ext>
            </a:extLst>
          </p:cNvPr>
          <p:cNvSpPr>
            <a:spLocks xmlns:a="http://schemas.openxmlformats.org/drawingml/2006/main" noGrp="1"/>
          </p:cNvSpPr>
          <p:nvPr/>
        </p:nvSpPr>
        <p:spPr>
          <a:xfrm xmlns:a="http://schemas.openxmlformats.org/drawingml/2006/main">
            <a:off x="1447800" y="5905500"/>
            <a:ext cx="9296400" cy="381000"/>
          </a:xfrm>
          <a:prstGeom xmlns:a="http://schemas.openxmlformats.org/drawingml/2006/main" prst="rect">
            <a:avLst/>
          </a:prstGeom>
          <a:solidFill xmlns:a="http://schemas.openxmlformats.org/drawingml/2006/main">
            <a:srgbClr val="F7E9B6"/>
          </a:solidFill>
          <a:ln xmlns:a="http://schemas.openxmlformats.org/drawingml/2006/main" w="17145">
            <a:solidFill>
              <a:srgbClr val="28253D"/>
            </a:solidFill>
            <a:prstDash val="solid"/>
          </a:ln>
        </p:spPr>
        <p:txBody>
          <a:bodyPr xmlns:a="http://schemas.openxmlformats.org/drawingml/2006/main" lIns="76200" tIns="28575" rIns="76200" bIns="28575" anchor="ctr"/>
          <a:lstStyle xmlns:a="http://schemas.openxmlformats.org/drawingml/2006/main"/>
          <a:p xmlns:a="http://schemas.openxmlformats.org/drawingml/2006/main">
            <a:pPr algn="ctr">
              <a:defRPr sz="1050" b="1">
                <a:solidFill>
                  <a:srgbClr val="28253D"/>
                </a:solidFill>
                <a:latin typeface="Arial"/>
                <a:ea typeface="Arial"/>
                <a:cs typeface="Arial"/>
              </a:defRPr>
            </a:pPr>
            <a:r>
              <a:rPr sz="1050" b="1">
                <a:solidFill>
                  <a:srgbClr val="28253D"/>
                </a:solidFill>
                <a:latin typeface="Arial"/>
                <a:ea typeface="Arial"/>
                <a:cs typeface="Arial"/>
              </a:rPr>
              <a:t>Do not claim shared transcripts, automatic ingestion, universal Git backup, or production-ready voice without evidence.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8ba218d29444f2f">
            <a:extLst>
              <a:ext uri="{96DAC541-7B7A-43D3-8B79-37D633B846F1}">
                <asvg:svgBlip xmlns:asvg="http://schemas.microsoft.com/office/drawing/2016/SVG/main" r:embed="Rfb6d910548994109"/>
              </a:ext>
            </a:extLst>
          </a:blip>
          <a:stretch xmlns:a="http://schemas.openxmlformats.org/drawingml/2006/main"/>
        </p:blipFill>
        <p:spPr>
          <a:xfrm xmlns:a="http://schemas.openxmlformats.org/drawingml/2006/main">
            <a:off x="838200" y="1752600"/>
            <a:ext cx="323850" cy="3238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19c82df50e24807">
            <a:extLst>
              <a:ext uri="{96DAC541-7B7A-43D3-8B79-37D633B846F1}">
                <asvg:svgBlip xmlns:asvg="http://schemas.microsoft.com/office/drawing/2016/SVG/main" r:embed="R81623abfad1f4d80"/>
              </a:ext>
            </a:extLst>
          </a:blip>
          <a:stretch xmlns:a="http://schemas.openxmlformats.org/drawingml/2006/main"/>
        </p:blipFill>
        <p:spPr>
          <a:xfrm xmlns:a="http://schemas.openxmlformats.org/drawingml/2006/main">
            <a:off x="7829550" y="1752600"/>
            <a:ext cx="323850" cy="323850"/>
          </a:xfrm>
          <a:prstGeom xmlns:a="http://schemas.openxmlformats.org/drawingml/2006/main" prst="rect">
            <a:avLst/>
          </a:prstGeom>
        </p:spPr>
      </p:pic>
    </p:spTree>
    <p:extLst>
      <p:ext uri="{BB962C8B-B14F-4D97-AF65-F5344CB8AC3E}">
        <p14:creationId xmlns:p14="http://schemas.microsoft.com/office/powerpoint/2010/main" val="838934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Architecture Working Notes</dc:creator>
  <cp:lastModifiedBy>Architecture Working Notes</cp:lastModifiedBy>
  <dc:title>A Local Agent, Knowledge, and Voice Architecture</dc:title>
  <dcterms:created xsi:type="dcterms:W3CDTF">2026-07-14T05:34:34.9980000Z</dcterms:created>
  <dcterms:modified xsi:type="dcterms:W3CDTF">2026-07-14T05:34:34.9980000Z</dcterms:modified>
  <dc:subject>An anonymized instructional guide to a private local AI/ML system</dc:subject>
</cp:coreProperties>
</file>